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01eee27-6d4e-9e1b-8c9a-68b7651a05bf}">
          <p14:sldIdLst>
            <p14:sldId id="256"/>
            <p14:sldId id="257"/>
          </p14:sldIdLst>
        </p14:section>
        <p14:section name="1 · RAE architecture" id="{882f88b0-69bd-3d13-57aa-8133e61bd394}">
          <p14:sldIdLst>
            <p14:sldId id="258"/>
            <p14:sldId id="259"/>
            <p14:sldId id="260"/>
          </p14:sldIdLst>
        </p14:section>
        <p14:section name="2 · The idea" id="{1e94b4f7-549d-98c2-ec1d-e243a0ca22ed}">
          <p14:sldIdLst>
            <p14:sldId id="261"/>
            <p14:sldId id="262"/>
            <p14:sldId id="263"/>
            <p14:sldId id="264"/>
          </p14:sldIdLst>
        </p14:section>
        <p14:section name="3 · Why it should work" id="{88205ee4-c3e4-5fe5-5435-8b8231328a3d}">
          <p14:sldIdLst>
            <p14:sldId id="265"/>
            <p14:sldId id="266"/>
            <p14:sldId id="267"/>
          </p14:sldIdLst>
        </p14:section>
        <p14:section name="4 · Results so far" id="{6d9a3975-f051-68bb-ef18-878f5e74c285}">
          <p14:sldIdLst>
            <p14:sldId id="268"/>
            <p14:sldId id="269"/>
            <p14:sldId id="270"/>
            <p14:sldId id="271"/>
            <p14:sldId id="272"/>
            <p14:sldId id="273"/>
            <p14:sldId id="274"/>
            <p14:sldId id="275"/>
            <p14:sldId id="276"/>
            <p14:sldId id="277"/>
            <p14:sldId id="278"/>
          </p14:sldIdLst>
        </p14:section>
        <p14:section name="Backup · Q&amp;A" id="{2d5cdc9a-1ea0-eefb-e3c2-47517acb0d0d}">
          <p14:sldIdLst>
            <p14:sldId id="279"/>
            <p14:sldId id="280"/>
            <p14:sldId id="281"/>
            <p14:sldId id="282"/>
            <p14:sldId id="283"/>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329"/>
                </a:solidFill>
                <a:latin typeface="+mn-lt"/>
              </a:defRPr>
            </a:pPr>
            <a:r>
              <a:rPr sz="1400" b="0" i="0" u="none" strike="noStrike">
                <a:solidFill>
                  <a:srgbClr val="1B2329"/>
                </a:solidFill>
                <a:latin typeface="+mn-lt"/>
              </a:rPr>
              <a:t>SSIM on normal images (higher = more faithful)</a:t>
            </a:r>
          </a:p>
        </c:rich>
      </c:tx>
      <c:layout/>
      <c:overlay val="0"/>
    </c:title>
    <c:autoTitleDeleted val="0"/>
    <c:plotArea>
      <c:layout/>
      <c:barChart>
        <c:barDir val="col"/>
        <c:grouping val="clustered"/>
        <c:varyColors val="0"/>
        <c:ser>
          <c:idx val="0"/>
          <c:order val="0"/>
          <c:tx>
            <c:strRef>
              <c:f>Sheet1!$B$1</c:f>
              <c:strCache>
                <c:ptCount val="1"/>
                <c:pt idx="0">
                  <c:v>Texture categories</c:v>
                </c:pt>
              </c:strCache>
            </c:strRef>
          </c:tx>
          <c:spPr>
            <a:solidFill>
              <a:srgbClr val="E39B2D"/>
            </a:solidFill>
            <a:effectLst/>
          </c:spPr>
          <c:invertIfNegative val="0"/>
          <c:dLbls>
            <c:numFmt formatCode="0.0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Sheet1!$A$2:$A$6</c:f>
              <c:multiLvlStrCache>
                <c:ptCount val="5"/>
                <c:lvl>
                  <c:pt idx="0">
                    <c:v>DINOv2-B</c:v>
                  </c:pt>
                  <c:pt idx="1">
                    <c:v>DINOv2-B 512</c:v>
                  </c:pt>
                  <c:pt idx="2">
                    <c:v>SigLIP2</c:v>
                  </c:pt>
                  <c:pt idx="3">
                    <c:v>MAE</c:v>
                  </c:pt>
                  <c:pt idx="4">
                    <c:v>SD-VAE</c:v>
                  </c:pt>
                </c:lvl>
              </c:multiLvlStrCache>
            </c:multiLvlStrRef>
          </c:cat>
          <c:val>
            <c:numRef>
              <c:f>Sheet1!$B$2:$B$6</c:f>
              <c:numCache>
                <c:formatCode>General</c:formatCode>
                <c:ptCount val="5"/>
                <c:pt idx="0">
                  <c:v>0.294</c:v>
                </c:pt>
                <c:pt idx="1">
                  <c:v>0.512</c:v>
                </c:pt>
                <c:pt idx="2">
                  <c:v>0.347</c:v>
                </c:pt>
                <c:pt idx="3">
                  <c:v>0.877</c:v>
                </c:pt>
                <c:pt idx="4">
                  <c:v>0.709</c:v>
                </c:pt>
              </c:numCache>
            </c:numRef>
          </c:val>
        </c:ser>
        <c:ser>
          <c:idx val="1"/>
          <c:order val="1"/>
          <c:tx>
            <c:strRef>
              <c:f>Sheet1!$C$1</c:f>
              <c:strCache>
                <c:ptCount val="1"/>
                <c:pt idx="0">
                  <c:v>Object categories</c:v>
                </c:pt>
              </c:strCache>
            </c:strRef>
          </c:tx>
          <c:spPr>
            <a:solidFill>
              <a:srgbClr val="7A8893"/>
            </a:solidFill>
            <a:effectLst/>
          </c:spPr>
          <c:invertIfNegative val="0"/>
          <c:dLbls>
            <c:numFmt formatCode="0.0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Sheet1!$A$2:$A$6</c:f>
              <c:multiLvlStrCache>
                <c:ptCount val="5"/>
                <c:lvl>
                  <c:pt idx="0">
                    <c:v>DINOv2-B</c:v>
                  </c:pt>
                  <c:pt idx="1">
                    <c:v>DINOv2-B 512</c:v>
                  </c:pt>
                  <c:pt idx="2">
                    <c:v>SigLIP2</c:v>
                  </c:pt>
                  <c:pt idx="3">
                    <c:v>MAE</c:v>
                  </c:pt>
                  <c:pt idx="4">
                    <c:v>SD-VAE</c:v>
                  </c:pt>
                </c:lvl>
              </c:multiLvlStrCache>
            </c:multiLvlStrRef>
          </c:cat>
          <c:val>
            <c:numRef>
              <c:f>Sheet1!$C$2:$C$6</c:f>
              <c:numCache>
                <c:formatCode>General</c:formatCode>
                <c:ptCount val="5"/>
                <c:pt idx="0">
                  <c:v>0.692</c:v>
                </c:pt>
                <c:pt idx="1">
                  <c:v>0.741</c:v>
                </c:pt>
                <c:pt idx="2">
                  <c:v>0.745</c:v>
                </c:pt>
                <c:pt idx="3">
                  <c:v>0.935</c:v>
                </c:pt>
                <c:pt idx="4">
                  <c:v>0.886</c:v>
                </c:pt>
              </c:numCache>
            </c:numRef>
          </c:val>
        </c:ser>
        <c:dLbls>
          <c:numFmt formatCode="0.0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750"/>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EF1F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A475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kNN (control)</c:v>
                </c:pt>
              </c:strCache>
            </c:strRef>
          </c:tx>
          <c:spPr>
            <a:solidFill>
              <a:srgbClr val="7A8893"/>
            </a:solidFill>
            <a:effectLst/>
          </c:spPr>
          <c:invertIfNegative val="0"/>
          <c:dLbls>
            <c:numFmt formatCode="0.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cat>
            <c:multiLvlStrRef>
              <c:f>Sheet1!$A$2:$A$6</c:f>
              <c:multiLvlStrCache>
                <c:ptCount val="5"/>
                <c:lvl>
                  <c:pt idx="0">
                    <c:v>carpet</c:v>
                  </c:pt>
                  <c:pt idx="1">
                    <c:v>grid</c:v>
                  </c:pt>
                  <c:pt idx="2">
                    <c:v>hazelnut</c:v>
                  </c:pt>
                  <c:pt idx="3">
                    <c:v>screw</c:v>
                  </c:pt>
                  <c:pt idx="4">
                    <c:v>transistor</c:v>
                  </c:pt>
                </c:lvl>
              </c:multiLvlStrCache>
            </c:multiLvlStrRef>
          </c:cat>
          <c:val>
            <c:numRef>
              <c:f>Sheet1!$B$2:$B$6</c:f>
              <c:numCache>
                <c:formatCode>General</c:formatCode>
                <c:ptCount val="5"/>
                <c:pt idx="0">
                  <c:v>0.907</c:v>
                </c:pt>
                <c:pt idx="1">
                  <c:v>0.945</c:v>
                </c:pt>
                <c:pt idx="2">
                  <c:v>0.951</c:v>
                </c:pt>
                <c:pt idx="3">
                  <c:v>0.757</c:v>
                </c:pt>
                <c:pt idx="4">
                  <c:v>0.746</c:v>
                </c:pt>
              </c:numCache>
            </c:numRef>
          </c:val>
        </c:ser>
        <c:ser>
          <c:idx val="1"/>
          <c:order val="1"/>
          <c:tx>
            <c:strRef>
              <c:f>Sheet1!$C$1</c:f>
              <c:strCache>
                <c:ptCount val="1"/>
                <c:pt idx="0">
                  <c:v>pixel · disc</c:v>
                </c:pt>
              </c:strCache>
            </c:strRef>
          </c:tx>
          <c:spPr>
            <a:solidFill>
              <a:srgbClr val="2A8C82"/>
            </a:solidFill>
            <a:effectLst/>
          </c:spPr>
          <c:invertIfNegative val="0"/>
          <c:dLbls>
            <c:numFmt formatCode="0.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cat>
            <c:multiLvlStrRef>
              <c:f>Sheet1!$A$2:$A$6</c:f>
              <c:multiLvlStrCache>
                <c:ptCount val="5"/>
                <c:lvl>
                  <c:pt idx="0">
                    <c:v>carpet</c:v>
                  </c:pt>
                  <c:pt idx="1">
                    <c:v>grid</c:v>
                  </c:pt>
                  <c:pt idx="2">
                    <c:v>hazelnut</c:v>
                  </c:pt>
                  <c:pt idx="3">
                    <c:v>screw</c:v>
                  </c:pt>
                  <c:pt idx="4">
                    <c:v>transistor</c:v>
                  </c:pt>
                </c:lvl>
              </c:multiLvlStrCache>
            </c:multiLvlStrRef>
          </c:cat>
          <c:val>
            <c:numRef>
              <c:f>Sheet1!$C$2:$C$6</c:f>
              <c:numCache>
                <c:formatCode>General</c:formatCode>
                <c:ptCount val="5"/>
                <c:pt idx="0">
                  <c:v>0.965</c:v>
                </c:pt>
                <c:pt idx="1">
                  <c:v>0.944</c:v>
                </c:pt>
                <c:pt idx="2">
                  <c:v>0.93</c:v>
                </c:pt>
                <c:pt idx="3">
                  <c:v>0.891</c:v>
                </c:pt>
                <c:pt idx="4">
                  <c:v>0.651</c:v>
                </c:pt>
              </c:numCache>
            </c:numRef>
          </c:val>
        </c:ser>
        <c:ser>
          <c:idx val="2"/>
          <c:order val="2"/>
          <c:tx>
            <c:strRef>
              <c:f>Sheet1!$D$1</c:f>
              <c:strCache>
                <c:ptCount val="1"/>
                <c:pt idx="0">
                  <c:v>mix · disc</c:v>
                </c:pt>
              </c:strCache>
            </c:strRef>
          </c:tx>
          <c:spPr>
            <a:solidFill>
              <a:srgbClr val="E39B2D"/>
            </a:solidFill>
            <a:effectLst/>
          </c:spPr>
          <c:invertIfNegative val="0"/>
          <c:dLbls>
            <c:numFmt formatCode="0.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cat>
            <c:multiLvlStrRef>
              <c:f>Sheet1!$A$2:$A$6</c:f>
              <c:multiLvlStrCache>
                <c:ptCount val="5"/>
                <c:lvl>
                  <c:pt idx="0">
                    <c:v>carpet</c:v>
                  </c:pt>
                  <c:pt idx="1">
                    <c:v>grid</c:v>
                  </c:pt>
                  <c:pt idx="2">
                    <c:v>hazelnut</c:v>
                  </c:pt>
                  <c:pt idx="3">
                    <c:v>screw</c:v>
                  </c:pt>
                  <c:pt idx="4">
                    <c:v>transistor</c:v>
                  </c:pt>
                </c:lvl>
              </c:multiLvlStrCache>
            </c:multiLvlStrRef>
          </c:cat>
          <c:val>
            <c:numRef>
              <c:f>Sheet1!$D$2:$D$6</c:f>
              <c:numCache>
                <c:formatCode>General</c:formatCode>
                <c:ptCount val="5"/>
                <c:pt idx="0">
                  <c:v>0.946</c:v>
                </c:pt>
                <c:pt idx="1">
                  <c:v>0.937</c:v>
                </c:pt>
                <c:pt idx="2">
                  <c:v>0.917</c:v>
                </c:pt>
                <c:pt idx="3">
                  <c:v>0.65</c:v>
                </c:pt>
                <c:pt idx="4">
                  <c:v>0.885</c:v>
                </c:pt>
              </c:numCache>
            </c:numRef>
          </c:val>
        </c:ser>
        <c:dLbls>
          <c:numFmt formatCode="0.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A4750"/>
                </a:solidFill>
                <a:latin typeface="+mn-lt"/>
              </a:defRPr>
            </a:pPr>
            <a:endParaRPr lang="en-US"/>
          </a:p>
        </c:txPr>
        <c:crossAx val="2094734552"/>
        <c:crosses val="autoZero"/>
        <c:auto val="1"/>
        <c:lblAlgn val="ctr"/>
        <c:noMultiLvlLbl val="1"/>
      </c:catAx>
      <c:valAx>
        <c:axId val="2094734552"/>
        <c:scaling>
          <c:orientation val="minMax"/>
          <c:max val="1"/>
          <c:min val="0.5"/>
        </c:scaling>
        <c:delete val="0"/>
        <c:axPos val="l"/>
        <c:majorGridlines>
          <c:spPr>
            <a:ln w="6350" cap="flat">
              <a:solidFill>
                <a:srgbClr val="EEF1F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A475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 report on a new direction: using Representation Autoencoders, a 2025 generative-modelling idea, for reconstruction-based industrial anomaly detection. Plan: what RAE is, the idea, why it should work, and two finished experiments plus one in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Part 3 is where I want pushback; I also have backup slides with answers to the questions I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latent diffusion compresses images with a VAE trained only for reconstruction: 32x32x4 for Stable Diffusion at 256 px. RAE replaces that encoder with a frozen representation model. For DINOv2-B a 224-px input gives 16x16 patch tokens of 768 dims. Same spatial grid idea, but each token carries semantics.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encoder never changes. The decoder is trained on ImageNet with reconstruction, perceptual and GAN losses, and with noise added to the latents so that it can decode imperfect diffusion outputs. That noise robustness matters for us later: it makes the decoder generalize, including to defects. A DiT with a wide DDT head generates in this space and reaches FID 1.51 without guidance and 1.13 with guidance. The takeaway: high-dimensional semantic latents can be generated, which is the property our idea relies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family I build on: make fake anomalies from normal images only, then train a network to remove or segment them. DRAEM pastes textures in pixels. DSR perturbs codes in a VQ latent it trains per category. RealNet samples off-distribution images from a diffusion model trained on normals. Nobody has done it in a frozen foundation-model latent such as RAE's. Also checked: about 297 papers cite RAE and none is about anomaly detection (next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Encode with the frozen RAE encoder, damage a region of the token grid, train a token restorer to recover the clean tokens and a discriminator to segment the damage. At test time there is no synthesis: encode, restore, read the discriminator map. The pixel decoder never enters scoring, which turns out to matter (Exp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 2 tested five hand-made modes. pixel is DRAEM's recipe, run in pixels and then encoded; it is the reference. The three latent modes edit tokens directly. latent_self moves real content to the wrong place, which mimics structural defects. The plan is to replace these with a generator trained on normal tokens; that is the second RAE from the original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to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 pixel space you can only paste things; in token space you can move semantic content. 2: diffusion works here, so the generator can be learned. 3: frozen encoder, small restorer, fast. 4: scoring stays in token space, so decoder quality is irrelevant to detection. Each point is tied to an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Novelty: I went through all ~297 papers citing RAE; none is about anomaly detection. The closest work, the Q-Former autoencoder, is medical-only with a frozen DINOv2 and a pixel decoder, with no synthesis and no generative prior. Controls: a kNN baseline on the same tokens, the pixel-synthesis reference, two latents, and from Exp 3 seeds and label-free score normalization.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finished experiments, one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 1 asked whether the frozen decoders can reproduce normal industrial images. MAE is the most faithful, better than the SD-VAE. DINOv2 and SigLIP2 lose most of the texture structure: carpet SSIM is 0.05 for DINOv2-B. Their error floor would bury real defects if we scored on pixels. The 512 decoder was fed 256 px, so its number is not a fair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carpet. DINOv2's reconstruction is plausible carpet with a different weave, so SSIM collapses. Bottom: hazelnut. DINOv2 shifts the colour and saturation, MAE is near pixel-exact, and both reproduce the crack. These results decided two things: score in token space, and expect removal to come from training, not from the RAE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categories chosen to cover textures, objects, small defects and structural defects. About 8 minutes per run, 50 runs in total. One seed, so differences of a point or two are within noise; Exp 3 fixes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headline: averaged over five categories, a training-free kNN on the same tokens is competitive. The learned discriminator clearly improves AP and slightly improves AUPRO, but loses on image AUROC. The image score is the max of the map; Exp 3 tests a top-1% score and fusion with kNN.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per-category view is the encouraging part. Transistor defects are structural, and the modes that include latent_self win clearly. Screw defects are small, and pixel synthesis wins. Texture modes hurt transistor and latent_self hurts screw. So it works when the synthetic anomalies resemble the real ones; making them realistic is what v2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Columns: input, the RAE reconstruction, the restored tokens decoded, the discriminator map and ground truth. The map lands on the bent leads. But decode(R(z)) still shows the bent lead, so the restorer does not remove real defects; detection comes from the discriminator ranking the right tokens highest. That points to the realism of the synthetic anomalies as the bottleneck.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Exp 2. Caveat for everything: one seed and five categories.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 3 checks whether the Exp 2 wins survive seeds, and whether fusion fixes the weak image score. The smoke test on screw is only a pipeline check, but it already shows the pattern I hope for: fusion recovers image AUROC while keeping better localization. The full run is about six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 3 decides how much weight the current pipeline carries. Either way, the learned generator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message. Then questions; backup slides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slides for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answer. Key numbers are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answer. Key numbers are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answer. Key numbers are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answer. Key numbers are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answer. Key numbers are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answer. Key numbers are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answer. Key numbers are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749040"/>
            <a:ext cx="10698480" cy="146304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10698480" cy="731520"/>
          </a:xfrm>
          <a:prstGeom prst="rect">
            <a:avLst/>
          </a:prstGeom>
          <a:noFill/>
          <a:ln/>
        </p:spPr>
        <p:txBody>
          <a:bodyPr wrap="square" rtlCol="0"/>
          <a:lstStyle>
            <a:lvl1pPr indent="0" marL="0">
              <a:buNone/>
              <a:defRPr lang="en-US" sz="2000" b="1" dirty="0">
                <a:solidFill>
                  <a:schemeClr val="accent1"/>
                </a:solidFill>
              </a:defRPr>
            </a:lvl1pPr>
          </a:lstStyle>
          <a:p>
            <a:pPr indent="0" marL="0">
              <a:buNone/>
            </a:pPr>
            <a:endParaRPr lang="en-US" sz="2000" dirty="0"/>
          </a:p>
        </p:txBody>
      </p:sp>
      <p:sp>
        <p:nvSpPr>
          <p:cNvPr id="3" name="Text 0"/>
          <p:cNvSpPr/>
          <p:nvPr>
            <p:ph idx="101" type="title" hasCustomPrompt="1"/>
          </p:nvPr>
        </p:nvSpPr>
        <p:spPr>
          <a:xfrm>
            <a:off x="731520" y="2743200"/>
            <a:ext cx="10698480" cy="128016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rtlCol="0" anchor="ctr"/>
          <a:lstStyle/>
          <a:p>
            <a:pPr indent="0" marL="0">
              <a:buNone/>
            </a:pPr>
            <a:r>
              <a:rPr lang="en-US" sz="1000" dirty="0">
                <a:solidFill>
                  <a:schemeClr val="accent3"/>
                </a:solidFill>
              </a:rPr>
              <a:t>Momo · Okatani Lab · RAE for industrial anomaly detection</a:t>
            </a:r>
            <a:endParaRPr lang="en-US" sz="1000" dirty="0"/>
          </a:p>
        </p:txBody>
      </p:sp>
      <p:sp>
        <p:nvSpPr>
          <p:cNvPr id="3" name="Text 1"/>
          <p:cNvSpPr/>
          <p:nvPr>
            <p:ph idx="101" type="title" hasCustomPrompt="1"/>
          </p:nvPr>
        </p:nvSpPr>
        <p:spPr>
          <a:xfrm>
            <a:off x="548640" y="320040"/>
            <a:ext cx="11064240" cy="685800"/>
          </a:xfrm>
          <a:prstGeom prst="rect">
            <a:avLst/>
          </a:prstGeom>
          <a:noFill/>
          <a:ln/>
        </p:spPr>
        <p:txBody>
          <a:bodyPr wrap="square" rtlCol="0"/>
          <a:lstStyle>
            <a:lvl1pPr algn="l" indent="0" marL="0">
              <a:buNone/>
              <a:defRPr lang="en-US" sz="36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4" name="Text 1"/>
          <p:cNvSpPr/>
          <p:nvPr>
            <p:ph idx="102" type="body" hasCustomPrompt="1"/>
          </p:nvPr>
        </p:nvSpPr>
        <p:spPr>
          <a:xfrm>
            <a:off x="548640" y="1005840"/>
            <a:ext cx="11064240" cy="457200"/>
          </a:xfrm>
          <a:prstGeom prst="rect">
            <a:avLst/>
          </a:prstGeom>
          <a:noFill/>
          <a:ln/>
        </p:spPr>
        <p:txBody>
          <a:bodyPr wrap="square" rtlCol="0"/>
          <a:lstStyle>
            <a:lvl1pPr indent="0" marL="0">
              <a:buNone/>
              <a:defRPr lang="en-US" sz="1800" i="1" dirty="0">
                <a:solidFill>
                  <a:schemeClr val="tx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Generating and Removing Anomalies in a Frozen Representation Space</a:t>
            </a:r>
            <a:endParaRPr lang="en-US" sz="4000" dirty="0"/>
          </a:p>
        </p:txBody>
      </p:sp>
      <p:sp>
        <p:nvSpPr>
          <p:cNvPr id="3" name="Text 0"/>
          <p:cNvSpPr/>
          <p:nvPr>
            <p:ph idx="101" type="body" hasCustomPrompt="1"/>
          </p:nvPr>
        </p:nvSpPr>
        <p:spPr>
          <a:xfrm>
            <a:off x="731520" y="3749040"/>
            <a:ext cx="10698480" cy="1463040"/>
          </a:xfrm>
          <a:prstGeom prst="rect">
            <a:avLst/>
          </a:prstGeom>
          <a:noFill/>
          <a:ln/>
        </p:spPr>
        <p:txBody>
          <a:bodyPr wrap="square" rtlCol="0" anchor="t"/>
          <a:lstStyle/>
          <a:p>
            <a:pPr indent="0" marL="0">
              <a:buNone/>
            </a:pPr>
            <a:r>
              <a:rPr lang="en-US" sz="2000" dirty="0">
                <a:solidFill>
                  <a:schemeClr val="accent5"/>
                </a:solidFill>
              </a:rPr>
              <a:t>Representation Autoencoders (RAE) for unsupervised industrial anomaly detection</a:t>
            </a:r>
            <a:endParaRPr lang="en-US" sz="2000" dirty="0"/>
          </a:p>
          <a:p>
            <a:pPr indent="0" marL="0">
              <a:buNone/>
            </a:pPr>
            <a:r>
              <a:rPr lang="en-US" sz="2000" dirty="0">
                <a:solidFill>
                  <a:schemeClr val="accent5"/>
                </a:solidFill>
              </a:rPr>
              <a:t>Momo · Okatani Lab, Tohoku University · Lab seminar, October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68580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Today's talk</a:t>
            </a:r>
            <a:endParaRPr lang="en-US" sz="3600" dirty="0"/>
          </a:p>
        </p:txBody>
      </p:sp>
      <p:sp>
        <p:nvSpPr>
          <p:cNvPr id="3" name="Text 1"/>
          <p:cNvSpPr/>
          <p:nvPr>
            <p:ph idx="102" type="body" hasCustomPrompt="1"/>
          </p:nvPr>
        </p:nvSpPr>
        <p:spPr>
          <a:xfrm>
            <a:off x="548640" y="1005840"/>
            <a:ext cx="11064240" cy="457200"/>
          </a:xfrm>
          <a:prstGeom prst="rect">
            <a:avLst/>
          </a:prstGeom>
          <a:noFill/>
          <a:ln/>
        </p:spPr>
        <p:txBody>
          <a:bodyPr wrap="square" rtlCol="0" anchor="t"/>
          <a:lstStyle/>
          <a:p>
            <a:pPr indent="0" marL="0">
              <a:buNone/>
            </a:pPr>
            <a:r>
              <a:rPr lang="en-US" sz="1800" i="1" dirty="0">
                <a:solidFill>
                  <a:schemeClr val="tx2"/>
                </a:solidFill>
              </a:rPr>
              <a:t>From a generative-modelling tool to an anomaly detector</a:t>
            </a:r>
            <a:endParaRPr lang="en-US" sz="1800" dirty="0"/>
          </a:p>
        </p:txBody>
      </p:sp>
      <p:sp>
        <p:nvSpPr>
          <p:cNvPr id="4" name="part1"/>
          <p:cNvSpPr/>
          <p:nvPr/>
        </p:nvSpPr>
        <p:spPr>
          <a:xfrm>
            <a:off x="822960" y="1737360"/>
            <a:ext cx="10515600" cy="914400"/>
          </a:xfrm>
          <a:prstGeom prst="roundRect">
            <a:avLst>
              <a:gd name="adj" fmla="val 12000"/>
            </a:avLst>
          </a:prstGeom>
          <a:solidFill>
            <a:schemeClr val="accent5"/>
          </a:solidFill>
          <a:ln w="12700">
            <a:solidFill>
              <a:schemeClr val="accent5"/>
            </a:solidFill>
            <a:prstDash val="solid"/>
          </a:ln>
        </p:spPr>
      </p:sp>
      <p:sp>
        <p:nvSpPr>
          <p:cNvPr id="5" name="num"/>
          <p:cNvSpPr/>
          <p:nvPr/>
        </p:nvSpPr>
        <p:spPr>
          <a:xfrm>
            <a:off x="1051560" y="1965960"/>
            <a:ext cx="457200" cy="457200"/>
          </a:xfrm>
          <a:prstGeom prst="ellipse">
            <a:avLst/>
          </a:prstGeom>
          <a:solidFill>
            <a:schemeClr val="accent1"/>
          </a:solidFill>
          <a:ln w="12700">
            <a:solidFill>
              <a:schemeClr val="accent1"/>
            </a:solidFill>
            <a:prstDash val="solid"/>
          </a:ln>
        </p:spPr>
      </p:sp>
      <p:sp>
        <p:nvSpPr>
          <p:cNvPr id="6" name="Text 4"/>
          <p:cNvSpPr txBox="1"/>
          <p:nvPr/>
        </p:nvSpPr>
        <p:spPr>
          <a:xfrm>
            <a:off x="1051560" y="1965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1737360" y="1847088"/>
            <a:ext cx="3657600" cy="731520"/>
          </a:xfrm>
          <a:prstGeom prst="rect">
            <a:avLst/>
          </a:prstGeom>
          <a:noFill/>
          <a:ln/>
        </p:spPr>
        <p:txBody>
          <a:bodyPr wrap="square" lIns="635" tIns="635" rIns="635" bIns="635" rtlCol="0" anchor="ctr"/>
          <a:lstStyle/>
          <a:p>
            <a:pPr indent="0" marL="0">
              <a:buNone/>
            </a:pPr>
            <a:r>
              <a:rPr lang="en-US" sz="2000" b="1" dirty="0">
                <a:solidFill>
                  <a:schemeClr val="tx1"/>
                </a:solidFill>
              </a:rPr>
              <a:t>RAE architecture</a:t>
            </a:r>
            <a:endParaRPr lang="en-US" sz="2000" dirty="0"/>
          </a:p>
        </p:txBody>
      </p:sp>
      <p:sp>
        <p:nvSpPr>
          <p:cNvPr id="8" name="Text 6"/>
          <p:cNvSpPr txBox="1"/>
          <p:nvPr/>
        </p:nvSpPr>
        <p:spPr>
          <a:xfrm>
            <a:off x="5394960" y="1847088"/>
            <a:ext cx="5760720" cy="731520"/>
          </a:xfrm>
          <a:prstGeom prst="rect">
            <a:avLst/>
          </a:prstGeom>
          <a:noFill/>
          <a:ln/>
        </p:spPr>
        <p:txBody>
          <a:bodyPr wrap="square" lIns="635" tIns="635" rIns="635" bIns="635" rtlCol="0" anchor="ctr"/>
          <a:lstStyle/>
          <a:p>
            <a:pPr indent="0" marL="0">
              <a:buNone/>
            </a:pPr>
            <a:r>
              <a:rPr lang="en-US" sz="1500" dirty="0">
                <a:solidFill>
                  <a:schemeClr val="tx2"/>
                </a:solidFill>
              </a:rPr>
              <a:t>What a Representation Autoencoder is and why its latent space matters</a:t>
            </a:r>
            <a:endParaRPr lang="en-US" sz="1500" dirty="0"/>
          </a:p>
        </p:txBody>
      </p:sp>
      <p:sp>
        <p:nvSpPr>
          <p:cNvPr id="9" name="part2"/>
          <p:cNvSpPr/>
          <p:nvPr/>
        </p:nvSpPr>
        <p:spPr>
          <a:xfrm>
            <a:off x="822960" y="2834640"/>
            <a:ext cx="10515600" cy="914400"/>
          </a:xfrm>
          <a:prstGeom prst="roundRect">
            <a:avLst>
              <a:gd name="adj" fmla="val 12000"/>
            </a:avLst>
          </a:prstGeom>
          <a:solidFill>
            <a:schemeClr val="bg2"/>
          </a:solidFill>
          <a:ln w="12700">
            <a:solidFill>
              <a:schemeClr val="bg2"/>
            </a:solidFill>
            <a:prstDash val="solid"/>
          </a:ln>
        </p:spPr>
      </p:sp>
      <p:sp>
        <p:nvSpPr>
          <p:cNvPr id="10" name="num"/>
          <p:cNvSpPr/>
          <p:nvPr/>
        </p:nvSpPr>
        <p:spPr>
          <a:xfrm>
            <a:off x="1051560" y="3063240"/>
            <a:ext cx="457200" cy="457200"/>
          </a:xfrm>
          <a:prstGeom prst="ellipse">
            <a:avLst/>
          </a:prstGeom>
          <a:solidFill>
            <a:schemeClr val="accent1"/>
          </a:solidFill>
          <a:ln w="12700">
            <a:solidFill>
              <a:schemeClr val="accent1"/>
            </a:solidFill>
            <a:prstDash val="solid"/>
          </a:ln>
        </p:spPr>
      </p:sp>
      <p:sp>
        <p:nvSpPr>
          <p:cNvPr id="11" name="Text 9"/>
          <p:cNvSpPr txBox="1"/>
          <p:nvPr/>
        </p:nvSpPr>
        <p:spPr>
          <a:xfrm>
            <a:off x="1051560" y="3063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1737360" y="2944368"/>
            <a:ext cx="3657600" cy="731520"/>
          </a:xfrm>
          <a:prstGeom prst="rect">
            <a:avLst/>
          </a:prstGeom>
          <a:noFill/>
          <a:ln/>
        </p:spPr>
        <p:txBody>
          <a:bodyPr wrap="square" lIns="635" tIns="635" rIns="635" bIns="635" rtlCol="0" anchor="ctr"/>
          <a:lstStyle/>
          <a:p>
            <a:pPr indent="0" marL="0">
              <a:buNone/>
            </a:pPr>
            <a:r>
              <a:rPr lang="en-US" sz="2000" b="1" dirty="0">
                <a:solidFill>
                  <a:schemeClr val="tx1"/>
                </a:solidFill>
              </a:rPr>
              <a:t>The idea</a:t>
            </a:r>
            <a:endParaRPr lang="en-US" sz="2000" dirty="0"/>
          </a:p>
        </p:txBody>
      </p:sp>
      <p:sp>
        <p:nvSpPr>
          <p:cNvPr id="13" name="Text 11"/>
          <p:cNvSpPr txBox="1"/>
          <p:nvPr/>
        </p:nvSpPr>
        <p:spPr>
          <a:xfrm>
            <a:off x="5394960" y="2944368"/>
            <a:ext cx="5760720" cy="731520"/>
          </a:xfrm>
          <a:prstGeom prst="rect">
            <a:avLst/>
          </a:prstGeom>
          <a:noFill/>
          <a:ln/>
        </p:spPr>
        <p:txBody>
          <a:bodyPr wrap="square" lIns="635" tIns="635" rIns="635" bIns="635" rtlCol="0" anchor="ctr"/>
          <a:lstStyle/>
          <a:p>
            <a:pPr indent="0" marL="0">
              <a:buNone/>
            </a:pPr>
            <a:r>
              <a:rPr lang="en-US" sz="1500" dirty="0">
                <a:solidFill>
                  <a:schemeClr val="tx2"/>
                </a:solidFill>
              </a:rPr>
              <a:t>Synthesize anomalies and learn to remove them inside the frozen RAE latent</a:t>
            </a:r>
            <a:endParaRPr lang="en-US" sz="1500" dirty="0"/>
          </a:p>
        </p:txBody>
      </p:sp>
      <p:sp>
        <p:nvSpPr>
          <p:cNvPr id="14" name="part3"/>
          <p:cNvSpPr/>
          <p:nvPr/>
        </p:nvSpPr>
        <p:spPr>
          <a:xfrm>
            <a:off x="822960" y="3931920"/>
            <a:ext cx="10515600" cy="914400"/>
          </a:xfrm>
          <a:prstGeom prst="roundRect">
            <a:avLst>
              <a:gd name="adj" fmla="val 12000"/>
            </a:avLst>
          </a:prstGeom>
          <a:solidFill>
            <a:schemeClr val="accent5"/>
          </a:solidFill>
          <a:ln w="12700">
            <a:solidFill>
              <a:schemeClr val="accent5"/>
            </a:solidFill>
            <a:prstDash val="solid"/>
          </a:ln>
        </p:spPr>
      </p:sp>
      <p:sp>
        <p:nvSpPr>
          <p:cNvPr id="15" name="num"/>
          <p:cNvSpPr/>
          <p:nvPr/>
        </p:nvSpPr>
        <p:spPr>
          <a:xfrm>
            <a:off x="1051560" y="4160520"/>
            <a:ext cx="457200" cy="457200"/>
          </a:xfrm>
          <a:prstGeom prst="ellipse">
            <a:avLst/>
          </a:prstGeom>
          <a:solidFill>
            <a:schemeClr val="accent1"/>
          </a:solidFill>
          <a:ln w="12700">
            <a:solidFill>
              <a:schemeClr val="accent1"/>
            </a:solidFill>
            <a:prstDash val="solid"/>
          </a:ln>
        </p:spPr>
      </p:sp>
      <p:sp>
        <p:nvSpPr>
          <p:cNvPr id="16" name="Text 14"/>
          <p:cNvSpPr txBox="1"/>
          <p:nvPr/>
        </p:nvSpPr>
        <p:spPr>
          <a:xfrm>
            <a:off x="1051560" y="41605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5"/>
          <p:cNvSpPr txBox="1"/>
          <p:nvPr/>
        </p:nvSpPr>
        <p:spPr>
          <a:xfrm>
            <a:off x="1737360" y="4041648"/>
            <a:ext cx="3657600" cy="731520"/>
          </a:xfrm>
          <a:prstGeom prst="rect">
            <a:avLst/>
          </a:prstGeom>
          <a:noFill/>
          <a:ln/>
        </p:spPr>
        <p:txBody>
          <a:bodyPr wrap="square" lIns="635" tIns="635" rIns="635" bIns="635" rtlCol="0" anchor="ctr"/>
          <a:lstStyle/>
          <a:p>
            <a:pPr indent="0" marL="0">
              <a:buNone/>
            </a:pPr>
            <a:r>
              <a:rPr lang="en-US" sz="2000" b="1" dirty="0">
                <a:solidFill>
                  <a:schemeClr val="tx1"/>
                </a:solidFill>
              </a:rPr>
              <a:t>Why it should work</a:t>
            </a:r>
            <a:endParaRPr lang="en-US" sz="2000" dirty="0"/>
          </a:p>
        </p:txBody>
      </p:sp>
      <p:sp>
        <p:nvSpPr>
          <p:cNvPr id="18" name="Text 16"/>
          <p:cNvSpPr txBox="1"/>
          <p:nvPr/>
        </p:nvSpPr>
        <p:spPr>
          <a:xfrm>
            <a:off x="5394960" y="4041648"/>
            <a:ext cx="5760720" cy="731520"/>
          </a:xfrm>
          <a:prstGeom prst="rect">
            <a:avLst/>
          </a:prstGeom>
          <a:noFill/>
          <a:ln/>
        </p:spPr>
        <p:txBody>
          <a:bodyPr wrap="square" lIns="635" tIns="635" rIns="635" bIns="635" rtlCol="0" anchor="ctr"/>
          <a:lstStyle/>
          <a:p>
            <a:pPr indent="0" marL="0">
              <a:buNone/>
            </a:pPr>
            <a:r>
              <a:rPr lang="en-US" sz="1500" dirty="0">
                <a:solidFill>
                  <a:schemeClr val="tx2"/>
                </a:solidFill>
              </a:rPr>
              <a:t>Arguments, novelty check, and the controls built in</a:t>
            </a:r>
            <a:endParaRPr lang="en-US" sz="1500" dirty="0"/>
          </a:p>
        </p:txBody>
      </p:sp>
      <p:sp>
        <p:nvSpPr>
          <p:cNvPr id="19" name="part4"/>
          <p:cNvSpPr/>
          <p:nvPr/>
        </p:nvSpPr>
        <p:spPr>
          <a:xfrm>
            <a:off x="822960" y="5029200"/>
            <a:ext cx="10515600" cy="914400"/>
          </a:xfrm>
          <a:prstGeom prst="roundRect">
            <a:avLst>
              <a:gd name="adj" fmla="val 12000"/>
            </a:avLst>
          </a:prstGeom>
          <a:solidFill>
            <a:schemeClr val="bg2"/>
          </a:solidFill>
          <a:ln w="12700">
            <a:solidFill>
              <a:schemeClr val="bg2"/>
            </a:solidFill>
            <a:prstDash val="solid"/>
          </a:ln>
        </p:spPr>
      </p:sp>
      <p:sp>
        <p:nvSpPr>
          <p:cNvPr id="20" name="num"/>
          <p:cNvSpPr/>
          <p:nvPr/>
        </p:nvSpPr>
        <p:spPr>
          <a:xfrm>
            <a:off x="1051560" y="5257800"/>
            <a:ext cx="457200" cy="457200"/>
          </a:xfrm>
          <a:prstGeom prst="ellipse">
            <a:avLst/>
          </a:prstGeom>
          <a:solidFill>
            <a:schemeClr val="accent1"/>
          </a:solidFill>
          <a:ln w="12700">
            <a:solidFill>
              <a:schemeClr val="accent1"/>
            </a:solidFill>
            <a:prstDash val="solid"/>
          </a:ln>
        </p:spPr>
      </p:sp>
      <p:sp>
        <p:nvSpPr>
          <p:cNvPr id="21" name="Text 19"/>
          <p:cNvSpPr txBox="1"/>
          <p:nvPr/>
        </p:nvSpPr>
        <p:spPr>
          <a:xfrm>
            <a:off x="1051560" y="5257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20"/>
          <p:cNvSpPr txBox="1"/>
          <p:nvPr/>
        </p:nvSpPr>
        <p:spPr>
          <a:xfrm>
            <a:off x="1737360" y="5138928"/>
            <a:ext cx="3657600" cy="731520"/>
          </a:xfrm>
          <a:prstGeom prst="rect">
            <a:avLst/>
          </a:prstGeom>
          <a:noFill/>
          <a:ln/>
        </p:spPr>
        <p:txBody>
          <a:bodyPr wrap="square" lIns="635" tIns="635" rIns="635" bIns="635" rtlCol="0" anchor="ctr"/>
          <a:lstStyle/>
          <a:p>
            <a:pPr indent="0" marL="0">
              <a:buNone/>
            </a:pPr>
            <a:r>
              <a:rPr lang="en-US" sz="2000" b="1" dirty="0">
                <a:solidFill>
                  <a:schemeClr val="tx1"/>
                </a:solidFill>
              </a:rPr>
              <a:t>Results so far</a:t>
            </a:r>
            <a:endParaRPr lang="en-US" sz="2000" dirty="0"/>
          </a:p>
        </p:txBody>
      </p:sp>
      <p:sp>
        <p:nvSpPr>
          <p:cNvPr id="23" name="Text 21"/>
          <p:cNvSpPr txBox="1"/>
          <p:nvPr/>
        </p:nvSpPr>
        <p:spPr>
          <a:xfrm>
            <a:off x="5394960" y="5138928"/>
            <a:ext cx="5760720" cy="731520"/>
          </a:xfrm>
          <a:prstGeom prst="rect">
            <a:avLst/>
          </a:prstGeom>
          <a:noFill/>
          <a:ln/>
        </p:spPr>
        <p:txBody>
          <a:bodyPr wrap="square" lIns="635" tIns="635" rIns="635" bIns="635" rtlCol="0" anchor="ctr"/>
          <a:lstStyle/>
          <a:p>
            <a:pPr indent="0" marL="0">
              <a:buNone/>
            </a:pPr>
            <a:r>
              <a:rPr lang="en-US" sz="1500" dirty="0">
                <a:solidFill>
                  <a:schemeClr val="tx2"/>
                </a:solidFill>
              </a:rPr>
              <a:t>Exp 1 fidelity · Exp 2 latent DRAEM pilot · Exp 3 in progress</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731520" y="2743200"/>
            <a:ext cx="10698480" cy="1280160"/>
          </a:xfrm>
          <a:prstGeom prst="rect">
            <a:avLst/>
          </a:prstGeom>
          <a:noFill/>
          <a:ln/>
        </p:spPr>
        <p:txBody>
          <a:bodyPr wrap="square"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Representation Autoencoders</a:t>
            </a:r>
            <a:endParaRPr lang="en-US" sz="4000" dirty="0"/>
          </a:p>
        </p:txBody>
      </p:sp>
      <p:sp>
        <p:nvSpPr>
          <p:cNvPr id="3" name="Text 0"/>
          <p:cNvSpPr/>
          <p:nvPr>
            <p:ph idx="100" type="body" hasCustomPrompt="1"/>
          </p:nvPr>
        </p:nvSpPr>
        <p:spPr>
          <a:xfrm>
            <a:off x="731520" y="2011680"/>
            <a:ext cx="10698480" cy="731520"/>
          </a:xfrm>
          <a:prstGeom prst="rect">
            <a:avLst/>
          </a:prstGeom>
          <a:noFill/>
          <a:ln/>
        </p:spPr>
        <p:txBody>
          <a:bodyPr wrap="square" rtlCol="0"/>
          <a:lstStyle/>
          <a:p>
            <a:pPr indent="0" marL="0">
              <a:buNone/>
            </a:pPr>
            <a:r>
              <a:rPr lang="en-US" sz="2000" b="1" dirty="0">
                <a:solidFill>
                  <a:schemeClr val="accent1"/>
                </a:solidFill>
              </a:rPr>
              <a:t>Part 1</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68580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Two kinds of latent space</a:t>
            </a:r>
            <a:endParaRPr lang="en-US" sz="3600" dirty="0"/>
          </a:p>
        </p:txBody>
      </p:sp>
      <p:sp>
        <p:nvSpPr>
          <p:cNvPr id="3" name="Text 1"/>
          <p:cNvSpPr/>
          <p:nvPr>
            <p:ph idx="102" type="body" hasCustomPrompt="1"/>
          </p:nvPr>
        </p:nvSpPr>
        <p:spPr>
          <a:xfrm>
            <a:off x="548640" y="1005840"/>
            <a:ext cx="11064240" cy="457200"/>
          </a:xfrm>
          <a:prstGeom prst="rect">
            <a:avLst/>
          </a:prstGeom>
          <a:noFill/>
          <a:ln/>
        </p:spPr>
        <p:txBody>
          <a:bodyPr wrap="square" rtlCol="0" anchor="t"/>
          <a:lstStyle/>
          <a:p>
            <a:pPr indent="0" marL="0">
              <a:buNone/>
            </a:pPr>
            <a:r>
              <a:rPr lang="en-US" sz="1800" i="1" dirty="0">
                <a:solidFill>
                  <a:schemeClr val="tx2"/>
                </a:solidFill>
              </a:rPr>
              <a:t>Latent diffusion has used reconstruction-only autoencoders; RAE swaps in a pretrained encoder</a:t>
            </a:r>
            <a:endParaRPr lang="en-US" sz="1800" dirty="0"/>
          </a:p>
        </p:txBody>
      </p:sp>
      <p:sp>
        <p:nvSpPr>
          <p:cNvPr id="4" name="vae"/>
          <p:cNvSpPr/>
          <p:nvPr/>
        </p:nvSpPr>
        <p:spPr>
          <a:xfrm>
            <a:off x="640080" y="1691640"/>
            <a:ext cx="5303520" cy="4297680"/>
          </a:xfrm>
          <a:prstGeom prst="roundRect">
            <a:avLst>
              <a:gd name="adj" fmla="val 2553"/>
            </a:avLst>
          </a:prstGeom>
          <a:solidFill>
            <a:schemeClr val="bg2"/>
          </a:solidFill>
          <a:ln w="12700">
            <a:solidFill>
              <a:schemeClr val="bg2"/>
            </a:solidFill>
            <a:prstDash val="solid"/>
          </a:ln>
        </p:spPr>
      </p:sp>
      <p:sp>
        <p:nvSpPr>
          <p:cNvPr id="5" name="Text 3"/>
          <p:cNvSpPr txBox="1"/>
          <p:nvPr/>
        </p:nvSpPr>
        <p:spPr>
          <a:xfrm>
            <a:off x="914400" y="1828800"/>
            <a:ext cx="4846320" cy="457200"/>
          </a:xfrm>
          <a:prstGeom prst="rect">
            <a:avLst/>
          </a:prstGeom>
          <a:noFill/>
          <a:ln/>
        </p:spPr>
        <p:txBody>
          <a:bodyPr wrap="square" lIns="635" tIns="635" rIns="635" bIns="635" rtlCol="0" anchor="t"/>
          <a:lstStyle/>
          <a:p>
            <a:pPr indent="0" marL="0">
              <a:buNone/>
            </a:pPr>
            <a:r>
              <a:rPr lang="en-US" sz="2000" b="1" dirty="0">
                <a:solidFill>
                  <a:schemeClr val="tx1"/>
                </a:solidFill>
              </a:rPr>
              <a:t>SD-VAE (standard latent diffusion)</a:t>
            </a:r>
            <a:endParaRPr lang="en-US" sz="2000" dirty="0"/>
          </a:p>
        </p:txBody>
      </p:sp>
      <p:sp>
        <p:nvSpPr>
          <p:cNvPr id="6" name="box"/>
          <p:cNvSpPr/>
          <p:nvPr/>
        </p:nvSpPr>
        <p:spPr>
          <a:xfrm>
            <a:off x="914400" y="2514600"/>
            <a:ext cx="1463040" cy="822960"/>
          </a:xfrm>
          <a:prstGeom prst="roundRect">
            <a:avLst>
              <a:gd name="adj" fmla="val 11111"/>
            </a:avLst>
          </a:prstGeom>
          <a:solidFill>
            <a:schemeClr val="bg1"/>
          </a:solidFill>
          <a:ln w="12700">
            <a:solidFill>
              <a:schemeClr val="accent3"/>
            </a:solidFill>
            <a:prstDash val="solid"/>
          </a:ln>
        </p:spPr>
      </p:sp>
      <p:sp>
        <p:nvSpPr>
          <p:cNvPr id="7" name="Text 5"/>
          <p:cNvSpPr txBox="1"/>
          <p:nvPr/>
        </p:nvSpPr>
        <p:spPr>
          <a:xfrm>
            <a:off x="914400" y="2514600"/>
            <a:ext cx="1463040" cy="822960"/>
          </a:xfrm>
          <a:prstGeom prst="rect">
            <a:avLst/>
          </a:prstGeom>
          <a:noFill/>
          <a:ln/>
        </p:spPr>
        <p:txBody>
          <a:bodyPr wrap="square" lIns="635" tIns="635" rIns="635" bIns="635" rtlCol="0" anchor="ctr"/>
          <a:lstStyle/>
          <a:p>
            <a:pPr algn="ctr" indent="0" marL="0">
              <a:buNone/>
            </a:pPr>
            <a:r>
              <a:rPr lang="en-US" sz="1300" b="1" dirty="0">
                <a:solidFill>
                  <a:schemeClr val="tx1"/>
                </a:solidFill>
              </a:rPr>
              <a:t>image</a:t>
            </a:r>
            <a:endParaRPr lang="en-US" sz="1300" dirty="0"/>
          </a:p>
          <a:p>
            <a:pPr algn="ctr" indent="0" marL="0">
              <a:buNone/>
            </a:pPr>
            <a:r>
              <a:rPr lang="en-US" sz="1300" b="1" dirty="0">
                <a:solidFill>
                  <a:schemeClr val="tx1"/>
                </a:solidFill>
              </a:rPr>
              <a:t>256×256</a:t>
            </a:r>
            <a:endParaRPr lang="en-US" sz="1300" dirty="0"/>
          </a:p>
        </p:txBody>
      </p:sp>
      <p:sp>
        <p:nvSpPr>
          <p:cNvPr id="8" name="arrow"/>
          <p:cNvSpPr/>
          <p:nvPr/>
        </p:nvSpPr>
        <p:spPr>
          <a:xfrm>
            <a:off x="2423160" y="2926080"/>
            <a:ext cx="457200" cy="914"/>
          </a:xfrm>
          <a:prstGeom prst="line">
            <a:avLst/>
          </a:prstGeom>
          <a:noFill/>
          <a:ln w="25400">
            <a:solidFill>
              <a:schemeClr val="accent3"/>
            </a:solidFill>
            <a:prstDash val="solid"/>
            <a:tailEnd type="triangle"/>
          </a:ln>
        </p:spPr>
      </p:sp>
      <p:sp>
        <p:nvSpPr>
          <p:cNvPr id="9" name="box"/>
          <p:cNvSpPr/>
          <p:nvPr/>
        </p:nvSpPr>
        <p:spPr>
          <a:xfrm>
            <a:off x="2926080" y="2514600"/>
            <a:ext cx="1280160" cy="822960"/>
          </a:xfrm>
          <a:prstGeom prst="roundRect">
            <a:avLst>
              <a:gd name="adj" fmla="val 11111"/>
            </a:avLst>
          </a:prstGeom>
          <a:solidFill>
            <a:schemeClr val="accent3"/>
          </a:solidFill>
          <a:ln w="12700">
            <a:solidFill>
              <a:schemeClr val="accent3"/>
            </a:solidFill>
            <a:prstDash val="solid"/>
          </a:ln>
        </p:spPr>
      </p:sp>
      <p:sp>
        <p:nvSpPr>
          <p:cNvPr id="10" name="Text 8"/>
          <p:cNvSpPr txBox="1"/>
          <p:nvPr/>
        </p:nvSpPr>
        <p:spPr>
          <a:xfrm>
            <a:off x="2926080" y="2514600"/>
            <a:ext cx="1280160" cy="822960"/>
          </a:xfrm>
          <a:prstGeom prst="rect">
            <a:avLst/>
          </a:prstGeom>
          <a:noFill/>
          <a:ln/>
        </p:spPr>
        <p:txBody>
          <a:bodyPr wrap="square" lIns="635" tIns="635" rIns="635" bIns="635" rtlCol="0" anchor="ctr"/>
          <a:lstStyle/>
          <a:p>
            <a:pPr algn="ctr" indent="0" marL="0">
              <a:buNone/>
            </a:pPr>
            <a:r>
              <a:rPr lang="en-US" sz="1300" b="1" dirty="0">
                <a:solidFill>
                  <a:schemeClr val="bg1"/>
                </a:solidFill>
              </a:rPr>
              <a:t>VAE</a:t>
            </a:r>
            <a:endParaRPr lang="en-US" sz="1300" dirty="0"/>
          </a:p>
          <a:p>
            <a:pPr algn="ctr" indent="0" marL="0">
              <a:buNone/>
            </a:pPr>
            <a:r>
              <a:rPr lang="en-US" sz="1300" b="1" dirty="0">
                <a:solidFill>
                  <a:schemeClr val="bg1"/>
                </a:solidFill>
              </a:rPr>
              <a:t>encoder</a:t>
            </a:r>
            <a:endParaRPr lang="en-US" sz="1300" dirty="0"/>
          </a:p>
        </p:txBody>
      </p:sp>
      <p:sp>
        <p:nvSpPr>
          <p:cNvPr id="11" name="arrow"/>
          <p:cNvSpPr/>
          <p:nvPr/>
        </p:nvSpPr>
        <p:spPr>
          <a:xfrm>
            <a:off x="4251960" y="2926080"/>
            <a:ext cx="365760" cy="914"/>
          </a:xfrm>
          <a:prstGeom prst="line">
            <a:avLst/>
          </a:prstGeom>
          <a:noFill/>
          <a:ln w="25400">
            <a:solidFill>
              <a:schemeClr val="accent3"/>
            </a:solidFill>
            <a:prstDash val="solid"/>
            <a:tailEnd type="triangle"/>
          </a:ln>
        </p:spPr>
      </p:sp>
      <p:sp>
        <p:nvSpPr>
          <p:cNvPr id="12" name="box"/>
          <p:cNvSpPr/>
          <p:nvPr/>
        </p:nvSpPr>
        <p:spPr>
          <a:xfrm>
            <a:off x="4663440" y="2514600"/>
            <a:ext cx="1097280" cy="822960"/>
          </a:xfrm>
          <a:prstGeom prst="roundRect">
            <a:avLst>
              <a:gd name="adj" fmla="val 11111"/>
            </a:avLst>
          </a:prstGeom>
          <a:solidFill>
            <a:schemeClr val="bg1"/>
          </a:solidFill>
          <a:ln w="12700">
            <a:solidFill>
              <a:schemeClr val="accent3"/>
            </a:solidFill>
            <a:prstDash val="solid"/>
          </a:ln>
        </p:spPr>
      </p:sp>
      <p:sp>
        <p:nvSpPr>
          <p:cNvPr id="13" name="Text 11"/>
          <p:cNvSpPr txBox="1"/>
          <p:nvPr/>
        </p:nvSpPr>
        <p:spPr>
          <a:xfrm>
            <a:off x="4663440" y="2514600"/>
            <a:ext cx="1097280" cy="822960"/>
          </a:xfrm>
          <a:prstGeom prst="rect">
            <a:avLst/>
          </a:prstGeom>
          <a:noFill/>
          <a:ln/>
        </p:spPr>
        <p:txBody>
          <a:bodyPr wrap="square" lIns="635" tIns="635" rIns="635" bIns="635" rtlCol="0" anchor="ctr"/>
          <a:lstStyle/>
          <a:p>
            <a:pPr algn="ctr" indent="0" marL="0">
              <a:buNone/>
            </a:pPr>
            <a:r>
              <a:rPr lang="en-US" sz="1300" b="1" dirty="0">
                <a:solidFill>
                  <a:schemeClr val="tx1"/>
                </a:solidFill>
              </a:rPr>
              <a:t>32×32</a:t>
            </a:r>
            <a:endParaRPr lang="en-US" sz="1300" dirty="0"/>
          </a:p>
          <a:p>
            <a:pPr algn="ctr" indent="0" marL="0">
              <a:buNone/>
            </a:pPr>
            <a:r>
              <a:rPr lang="en-US" sz="1300" b="1" dirty="0">
                <a:solidFill>
                  <a:schemeClr val="tx1"/>
                </a:solidFill>
              </a:rPr>
              <a:t>×4</a:t>
            </a:r>
            <a:endParaRPr lang="en-US" sz="1300" dirty="0"/>
          </a:p>
        </p:txBody>
      </p:sp>
      <p:sp>
        <p:nvSpPr>
          <p:cNvPr id="14" name="Text 12"/>
          <p:cNvSpPr txBox="1"/>
          <p:nvPr/>
        </p:nvSpPr>
        <p:spPr>
          <a:xfrm>
            <a:off x="914400" y="3657600"/>
            <a:ext cx="4846320" cy="2103120"/>
          </a:xfrm>
          <a:prstGeom prst="rect">
            <a:avLst/>
          </a:prstGeom>
          <a:noFill/>
          <a:ln/>
        </p:spPr>
        <p:txBody>
          <a:bodyPr wrap="square" rtlCol="0" anchor="t"/>
          <a:lstStyle/>
          <a:p>
            <a:pPr marL="342900" indent="-342900">
              <a:spcAft>
                <a:spcPts val="600"/>
              </a:spcAft>
              <a:buSzPct val="100000"/>
              <a:buChar char="•"/>
            </a:pPr>
            <a:r>
              <a:rPr lang="en-US" sz="1500" dirty="0">
                <a:solidFill>
                  <a:schemeClr val="tx1"/>
                </a:solidFill>
              </a:rPr>
              <a:t>Encoder trained only to reconstruct pixels</a:t>
            </a:r>
            <a:endParaRPr lang="en-US" sz="1500" dirty="0"/>
          </a:p>
          <a:p>
            <a:pPr marL="342900" indent="-342900">
              <a:spcAft>
                <a:spcPts val="600"/>
              </a:spcAft>
              <a:buSzPct val="100000"/>
              <a:buChar char="•"/>
            </a:pPr>
            <a:r>
              <a:rPr lang="en-US" sz="1500" dirty="0">
                <a:solidFill>
                  <a:schemeClr val="tx1"/>
                </a:solidFill>
              </a:rPr>
              <a:t>Few channels, weak semantics</a:t>
            </a:r>
            <a:endParaRPr lang="en-US" sz="1500" dirty="0"/>
          </a:p>
          <a:p>
            <a:pPr marL="342900" indent="-342900">
              <a:spcAft>
                <a:spcPts val="600"/>
              </a:spcAft>
              <a:buSzPct val="100000"/>
              <a:buChar char="•"/>
            </a:pPr>
            <a:r>
              <a:rPr lang="en-US" sz="1500" dirty="0">
                <a:solidFill>
                  <a:schemeClr val="tx1"/>
                </a:solidFill>
              </a:rPr>
              <a:t>Used by DiAD-style diffusion anomaly detectors</a:t>
            </a:r>
            <a:endParaRPr lang="en-US" sz="1500" dirty="0"/>
          </a:p>
        </p:txBody>
      </p:sp>
      <p:sp>
        <p:nvSpPr>
          <p:cNvPr id="15" name="rae"/>
          <p:cNvSpPr/>
          <p:nvPr/>
        </p:nvSpPr>
        <p:spPr>
          <a:xfrm>
            <a:off x="6263640" y="1691640"/>
            <a:ext cx="5303520" cy="4297680"/>
          </a:xfrm>
          <a:prstGeom prst="roundRect">
            <a:avLst>
              <a:gd name="adj" fmla="val 2553"/>
            </a:avLst>
          </a:prstGeom>
          <a:solidFill>
            <a:schemeClr val="accent6"/>
          </a:solidFill>
          <a:ln w="12700">
            <a:solidFill>
              <a:schemeClr val="accent6"/>
            </a:solidFill>
            <a:prstDash val="solid"/>
          </a:ln>
        </p:spPr>
      </p:sp>
      <p:sp>
        <p:nvSpPr>
          <p:cNvPr id="16" name="Text 14"/>
          <p:cNvSpPr txBox="1"/>
          <p:nvPr/>
        </p:nvSpPr>
        <p:spPr>
          <a:xfrm>
            <a:off x="6537960" y="1828800"/>
            <a:ext cx="4846320" cy="457200"/>
          </a:xfrm>
          <a:prstGeom prst="rect">
            <a:avLst/>
          </a:prstGeom>
          <a:noFill/>
          <a:ln/>
        </p:spPr>
        <p:txBody>
          <a:bodyPr wrap="square" lIns="635" tIns="635" rIns="635" bIns="635" rtlCol="0" anchor="t"/>
          <a:lstStyle/>
          <a:p>
            <a:pPr indent="0" marL="0">
              <a:buNone/>
            </a:pPr>
            <a:r>
              <a:rPr lang="en-US" sz="2000" b="1" dirty="0">
                <a:solidFill>
                  <a:schemeClr val="tx1"/>
                </a:solidFill>
              </a:rPr>
              <a:t>RAE (Zheng et al., ICLR 2026)</a:t>
            </a:r>
            <a:endParaRPr lang="en-US" sz="2000" dirty="0"/>
          </a:p>
        </p:txBody>
      </p:sp>
      <p:sp>
        <p:nvSpPr>
          <p:cNvPr id="17" name="box"/>
          <p:cNvSpPr/>
          <p:nvPr/>
        </p:nvSpPr>
        <p:spPr>
          <a:xfrm>
            <a:off x="6537960" y="2514600"/>
            <a:ext cx="1463040" cy="822960"/>
          </a:xfrm>
          <a:prstGeom prst="roundRect">
            <a:avLst>
              <a:gd name="adj" fmla="val 11111"/>
            </a:avLst>
          </a:prstGeom>
          <a:solidFill>
            <a:schemeClr val="bg1"/>
          </a:solidFill>
          <a:ln w="12700">
            <a:solidFill>
              <a:schemeClr val="accent1"/>
            </a:solidFill>
            <a:prstDash val="solid"/>
          </a:ln>
        </p:spPr>
      </p:sp>
      <p:sp>
        <p:nvSpPr>
          <p:cNvPr id="18" name="Text 16"/>
          <p:cNvSpPr txBox="1"/>
          <p:nvPr/>
        </p:nvSpPr>
        <p:spPr>
          <a:xfrm>
            <a:off x="6537960" y="2514600"/>
            <a:ext cx="1463040" cy="822960"/>
          </a:xfrm>
          <a:prstGeom prst="rect">
            <a:avLst/>
          </a:prstGeom>
          <a:noFill/>
          <a:ln/>
        </p:spPr>
        <p:txBody>
          <a:bodyPr wrap="square" lIns="635" tIns="635" rIns="635" bIns="635" rtlCol="0" anchor="ctr"/>
          <a:lstStyle/>
          <a:p>
            <a:pPr algn="ctr" indent="0" marL="0">
              <a:buNone/>
            </a:pPr>
            <a:r>
              <a:rPr lang="en-US" sz="1300" b="1" dirty="0">
                <a:solidFill>
                  <a:schemeClr val="tx1"/>
                </a:solidFill>
              </a:rPr>
              <a:t>image</a:t>
            </a:r>
            <a:endParaRPr lang="en-US" sz="1300" dirty="0"/>
          </a:p>
          <a:p>
            <a:pPr algn="ctr" indent="0" marL="0">
              <a:buNone/>
            </a:pPr>
            <a:r>
              <a:rPr lang="en-US" sz="1300" b="1" dirty="0">
                <a:solidFill>
                  <a:schemeClr val="tx1"/>
                </a:solidFill>
              </a:rPr>
              <a:t>256×256</a:t>
            </a:r>
            <a:endParaRPr lang="en-US" sz="1300" dirty="0"/>
          </a:p>
        </p:txBody>
      </p:sp>
      <p:sp>
        <p:nvSpPr>
          <p:cNvPr id="19" name="arrow"/>
          <p:cNvSpPr/>
          <p:nvPr/>
        </p:nvSpPr>
        <p:spPr>
          <a:xfrm>
            <a:off x="8046720" y="2926080"/>
            <a:ext cx="457200" cy="914"/>
          </a:xfrm>
          <a:prstGeom prst="line">
            <a:avLst/>
          </a:prstGeom>
          <a:noFill/>
          <a:ln w="25400">
            <a:solidFill>
              <a:schemeClr val="accent3"/>
            </a:solidFill>
            <a:prstDash val="solid"/>
            <a:tailEnd type="triangle"/>
          </a:ln>
        </p:spPr>
      </p:sp>
      <p:sp>
        <p:nvSpPr>
          <p:cNvPr id="20" name="box"/>
          <p:cNvSpPr/>
          <p:nvPr/>
        </p:nvSpPr>
        <p:spPr>
          <a:xfrm>
            <a:off x="8549640" y="2514600"/>
            <a:ext cx="1280160" cy="822960"/>
          </a:xfrm>
          <a:prstGeom prst="roundRect">
            <a:avLst>
              <a:gd name="adj" fmla="val 11111"/>
            </a:avLst>
          </a:prstGeom>
          <a:solidFill>
            <a:schemeClr val="accent1"/>
          </a:solidFill>
          <a:ln w="12700">
            <a:solidFill>
              <a:schemeClr val="accent1"/>
            </a:solidFill>
            <a:prstDash val="solid"/>
          </a:ln>
        </p:spPr>
      </p:sp>
      <p:sp>
        <p:nvSpPr>
          <p:cNvPr id="21" name="Text 19"/>
          <p:cNvSpPr txBox="1"/>
          <p:nvPr/>
        </p:nvSpPr>
        <p:spPr>
          <a:xfrm>
            <a:off x="8549640" y="2514600"/>
            <a:ext cx="1280160" cy="822960"/>
          </a:xfrm>
          <a:prstGeom prst="rect">
            <a:avLst/>
          </a:prstGeom>
          <a:noFill/>
          <a:ln/>
        </p:spPr>
        <p:txBody>
          <a:bodyPr wrap="square" lIns="635" tIns="635" rIns="635" bIns="635" rtlCol="0" anchor="ctr"/>
          <a:lstStyle/>
          <a:p>
            <a:pPr algn="ctr" indent="0" marL="0">
              <a:buNone/>
            </a:pPr>
            <a:r>
              <a:rPr lang="en-US" sz="1300" b="1" dirty="0">
                <a:solidFill>
                  <a:schemeClr val="bg1"/>
                </a:solidFill>
              </a:rPr>
              <a:t>frozen</a:t>
            </a:r>
            <a:endParaRPr lang="en-US" sz="1300" dirty="0"/>
          </a:p>
          <a:p>
            <a:pPr algn="ctr" indent="0" marL="0">
              <a:buNone/>
            </a:pPr>
            <a:r>
              <a:rPr lang="en-US" sz="1300" b="1" dirty="0">
                <a:solidFill>
                  <a:schemeClr val="bg1"/>
                </a:solidFill>
              </a:rPr>
              <a:t>DINOv2-B</a:t>
            </a:r>
            <a:endParaRPr lang="en-US" sz="1300" dirty="0"/>
          </a:p>
        </p:txBody>
      </p:sp>
      <p:sp>
        <p:nvSpPr>
          <p:cNvPr id="22" name="arrow"/>
          <p:cNvSpPr/>
          <p:nvPr/>
        </p:nvSpPr>
        <p:spPr>
          <a:xfrm>
            <a:off x="9875520" y="2926080"/>
            <a:ext cx="365760" cy="914"/>
          </a:xfrm>
          <a:prstGeom prst="line">
            <a:avLst/>
          </a:prstGeom>
          <a:noFill/>
          <a:ln w="25400">
            <a:solidFill>
              <a:schemeClr val="accent3"/>
            </a:solidFill>
            <a:prstDash val="solid"/>
            <a:tailEnd type="triangle"/>
          </a:ln>
        </p:spPr>
      </p:sp>
      <p:sp>
        <p:nvSpPr>
          <p:cNvPr id="23" name="box"/>
          <p:cNvSpPr/>
          <p:nvPr/>
        </p:nvSpPr>
        <p:spPr>
          <a:xfrm>
            <a:off x="10287000" y="2514600"/>
            <a:ext cx="1097280" cy="822960"/>
          </a:xfrm>
          <a:prstGeom prst="roundRect">
            <a:avLst>
              <a:gd name="adj" fmla="val 11111"/>
            </a:avLst>
          </a:prstGeom>
          <a:solidFill>
            <a:schemeClr val="bg1"/>
          </a:solidFill>
          <a:ln w="12700">
            <a:solidFill>
              <a:schemeClr val="accent1"/>
            </a:solidFill>
            <a:prstDash val="solid"/>
          </a:ln>
        </p:spPr>
      </p:sp>
      <p:sp>
        <p:nvSpPr>
          <p:cNvPr id="24" name="Text 22"/>
          <p:cNvSpPr txBox="1"/>
          <p:nvPr/>
        </p:nvSpPr>
        <p:spPr>
          <a:xfrm>
            <a:off x="10287000" y="2514600"/>
            <a:ext cx="1097280" cy="822960"/>
          </a:xfrm>
          <a:prstGeom prst="rect">
            <a:avLst/>
          </a:prstGeom>
          <a:noFill/>
          <a:ln/>
        </p:spPr>
        <p:txBody>
          <a:bodyPr wrap="square" lIns="635" tIns="635" rIns="635" bIns="635" rtlCol="0" anchor="ctr"/>
          <a:lstStyle/>
          <a:p>
            <a:pPr algn="ctr" indent="0" marL="0">
              <a:buNone/>
            </a:pPr>
            <a:r>
              <a:rPr lang="en-US" sz="1300" b="1" dirty="0">
                <a:solidFill>
                  <a:schemeClr val="tx1"/>
                </a:solidFill>
              </a:rPr>
              <a:t>16×16</a:t>
            </a:r>
            <a:endParaRPr lang="en-US" sz="1300" dirty="0"/>
          </a:p>
          <a:p>
            <a:pPr algn="ctr" indent="0" marL="0">
              <a:buNone/>
            </a:pPr>
            <a:r>
              <a:rPr lang="en-US" sz="1300" b="1" dirty="0">
                <a:solidFill>
                  <a:schemeClr val="tx1"/>
                </a:solidFill>
              </a:rPr>
              <a:t>×768</a:t>
            </a:r>
            <a:endParaRPr lang="en-US" sz="1300" dirty="0"/>
          </a:p>
        </p:txBody>
      </p:sp>
      <p:sp>
        <p:nvSpPr>
          <p:cNvPr id="25" name="Text 23"/>
          <p:cNvSpPr txBox="1"/>
          <p:nvPr/>
        </p:nvSpPr>
        <p:spPr>
          <a:xfrm>
            <a:off x="6537960" y="3657600"/>
            <a:ext cx="4846320" cy="2103120"/>
          </a:xfrm>
          <a:prstGeom prst="rect">
            <a:avLst/>
          </a:prstGeom>
          <a:noFill/>
          <a:ln/>
        </p:spPr>
        <p:txBody>
          <a:bodyPr wrap="square" rtlCol="0" anchor="t"/>
          <a:lstStyle/>
          <a:p>
            <a:pPr marL="342900" indent="-342900">
              <a:spcAft>
                <a:spcPts val="600"/>
              </a:spcAft>
              <a:buSzPct val="100000"/>
              <a:buChar char="•"/>
            </a:pPr>
            <a:r>
              <a:rPr lang="en-US" sz="1500" dirty="0">
                <a:solidFill>
                  <a:schemeClr val="tx1"/>
                </a:solidFill>
              </a:rPr>
              <a:t>Encoder is a pretrained representation model (DINOv2, SigLIP2, MAE), never trained</a:t>
            </a:r>
            <a:endParaRPr lang="en-US" sz="1500" dirty="0"/>
          </a:p>
          <a:p>
            <a:pPr marL="342900" indent="-342900">
              <a:spcAft>
                <a:spcPts val="600"/>
              </a:spcAft>
              <a:buSzPct val="100000"/>
              <a:buChar char="•"/>
            </a:pPr>
            <a:r>
              <a:rPr lang="en-US" sz="1500" dirty="0">
                <a:solidFill>
                  <a:schemeClr val="tx1"/>
                </a:solidFill>
              </a:rPr>
              <a:t>High-dimensional, semantic tokens</a:t>
            </a:r>
            <a:endParaRPr lang="en-US" sz="1500" dirty="0"/>
          </a:p>
          <a:p>
            <a:pPr marL="342900" indent="-342900">
              <a:spcAft>
                <a:spcPts val="600"/>
              </a:spcAft>
              <a:buSzPct val="100000"/>
              <a:buChar char="•"/>
            </a:pPr>
            <a:r>
              <a:rPr lang="en-US" sz="1500" dirty="0">
                <a:solidFill>
                  <a:schemeClr val="tx1"/>
                </a:solidFill>
              </a:rPr>
              <a:t>Only the pixel decoder is learned</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68580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RAE: frozen encoder, trained ViT decoder</a:t>
            </a:r>
            <a:endParaRPr lang="en-US" sz="3600" dirty="0"/>
          </a:p>
        </p:txBody>
      </p:sp>
      <p:sp>
        <p:nvSpPr>
          <p:cNvPr id="3" name="Text 1"/>
          <p:cNvSpPr/>
          <p:nvPr>
            <p:ph idx="102" type="body" hasCustomPrompt="1"/>
          </p:nvPr>
        </p:nvSpPr>
        <p:spPr>
          <a:xfrm>
            <a:off x="548640" y="1005840"/>
            <a:ext cx="11064240" cy="457200"/>
          </a:xfrm>
          <a:prstGeom prst="rect">
            <a:avLst/>
          </a:prstGeom>
          <a:noFill/>
          <a:ln/>
        </p:spPr>
        <p:txBody>
          <a:bodyPr wrap="square" rtlCol="0" anchor="t"/>
          <a:lstStyle/>
          <a:p>
            <a:pPr indent="0" marL="0">
              <a:buNone/>
            </a:pPr>
            <a:r>
              <a:rPr lang="en-US" sz="1800" i="1" dirty="0">
                <a:solidFill>
                  <a:schemeClr val="tx2"/>
                </a:solidFill>
              </a:rPr>
              <a:t>Diffusion runs on the normalized encoder tokens; the decoder maps tokens back to pixels</a:t>
            </a:r>
            <a:endParaRPr lang="en-US" sz="1800" dirty="0"/>
          </a:p>
        </p:txBody>
      </p:sp>
      <p:sp>
        <p:nvSpPr>
          <p:cNvPr id="4" name="box"/>
          <p:cNvSpPr/>
          <p:nvPr/>
        </p:nvSpPr>
        <p:spPr>
          <a:xfrm>
            <a:off x="640080" y="1965960"/>
            <a:ext cx="1463040" cy="1005840"/>
          </a:xfrm>
          <a:prstGeom prst="roundRect">
            <a:avLst>
              <a:gd name="adj" fmla="val 9091"/>
            </a:avLst>
          </a:prstGeom>
          <a:solidFill>
            <a:schemeClr val="bg2"/>
          </a:solidFill>
          <a:ln w="12700">
            <a:solidFill>
              <a:schemeClr val="bg2"/>
            </a:solidFill>
            <a:prstDash val="solid"/>
          </a:ln>
        </p:spPr>
      </p:sp>
      <p:sp>
        <p:nvSpPr>
          <p:cNvPr id="5" name="Text 3"/>
          <p:cNvSpPr txBox="1"/>
          <p:nvPr/>
        </p:nvSpPr>
        <p:spPr>
          <a:xfrm>
            <a:off x="640080" y="1965960"/>
            <a:ext cx="1463040" cy="1005840"/>
          </a:xfrm>
          <a:prstGeom prst="rect">
            <a:avLst/>
          </a:prstGeom>
          <a:noFill/>
          <a:ln/>
        </p:spPr>
        <p:txBody>
          <a:bodyPr wrap="square" lIns="635" tIns="635" rIns="635" bIns="635" rtlCol="0" anchor="ctr"/>
          <a:lstStyle/>
          <a:p>
            <a:pPr algn="ctr" indent="0" marL="0">
              <a:buNone/>
            </a:pPr>
            <a:r>
              <a:rPr lang="en-US" sz="1500" b="1" dirty="0">
                <a:solidFill>
                  <a:schemeClr val="tx1"/>
                </a:solidFill>
              </a:rPr>
              <a:t>image x</a:t>
            </a:r>
            <a:endParaRPr lang="en-US" sz="1500" dirty="0"/>
          </a:p>
        </p:txBody>
      </p:sp>
      <p:sp>
        <p:nvSpPr>
          <p:cNvPr id="6" name="arrow"/>
          <p:cNvSpPr/>
          <p:nvPr/>
        </p:nvSpPr>
        <p:spPr>
          <a:xfrm>
            <a:off x="2148840" y="2468880"/>
            <a:ext cx="457200" cy="914"/>
          </a:xfrm>
          <a:prstGeom prst="line">
            <a:avLst/>
          </a:prstGeom>
          <a:noFill/>
          <a:ln w="25400">
            <a:solidFill>
              <a:schemeClr val="accent3"/>
            </a:solidFill>
            <a:prstDash val="solid"/>
            <a:tailEnd type="triangle"/>
          </a:ln>
        </p:spPr>
      </p:sp>
      <p:sp>
        <p:nvSpPr>
          <p:cNvPr id="7" name="box"/>
          <p:cNvSpPr/>
          <p:nvPr/>
        </p:nvSpPr>
        <p:spPr>
          <a:xfrm>
            <a:off x="2651760" y="1965960"/>
            <a:ext cx="2011680" cy="1005840"/>
          </a:xfrm>
          <a:prstGeom prst="roundRect">
            <a:avLst>
              <a:gd name="adj" fmla="val 9091"/>
            </a:avLst>
          </a:prstGeom>
          <a:solidFill>
            <a:schemeClr val="accent3"/>
          </a:solidFill>
          <a:ln w="12700">
            <a:solidFill>
              <a:schemeClr val="accent3"/>
            </a:solidFill>
            <a:prstDash val="solid"/>
          </a:ln>
        </p:spPr>
      </p:sp>
      <p:sp>
        <p:nvSpPr>
          <p:cNvPr id="8" name="Text 6"/>
          <p:cNvSpPr txBox="1"/>
          <p:nvPr/>
        </p:nvSpPr>
        <p:spPr>
          <a:xfrm>
            <a:off x="2651760" y="1965960"/>
            <a:ext cx="2011680" cy="1005840"/>
          </a:xfrm>
          <a:prstGeom prst="rect">
            <a:avLst/>
          </a:prstGeom>
          <a:noFill/>
          <a:ln/>
        </p:spPr>
        <p:txBody>
          <a:bodyPr wrap="square" lIns="635" tIns="635" rIns="635" bIns="635" rtlCol="0" anchor="ctr"/>
          <a:lstStyle/>
          <a:p>
            <a:pPr algn="ctr" indent="0" marL="0">
              <a:buNone/>
            </a:pPr>
            <a:r>
              <a:rPr lang="en-US" sz="1500" b="1" dirty="0">
                <a:solidFill>
                  <a:schemeClr val="bg1"/>
                </a:solidFill>
              </a:rPr>
              <a:t>Encoder E</a:t>
            </a:r>
            <a:endParaRPr lang="en-US" sz="1500" dirty="0"/>
          </a:p>
          <a:p>
            <a:pPr algn="ctr" indent="0" marL="0">
              <a:buNone/>
            </a:pPr>
            <a:r>
              <a:rPr lang="en-US" sz="1500" b="1" dirty="0">
                <a:solidFill>
                  <a:schemeClr val="bg1"/>
                </a:solidFill>
              </a:rPr>
              <a:t>(frozen)</a:t>
            </a:r>
            <a:endParaRPr lang="en-US" sz="1500" dirty="0"/>
          </a:p>
        </p:txBody>
      </p:sp>
      <p:sp>
        <p:nvSpPr>
          <p:cNvPr id="9" name="arrow"/>
          <p:cNvSpPr/>
          <p:nvPr/>
        </p:nvSpPr>
        <p:spPr>
          <a:xfrm>
            <a:off x="4709160" y="2468880"/>
            <a:ext cx="457200" cy="914"/>
          </a:xfrm>
          <a:prstGeom prst="line">
            <a:avLst/>
          </a:prstGeom>
          <a:noFill/>
          <a:ln w="25400">
            <a:solidFill>
              <a:schemeClr val="accent3"/>
            </a:solidFill>
            <a:prstDash val="solid"/>
            <a:tailEnd type="triangle"/>
          </a:ln>
        </p:spPr>
      </p:sp>
      <p:sp>
        <p:nvSpPr>
          <p:cNvPr id="10" name="box"/>
          <p:cNvSpPr/>
          <p:nvPr/>
        </p:nvSpPr>
        <p:spPr>
          <a:xfrm>
            <a:off x="5212080" y="1965960"/>
            <a:ext cx="1828800" cy="1005840"/>
          </a:xfrm>
          <a:prstGeom prst="roundRect">
            <a:avLst>
              <a:gd name="adj" fmla="val 9091"/>
            </a:avLst>
          </a:prstGeom>
          <a:solidFill>
            <a:schemeClr val="accent6"/>
          </a:solidFill>
          <a:ln w="12700">
            <a:solidFill>
              <a:schemeClr val="accent1"/>
            </a:solidFill>
            <a:prstDash val="solid"/>
          </a:ln>
        </p:spPr>
      </p:sp>
      <p:sp>
        <p:nvSpPr>
          <p:cNvPr id="11" name="Text 9"/>
          <p:cNvSpPr txBox="1"/>
          <p:nvPr/>
        </p:nvSpPr>
        <p:spPr>
          <a:xfrm>
            <a:off x="5212080" y="1965960"/>
            <a:ext cx="1828800" cy="1005840"/>
          </a:xfrm>
          <a:prstGeom prst="rect">
            <a:avLst/>
          </a:prstGeom>
          <a:noFill/>
          <a:ln/>
        </p:spPr>
        <p:txBody>
          <a:bodyPr wrap="square" lIns="635" tIns="635" rIns="635" bIns="635" rtlCol="0" anchor="ctr"/>
          <a:lstStyle/>
          <a:p>
            <a:pPr algn="ctr" indent="0" marL="0">
              <a:buNone/>
            </a:pPr>
            <a:r>
              <a:rPr lang="en-US" sz="1500" b="1" dirty="0">
                <a:solidFill>
                  <a:schemeClr val="tx1"/>
                </a:solidFill>
              </a:rPr>
              <a:t>tokens z</a:t>
            </a:r>
            <a:endParaRPr lang="en-US" sz="1500" dirty="0"/>
          </a:p>
          <a:p>
            <a:pPr algn="ctr" indent="0" marL="0">
              <a:buNone/>
            </a:pPr>
            <a:r>
              <a:rPr lang="en-US" sz="1500" b="1" dirty="0">
                <a:solidFill>
                  <a:schemeClr val="tx1"/>
                </a:solidFill>
              </a:rPr>
              <a:t>16×16×768</a:t>
            </a:r>
            <a:endParaRPr lang="en-US" sz="1500" dirty="0"/>
          </a:p>
        </p:txBody>
      </p:sp>
      <p:sp>
        <p:nvSpPr>
          <p:cNvPr id="12" name="arrow"/>
          <p:cNvSpPr/>
          <p:nvPr/>
        </p:nvSpPr>
        <p:spPr>
          <a:xfrm>
            <a:off x="7086600" y="2468880"/>
            <a:ext cx="457200" cy="914"/>
          </a:xfrm>
          <a:prstGeom prst="line">
            <a:avLst/>
          </a:prstGeom>
          <a:noFill/>
          <a:ln w="25400">
            <a:solidFill>
              <a:schemeClr val="accent3"/>
            </a:solidFill>
            <a:prstDash val="solid"/>
            <a:tailEnd type="triangle"/>
          </a:ln>
        </p:spPr>
      </p:sp>
      <p:sp>
        <p:nvSpPr>
          <p:cNvPr id="13" name="box"/>
          <p:cNvSpPr/>
          <p:nvPr/>
        </p:nvSpPr>
        <p:spPr>
          <a:xfrm>
            <a:off x="7589520" y="1965960"/>
            <a:ext cx="2011680" cy="1005840"/>
          </a:xfrm>
          <a:prstGeom prst="roundRect">
            <a:avLst>
              <a:gd name="adj" fmla="val 9091"/>
            </a:avLst>
          </a:prstGeom>
          <a:solidFill>
            <a:schemeClr val="accent1"/>
          </a:solidFill>
          <a:ln w="12700">
            <a:solidFill>
              <a:schemeClr val="accent1"/>
            </a:solidFill>
            <a:prstDash val="solid"/>
          </a:ln>
        </p:spPr>
      </p:sp>
      <p:sp>
        <p:nvSpPr>
          <p:cNvPr id="14" name="Text 12"/>
          <p:cNvSpPr txBox="1"/>
          <p:nvPr/>
        </p:nvSpPr>
        <p:spPr>
          <a:xfrm>
            <a:off x="7589520" y="1965960"/>
            <a:ext cx="2011680" cy="1005840"/>
          </a:xfrm>
          <a:prstGeom prst="rect">
            <a:avLst/>
          </a:prstGeom>
          <a:noFill/>
          <a:ln/>
        </p:spPr>
        <p:txBody>
          <a:bodyPr wrap="square" lIns="635" tIns="635" rIns="635" bIns="635" rtlCol="0" anchor="ctr"/>
          <a:lstStyle/>
          <a:p>
            <a:pPr algn="ctr" indent="0" marL="0">
              <a:buNone/>
            </a:pPr>
            <a:r>
              <a:rPr lang="en-US" sz="1500" b="1" dirty="0">
                <a:solidFill>
                  <a:schemeClr val="bg1"/>
                </a:solidFill>
              </a:rPr>
              <a:t>ViT-XL</a:t>
            </a:r>
            <a:endParaRPr lang="en-US" sz="1500" dirty="0"/>
          </a:p>
          <a:p>
            <a:pPr algn="ctr" indent="0" marL="0">
              <a:buNone/>
            </a:pPr>
            <a:r>
              <a:rPr lang="en-US" sz="1500" b="1" dirty="0">
                <a:solidFill>
                  <a:schemeClr val="bg1"/>
                </a:solidFill>
              </a:rPr>
              <a:t>decoder D</a:t>
            </a:r>
            <a:endParaRPr lang="en-US" sz="1500" dirty="0"/>
          </a:p>
        </p:txBody>
      </p:sp>
      <p:sp>
        <p:nvSpPr>
          <p:cNvPr id="15" name="arrow"/>
          <p:cNvSpPr/>
          <p:nvPr/>
        </p:nvSpPr>
        <p:spPr>
          <a:xfrm>
            <a:off x="9646920" y="2468880"/>
            <a:ext cx="457200" cy="914"/>
          </a:xfrm>
          <a:prstGeom prst="line">
            <a:avLst/>
          </a:prstGeom>
          <a:noFill/>
          <a:ln w="25400">
            <a:solidFill>
              <a:schemeClr val="accent3"/>
            </a:solidFill>
            <a:prstDash val="solid"/>
            <a:tailEnd type="triangle"/>
          </a:ln>
        </p:spPr>
      </p:sp>
      <p:sp>
        <p:nvSpPr>
          <p:cNvPr id="16" name="box"/>
          <p:cNvSpPr/>
          <p:nvPr/>
        </p:nvSpPr>
        <p:spPr>
          <a:xfrm>
            <a:off x="10149840" y="1965960"/>
            <a:ext cx="1463040" cy="1005840"/>
          </a:xfrm>
          <a:prstGeom prst="roundRect">
            <a:avLst>
              <a:gd name="adj" fmla="val 9091"/>
            </a:avLst>
          </a:prstGeom>
          <a:solidFill>
            <a:schemeClr val="bg2"/>
          </a:solidFill>
          <a:ln w="12700">
            <a:solidFill>
              <a:schemeClr val="bg2"/>
            </a:solidFill>
            <a:prstDash val="solid"/>
          </a:ln>
        </p:spPr>
      </p:sp>
      <p:sp>
        <p:nvSpPr>
          <p:cNvPr id="17" name="Text 15"/>
          <p:cNvSpPr txBox="1"/>
          <p:nvPr/>
        </p:nvSpPr>
        <p:spPr>
          <a:xfrm>
            <a:off x="10149840" y="1965960"/>
            <a:ext cx="1463040" cy="1005840"/>
          </a:xfrm>
          <a:prstGeom prst="rect">
            <a:avLst/>
          </a:prstGeom>
          <a:noFill/>
          <a:ln/>
        </p:spPr>
        <p:txBody>
          <a:bodyPr wrap="square" lIns="635" tIns="635" rIns="635" bIns="635" rtlCol="0" anchor="ctr"/>
          <a:lstStyle/>
          <a:p>
            <a:pPr algn="ctr" indent="0" marL="0">
              <a:buNone/>
            </a:pPr>
            <a:r>
              <a:rPr lang="en-US" sz="1800" b="1" dirty="0">
                <a:solidFill>
                  <a:schemeClr val="tx1"/>
                </a:solidFill>
              </a:rPr>
              <a:t>x̂</a:t>
            </a:r>
            <a:endParaRPr lang="en-US" sz="1800" dirty="0"/>
          </a:p>
        </p:txBody>
      </p:sp>
      <p:sp>
        <p:nvSpPr>
          <p:cNvPr id="18" name="box"/>
          <p:cNvSpPr/>
          <p:nvPr/>
        </p:nvSpPr>
        <p:spPr>
          <a:xfrm>
            <a:off x="4983480" y="3429000"/>
            <a:ext cx="2286000" cy="777240"/>
          </a:xfrm>
          <a:prstGeom prst="roundRect">
            <a:avLst>
              <a:gd name="adj" fmla="val 11765"/>
            </a:avLst>
          </a:prstGeom>
          <a:solidFill>
            <a:schemeClr val="bg1"/>
          </a:solidFill>
          <a:ln w="12700">
            <a:solidFill>
              <a:schemeClr val="accent1"/>
            </a:solidFill>
            <a:prstDash val="dash"/>
          </a:ln>
        </p:spPr>
      </p:sp>
      <p:sp>
        <p:nvSpPr>
          <p:cNvPr id="19" name="Text 17"/>
          <p:cNvSpPr txBox="1"/>
          <p:nvPr/>
        </p:nvSpPr>
        <p:spPr>
          <a:xfrm>
            <a:off x="4983480" y="3429000"/>
            <a:ext cx="2286000" cy="777240"/>
          </a:xfrm>
          <a:prstGeom prst="rect">
            <a:avLst/>
          </a:prstGeom>
          <a:noFill/>
          <a:ln/>
        </p:spPr>
        <p:txBody>
          <a:bodyPr wrap="square" lIns="635" tIns="635" rIns="635" bIns="635" rtlCol="0" anchor="ctr"/>
          <a:lstStyle/>
          <a:p>
            <a:pPr algn="ctr" indent="0" marL="0">
              <a:buNone/>
            </a:pPr>
            <a:r>
              <a:rPr lang="en-US" sz="1300" b="1" dirty="0">
                <a:solidFill>
                  <a:schemeClr val="tx1"/>
                </a:solidFill>
              </a:rPr>
              <a:t>DiT + wide DDT head</a:t>
            </a:r>
            <a:endParaRPr lang="en-US" sz="1300" dirty="0"/>
          </a:p>
          <a:p>
            <a:pPr algn="ctr" indent="0" marL="0">
              <a:buNone/>
            </a:pPr>
            <a:r>
              <a:rPr lang="en-US" sz="1300" b="1" dirty="0">
                <a:solidFill>
                  <a:schemeClr val="tx1"/>
                </a:solidFill>
              </a:rPr>
              <a:t>(generates z)</a:t>
            </a:r>
            <a:endParaRPr lang="en-US" sz="1300" dirty="0"/>
          </a:p>
        </p:txBody>
      </p:sp>
      <p:sp>
        <p:nvSpPr>
          <p:cNvPr id="20" name="arrow"/>
          <p:cNvSpPr/>
          <p:nvPr/>
        </p:nvSpPr>
        <p:spPr>
          <a:xfrm flipV="1">
            <a:off x="6126480" y="3017520"/>
            <a:ext cx="914" cy="365760"/>
          </a:xfrm>
          <a:prstGeom prst="line">
            <a:avLst/>
          </a:prstGeom>
          <a:noFill/>
          <a:ln w="25400">
            <a:solidFill>
              <a:schemeClr val="accent1"/>
            </a:solidFill>
            <a:prstDash val="solid"/>
            <a:tailEnd type="triangle"/>
          </a:ln>
        </p:spPr>
      </p:sp>
      <p:sp>
        <p:nvSpPr>
          <p:cNvPr id="21" name="dec"/>
          <p:cNvSpPr/>
          <p:nvPr/>
        </p:nvSpPr>
        <p:spPr>
          <a:xfrm>
            <a:off x="640080" y="4526280"/>
            <a:ext cx="5303520" cy="1600200"/>
          </a:xfrm>
          <a:prstGeom prst="roundRect">
            <a:avLst>
              <a:gd name="adj" fmla="val 6857"/>
            </a:avLst>
          </a:prstGeom>
          <a:solidFill>
            <a:schemeClr val="bg2"/>
          </a:solidFill>
          <a:ln w="12700">
            <a:solidFill>
              <a:schemeClr val="bg2"/>
            </a:solidFill>
            <a:prstDash val="solid"/>
          </a:ln>
        </p:spPr>
      </p:sp>
      <p:sp>
        <p:nvSpPr>
          <p:cNvPr id="22" name="Text 20"/>
          <p:cNvSpPr txBox="1"/>
          <p:nvPr/>
        </p:nvSpPr>
        <p:spPr>
          <a:xfrm>
            <a:off x="868680" y="4617720"/>
            <a:ext cx="4937760" cy="365760"/>
          </a:xfrm>
          <a:prstGeom prst="rect">
            <a:avLst/>
          </a:prstGeom>
          <a:noFill/>
          <a:ln/>
        </p:spPr>
        <p:txBody>
          <a:bodyPr wrap="square" lIns="635" tIns="635" rIns="635" bIns="635" rtlCol="0" anchor="t"/>
          <a:lstStyle/>
          <a:p>
            <a:pPr indent="0" marL="0">
              <a:buNone/>
            </a:pPr>
            <a:r>
              <a:rPr lang="en-US" sz="1600" b="1" dirty="0">
                <a:solidFill>
                  <a:schemeClr val="tx1"/>
                </a:solidFill>
              </a:rPr>
              <a:t>How the decoder is trained</a:t>
            </a:r>
            <a:endParaRPr lang="en-US" sz="1600" dirty="0"/>
          </a:p>
        </p:txBody>
      </p:sp>
      <p:sp>
        <p:nvSpPr>
          <p:cNvPr id="23" name="Text 21"/>
          <p:cNvSpPr txBox="1"/>
          <p:nvPr/>
        </p:nvSpPr>
        <p:spPr>
          <a:xfrm>
            <a:off x="868680" y="4983480"/>
            <a:ext cx="4937760" cy="1097280"/>
          </a:xfrm>
          <a:prstGeom prst="rect">
            <a:avLst/>
          </a:prstGeom>
          <a:noFill/>
          <a:ln/>
        </p:spPr>
        <p:txBody>
          <a:bodyPr wrap="square" rtlCol="0" anchor="t"/>
          <a:lstStyle/>
          <a:p>
            <a:pPr marL="342900" indent="-342900">
              <a:spcAft>
                <a:spcPts val="600"/>
              </a:spcAft>
              <a:buSzPct val="100000"/>
              <a:buChar char="•"/>
            </a:pPr>
            <a:r>
              <a:rPr lang="en-US" sz="1400" dirty="0">
                <a:solidFill>
                  <a:schemeClr val="tx1"/>
                </a:solidFill>
              </a:rPr>
              <a:t>Reconstruction + perceptual + adversarial losses</a:t>
            </a:r>
            <a:endParaRPr lang="en-US" sz="1400" dirty="0"/>
          </a:p>
          <a:p>
            <a:pPr marL="342900" indent="-342900">
              <a:spcAft>
                <a:spcPts val="600"/>
              </a:spcAft>
              <a:buSzPct val="100000"/>
              <a:buChar char="•"/>
            </a:pPr>
            <a:r>
              <a:rPr lang="en-US" sz="1400" dirty="0">
                <a:solidFill>
                  <a:schemeClr val="tx1"/>
                </a:solidFill>
              </a:rPr>
              <a:t>Gaussian noise on z during training, so it decodes imperfect generated latents</a:t>
            </a:r>
            <a:endParaRPr lang="en-US" sz="1400" dirty="0"/>
          </a:p>
        </p:txBody>
      </p:sp>
      <p:sp>
        <p:nvSpPr>
          <p:cNvPr id="24" name="fid"/>
          <p:cNvSpPr/>
          <p:nvPr/>
        </p:nvSpPr>
        <p:spPr>
          <a:xfrm>
            <a:off x="6263640" y="4526280"/>
            <a:ext cx="5349240" cy="1600200"/>
          </a:xfrm>
          <a:prstGeom prst="roundRect">
            <a:avLst>
              <a:gd name="adj" fmla="val 6857"/>
            </a:avLst>
          </a:prstGeom>
          <a:solidFill>
            <a:schemeClr val="accent6"/>
          </a:solidFill>
          <a:ln w="12700">
            <a:solidFill>
              <a:schemeClr val="accent6"/>
            </a:solidFill>
            <a:prstDash val="solid"/>
          </a:ln>
        </p:spPr>
      </p:sp>
      <p:sp>
        <p:nvSpPr>
          <p:cNvPr id="25" name="Text 23"/>
          <p:cNvSpPr txBox="1"/>
          <p:nvPr/>
        </p:nvSpPr>
        <p:spPr>
          <a:xfrm>
            <a:off x="6446520" y="4617720"/>
            <a:ext cx="1554480" cy="731520"/>
          </a:xfrm>
          <a:prstGeom prst="rect">
            <a:avLst/>
          </a:prstGeom>
          <a:noFill/>
          <a:ln/>
        </p:spPr>
        <p:txBody>
          <a:bodyPr wrap="square" lIns="635" tIns="635" rIns="635" bIns="635"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1.51</a:t>
            </a:r>
            <a:endParaRPr lang="en-US" sz="4000" dirty="0"/>
          </a:p>
        </p:txBody>
      </p:sp>
      <p:sp>
        <p:nvSpPr>
          <p:cNvPr id="26" name="Text 24"/>
          <p:cNvSpPr txBox="1"/>
          <p:nvPr/>
        </p:nvSpPr>
        <p:spPr>
          <a:xfrm>
            <a:off x="6446520" y="5349240"/>
            <a:ext cx="1920240" cy="640080"/>
          </a:xfrm>
          <a:prstGeom prst="rect">
            <a:avLst/>
          </a:prstGeom>
          <a:noFill/>
          <a:ln/>
        </p:spPr>
        <p:txBody>
          <a:bodyPr wrap="square" lIns="635" tIns="635" rIns="635" bIns="635" rtlCol="0" anchor="t"/>
          <a:lstStyle/>
          <a:p>
            <a:pPr indent="0" marL="0">
              <a:buNone/>
            </a:pPr>
            <a:r>
              <a:rPr lang="en-US" sz="1200" dirty="0">
                <a:solidFill>
                  <a:schemeClr val="tx2"/>
                </a:solidFill>
              </a:rPr>
              <a:t>ImageNet 256 FID,</a:t>
            </a:r>
            <a:endParaRPr lang="en-US" sz="1200" dirty="0"/>
          </a:p>
          <a:p>
            <a:pPr indent="0" marL="0">
              <a:buNone/>
            </a:pPr>
            <a:r>
              <a:rPr lang="en-US" sz="1200" dirty="0">
                <a:solidFill>
                  <a:schemeClr val="tx2"/>
                </a:solidFill>
              </a:rPr>
              <a:t>no guidance</a:t>
            </a:r>
            <a:endParaRPr lang="en-US" sz="1200" dirty="0"/>
          </a:p>
        </p:txBody>
      </p:sp>
      <p:sp>
        <p:nvSpPr>
          <p:cNvPr id="27" name="Text 25"/>
          <p:cNvSpPr txBox="1"/>
          <p:nvPr/>
        </p:nvSpPr>
        <p:spPr>
          <a:xfrm>
            <a:off x="8503920" y="4617720"/>
            <a:ext cx="1554480" cy="731520"/>
          </a:xfrm>
          <a:prstGeom prst="rect">
            <a:avLst/>
          </a:prstGeom>
          <a:noFill/>
          <a:ln/>
        </p:spPr>
        <p:txBody>
          <a:bodyPr wrap="square" lIns="635" tIns="635" rIns="635" bIns="635"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1.13</a:t>
            </a:r>
            <a:endParaRPr lang="en-US" sz="4000" dirty="0"/>
          </a:p>
        </p:txBody>
      </p:sp>
      <p:sp>
        <p:nvSpPr>
          <p:cNvPr id="28" name="Text 26"/>
          <p:cNvSpPr txBox="1"/>
          <p:nvPr/>
        </p:nvSpPr>
        <p:spPr>
          <a:xfrm>
            <a:off x="8503920" y="5349240"/>
            <a:ext cx="1920240" cy="640080"/>
          </a:xfrm>
          <a:prstGeom prst="rect">
            <a:avLst/>
          </a:prstGeom>
          <a:noFill/>
          <a:ln/>
        </p:spPr>
        <p:txBody>
          <a:bodyPr wrap="square" lIns="635" tIns="635" rIns="635" bIns="635" rtlCol="0" anchor="t"/>
          <a:lstStyle/>
          <a:p>
            <a:pPr indent="0" marL="0">
              <a:buNone/>
            </a:pPr>
            <a:r>
              <a:rPr lang="en-US" sz="1200" dirty="0">
                <a:solidFill>
                  <a:schemeClr val="tx2"/>
                </a:solidFill>
              </a:rPr>
              <a:t>256 and 512 FID,</a:t>
            </a:r>
            <a:endParaRPr lang="en-US" sz="1200" dirty="0"/>
          </a:p>
          <a:p>
            <a:pPr indent="0" marL="0">
              <a:buNone/>
            </a:pPr>
            <a:r>
              <a:rPr lang="en-US" sz="1200" dirty="0">
                <a:solidFill>
                  <a:schemeClr val="tx2"/>
                </a:solidFill>
              </a:rPr>
              <a:t>with guidance</a:t>
            </a:r>
            <a:endParaRPr lang="en-US" sz="1200" dirty="0"/>
          </a:p>
        </p:txBody>
      </p:sp>
      <p:sp>
        <p:nvSpPr>
          <p:cNvPr id="29" name="Text 27"/>
          <p:cNvSpPr txBox="1"/>
          <p:nvPr/>
        </p:nvSpPr>
        <p:spPr>
          <a:xfrm>
            <a:off x="10058400" y="4754880"/>
            <a:ext cx="1463040" cy="1188720"/>
          </a:xfrm>
          <a:prstGeom prst="rect">
            <a:avLst/>
          </a:prstGeom>
          <a:noFill/>
          <a:ln/>
        </p:spPr>
        <p:txBody>
          <a:bodyPr wrap="square" lIns="635" tIns="635" rIns="635" bIns="635" rtlCol="0" anchor="ctr"/>
          <a:lstStyle/>
          <a:p>
            <a:pPr indent="0" marL="0">
              <a:buNone/>
            </a:pPr>
            <a:r>
              <a:rPr lang="en-US" sz="1300" i="1" dirty="0">
                <a:solidFill>
                  <a:schemeClr val="tx2"/>
                </a:solidFill>
              </a:rPr>
              <a:t>Semantic latents are diffusable</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731520" y="2743200"/>
            <a:ext cx="10698480" cy="1280160"/>
          </a:xfrm>
          <a:prstGeom prst="rect">
            <a:avLst/>
          </a:prstGeom>
          <a:noFill/>
          <a:ln/>
        </p:spPr>
        <p:txBody>
          <a:bodyPr wrap="square"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Synthesize and remove anomalies in RAE space</a:t>
            </a:r>
            <a:endParaRPr lang="en-US" sz="4000" dirty="0"/>
          </a:p>
        </p:txBody>
      </p:sp>
      <p:sp>
        <p:nvSpPr>
          <p:cNvPr id="3" name="Text 0"/>
          <p:cNvSpPr/>
          <p:nvPr>
            <p:ph idx="100" type="body" hasCustomPrompt="1"/>
          </p:nvPr>
        </p:nvSpPr>
        <p:spPr>
          <a:xfrm>
            <a:off x="731520" y="2011680"/>
            <a:ext cx="10698480" cy="731520"/>
          </a:xfrm>
          <a:prstGeom prst="rect">
            <a:avLst/>
          </a:prstGeom>
          <a:noFill/>
          <a:ln/>
        </p:spPr>
        <p:txBody>
          <a:bodyPr wrap="square" rtlCol="0"/>
          <a:lstStyle/>
          <a:p>
            <a:pPr indent="0" marL="0">
              <a:buNone/>
            </a:pPr>
            <a:r>
              <a:rPr lang="en-US" sz="2000" b="1" dirty="0">
                <a:solidFill>
                  <a:schemeClr val="accent1"/>
                </a:solidFill>
              </a:rPr>
              <a:t>Part 2</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68580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Synthesize, then learn to remove</a:t>
            </a:r>
            <a:endParaRPr lang="en-US" sz="3600" dirty="0"/>
          </a:p>
        </p:txBody>
      </p:sp>
      <p:sp>
        <p:nvSpPr>
          <p:cNvPr id="3" name="Text 1"/>
          <p:cNvSpPr/>
          <p:nvPr>
            <p:ph idx="102" type="body" hasCustomPrompt="1"/>
          </p:nvPr>
        </p:nvSpPr>
        <p:spPr>
          <a:xfrm>
            <a:off x="548640" y="1005840"/>
            <a:ext cx="11064240" cy="457200"/>
          </a:xfrm>
          <a:prstGeom prst="rect">
            <a:avLst/>
          </a:prstGeom>
          <a:noFill/>
          <a:ln/>
        </p:spPr>
        <p:txBody>
          <a:bodyPr wrap="square" rtlCol="0" anchor="t"/>
          <a:lstStyle/>
          <a:p>
            <a:pPr indent="0" marL="0">
              <a:buNone/>
            </a:pPr>
            <a:r>
              <a:rPr lang="en-US" sz="1800" i="1" dirty="0">
                <a:solidFill>
                  <a:schemeClr val="tx2"/>
                </a:solidFill>
              </a:rPr>
              <a:t>Prior work does this in pixels or in a latent space it trains itself</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881360" cy="914400"/>
        </p:xfrm>
        <a:graphic>
          <a:graphicData uri="http://schemas.openxmlformats.org/drawingml/2006/table">
            <a:tbl>
              <a:tblPr/>
              <a:tblGrid>
                <a:gridCol w="2651760"/>
                <a:gridCol w="3931920"/>
                <a:gridCol w="4297680"/>
              </a:tblGrid>
              <a:tr h="566928">
                <a:tc>
                  <a:txBody>
                    <a:bodyPr/>
                    <a:lstStyle/>
                    <a:p>
                      <a:pPr indent="0" marL="0">
                        <a:buNone/>
                      </a:pPr>
                      <a:r>
                        <a:rPr lang="en-US" sz="1500" b="1" dirty="0">
                          <a:solidFill>
                            <a:schemeClr val="bg1"/>
                          </a:solidFill>
                        </a:rPr>
                        <a:t>Method</a:t>
                      </a:r>
                      <a:endParaRPr lang="en-US" sz="1500" dirty="0"/>
                    </a:p>
                  </a:txBody>
                  <a:tcPr marL="109728" marR="109728" marT="54864" marB="54864"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Where anomalies are made</a:t>
                      </a:r>
                      <a:endParaRPr lang="en-US" sz="1500" dirty="0"/>
                    </a:p>
                  </a:txBody>
                  <a:tcPr marL="109728" marR="109728" marT="54864" marB="54864"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What removes / scores them</a:t>
                      </a:r>
                      <a:endParaRPr lang="en-US" sz="1500" dirty="0"/>
                    </a:p>
                  </a:txBody>
                  <a:tcPr marL="109728" marR="109728" marT="54864" marB="54864"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tx1"/>
                    </a:solidFill>
                  </a:tcPr>
                </a:tc>
              </a:tr>
              <a:tr h="566928">
                <a:tc>
                  <a:txBody>
                    <a:bodyPr/>
                    <a:lstStyle/>
                    <a:p>
                      <a:pPr indent="0" marL="0">
                        <a:buNone/>
                      </a:pPr>
                      <a:r>
                        <a:rPr lang="en-US" sz="1500" dirty="0">
                          <a:solidFill>
                            <a:schemeClr val="tx1"/>
                          </a:solidFill>
                        </a:rPr>
                        <a:t>DRAEM (ICCV 2021)</a:t>
                      </a:r>
                      <a:endParaRPr lang="en-US" sz="1500" dirty="0"/>
                    </a:p>
                  </a:txBody>
                  <a:tcPr marL="109728" marR="109728" marT="54864" marB="54864"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Pixels: DTD texture in a Perlin mask</a:t>
                      </a:r>
                      <a:endParaRPr lang="en-US" sz="1500" dirty="0"/>
                    </a:p>
                  </a:txBody>
                  <a:tcPr marL="109728" marR="109728" marT="54864" marB="54864"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Pixel AE → clean image; discriminator predicts mask</a:t>
                      </a:r>
                      <a:endParaRPr lang="en-US" sz="1500" dirty="0"/>
                    </a:p>
                  </a:txBody>
                  <a:tcPr marL="109728" marR="109728" marT="54864" marB="54864"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r>
              <a:tr h="566928">
                <a:tc>
                  <a:txBody>
                    <a:bodyPr/>
                    <a:lstStyle/>
                    <a:p>
                      <a:pPr indent="0" marL="0">
                        <a:buNone/>
                      </a:pPr>
                      <a:r>
                        <a:rPr lang="en-US" sz="1500" dirty="0">
                          <a:solidFill>
                            <a:schemeClr val="tx1"/>
                          </a:solidFill>
                        </a:rPr>
                        <a:t>DSR (ECCV 2022)</a:t>
                      </a:r>
                      <a:endParaRPr lang="en-US" sz="1500" dirty="0"/>
                    </a:p>
                  </a:txBody>
                  <a:tcPr marL="109728" marR="109728" marT="54864" marB="54864"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Self-trained VQ latent codes</a:t>
                      </a:r>
                      <a:endParaRPr lang="en-US" sz="1500" dirty="0"/>
                    </a:p>
                  </a:txBody>
                  <a:tcPr marL="109728" marR="109728" marT="54864" marB="54864"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Object-specific decoder + segmentation</a:t>
                      </a:r>
                      <a:endParaRPr lang="en-US" sz="1500" dirty="0"/>
                    </a:p>
                  </a:txBody>
                  <a:tcPr marL="109728" marR="109728" marT="54864" marB="54864"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2"/>
                    </a:solidFill>
                  </a:tcPr>
                </a:tc>
              </a:tr>
              <a:tr h="566928">
                <a:tc>
                  <a:txBody>
                    <a:bodyPr/>
                    <a:lstStyle/>
                    <a:p>
                      <a:pPr indent="0" marL="0">
                        <a:buNone/>
                      </a:pPr>
                      <a:r>
                        <a:rPr lang="en-US" sz="1500" dirty="0">
                          <a:solidFill>
                            <a:schemeClr val="tx1"/>
                          </a:solidFill>
                        </a:rPr>
                        <a:t>RealNet (CVPR 2024)</a:t>
                      </a:r>
                      <a:endParaRPr lang="en-US" sz="1500" dirty="0"/>
                    </a:p>
                  </a:txBody>
                  <a:tcPr marL="109728" marR="109728" marT="54864" marB="54864"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Pixels, sampled from a diffusion model of normals</a:t>
                      </a:r>
                      <a:endParaRPr lang="en-US" sz="1500" dirty="0"/>
                    </a:p>
                  </a:txBody>
                  <a:tcPr marL="109728" marR="109728" marT="54864" marB="54864"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Feature reconstruction + residual selection</a:t>
                      </a:r>
                      <a:endParaRPr lang="en-US" sz="1500" dirty="0"/>
                    </a:p>
                  </a:txBody>
                  <a:tcPr marL="109728" marR="109728" marT="54864" marB="54864"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r>
              <a:tr h="566928">
                <a:tc>
                  <a:txBody>
                    <a:bodyPr/>
                    <a:lstStyle/>
                    <a:p>
                      <a:pPr indent="0" marL="0">
                        <a:buNone/>
                      </a:pPr>
                      <a:r>
                        <a:rPr lang="en-US" sz="1500" dirty="0">
                          <a:solidFill>
                            <a:schemeClr val="tx1"/>
                          </a:solidFill>
                        </a:rPr>
                        <a:t>DiffusionAD (2023)</a:t>
                      </a:r>
                      <a:endParaRPr lang="en-US" sz="1500" dirty="0"/>
                    </a:p>
                  </a:txBody>
                  <a:tcPr marL="109728" marR="109728" marT="54864" marB="54864"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Pixels, DRAEM-style</a:t>
                      </a:r>
                      <a:endParaRPr lang="en-US" sz="1500" dirty="0"/>
                    </a:p>
                  </a:txBody>
                  <a:tcPr marL="109728" marR="109728" marT="54864" marB="54864"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Pixel diffusion denoising to normal</a:t>
                      </a:r>
                      <a:endParaRPr lang="en-US" sz="1500" dirty="0"/>
                    </a:p>
                  </a:txBody>
                  <a:tcPr marL="109728" marR="109728" marT="54864" marB="54864"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2"/>
                    </a:solidFill>
                  </a:tcPr>
                </a:tc>
              </a:tr>
              <a:tr h="566928">
                <a:tc>
                  <a:txBody>
                    <a:bodyPr/>
                    <a:lstStyle/>
                    <a:p>
                      <a:pPr indent="0" marL="0">
                        <a:buNone/>
                      </a:pPr>
                      <a:r>
                        <a:rPr lang="en-US" sz="1500" b="1" dirty="0">
                          <a:solidFill>
                            <a:schemeClr val="tx1"/>
                          </a:solidFill>
                        </a:rPr>
                        <a:t>This work</a:t>
                      </a:r>
                      <a:endParaRPr lang="en-US" sz="1500" dirty="0"/>
                    </a:p>
                  </a:txBody>
                  <a:tcPr marL="109728" marR="109728" marT="54864" marB="54864"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accent6"/>
                    </a:solidFill>
                  </a:tcPr>
                </a:tc>
                <a:tc>
                  <a:txBody>
                    <a:bodyPr/>
                    <a:lstStyle/>
                    <a:p>
                      <a:pPr indent="0" marL="0">
                        <a:buNone/>
                      </a:pPr>
                      <a:r>
                        <a:rPr lang="en-US" sz="1500" b="1" dirty="0">
                          <a:solidFill>
                            <a:schemeClr val="tx1"/>
                          </a:solidFill>
                        </a:rPr>
                        <a:t>Frozen foundation latent (RAE tokens)</a:t>
                      </a:r>
                      <a:endParaRPr lang="en-US" sz="1500" dirty="0"/>
                    </a:p>
                  </a:txBody>
                  <a:tcPr marL="109728" marR="109728" marT="54864" marB="54864"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accent6"/>
                    </a:solidFill>
                  </a:tcPr>
                </a:tc>
                <a:tc>
                  <a:txBody>
                    <a:bodyPr/>
                    <a:lstStyle/>
                    <a:p>
                      <a:pPr indent="0" marL="0">
                        <a:buNone/>
                      </a:pPr>
                      <a:r>
                        <a:rPr lang="en-US" sz="1500" b="1" dirty="0">
                          <a:solidFill>
                            <a:schemeClr val="tx1"/>
                          </a:solidFill>
                        </a:rPr>
                        <a:t>Token restorer + learned discriminator</a:t>
                      </a:r>
                      <a:endParaRPr lang="en-US" sz="1500" dirty="0"/>
                    </a:p>
                  </a:txBody>
                  <a:tcPr marL="109728" marR="109728" marT="54864" marB="54864"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accent6"/>
                    </a:solidFill>
                  </a:tcPr>
                </a:tc>
              </a:tr>
            </a:tbl>
          </a:graphicData>
        </a:graphic>
      </p:graphicFrame>
      <p:sp>
        <p:nvSpPr>
          <p:cNvPr id="5" name="Text 2"/>
          <p:cNvSpPr txBox="1"/>
          <p:nvPr/>
        </p:nvSpPr>
        <p:spPr>
          <a:xfrm>
            <a:off x="640080" y="5486400"/>
            <a:ext cx="10881360" cy="457200"/>
          </a:xfrm>
          <a:prstGeom prst="rect">
            <a:avLst/>
          </a:prstGeom>
          <a:noFill/>
          <a:ln/>
        </p:spPr>
        <p:txBody>
          <a:bodyPr wrap="square" lIns="635" tIns="635" rIns="635" bIns="635" rtlCol="0" anchor="t"/>
          <a:lstStyle/>
          <a:p>
            <a:pPr indent="0" marL="0">
              <a:buNone/>
            </a:pPr>
            <a:r>
              <a:rPr lang="en-US" sz="1500" i="1" dirty="0">
                <a:solidFill>
                  <a:schemeClr val="tx2"/>
                </a:solidFill>
              </a:rPr>
              <a:t>Common recipe: anomalies are created without real defects, so training stays unsupervised.</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68580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Proposed pipeline (v1)</a:t>
            </a:r>
            <a:endParaRPr lang="en-US" sz="3600" dirty="0"/>
          </a:p>
        </p:txBody>
      </p:sp>
      <p:sp>
        <p:nvSpPr>
          <p:cNvPr id="3" name="Text 1"/>
          <p:cNvSpPr/>
          <p:nvPr>
            <p:ph idx="102" type="body" hasCustomPrompt="1"/>
          </p:nvPr>
        </p:nvSpPr>
        <p:spPr>
          <a:xfrm>
            <a:off x="548640" y="1005840"/>
            <a:ext cx="11064240" cy="457200"/>
          </a:xfrm>
          <a:prstGeom prst="rect">
            <a:avLst/>
          </a:prstGeom>
          <a:noFill/>
          <a:ln/>
        </p:spPr>
        <p:txBody>
          <a:bodyPr wrap="square" rtlCol="0" anchor="t"/>
          <a:lstStyle/>
          <a:p>
            <a:pPr indent="0" marL="0">
              <a:buNone/>
            </a:pPr>
            <a:r>
              <a:rPr lang="en-US" sz="1800" i="1" dirty="0">
                <a:solidFill>
                  <a:schemeClr val="tx2"/>
                </a:solidFill>
              </a:rPr>
              <a:t>Everything happens on the 16×16 token grid; the pixel decoder is not used for scoring</a:t>
            </a:r>
            <a:endParaRPr lang="en-US" sz="1800" dirty="0"/>
          </a:p>
        </p:txBody>
      </p:sp>
      <p:sp>
        <p:nvSpPr>
          <p:cNvPr id="4" name="box"/>
          <p:cNvSpPr/>
          <p:nvPr/>
        </p:nvSpPr>
        <p:spPr>
          <a:xfrm>
            <a:off x="548640" y="2011680"/>
            <a:ext cx="1280160" cy="914400"/>
          </a:xfrm>
          <a:prstGeom prst="roundRect">
            <a:avLst>
              <a:gd name="adj" fmla="val 10000"/>
            </a:avLst>
          </a:prstGeom>
          <a:solidFill>
            <a:schemeClr val="bg2"/>
          </a:solidFill>
          <a:ln w="12700">
            <a:solidFill>
              <a:schemeClr val="bg2"/>
            </a:solidFill>
            <a:prstDash val="solid"/>
          </a:ln>
        </p:spPr>
      </p:sp>
      <p:sp>
        <p:nvSpPr>
          <p:cNvPr id="5" name="Text 3"/>
          <p:cNvSpPr txBox="1"/>
          <p:nvPr/>
        </p:nvSpPr>
        <p:spPr>
          <a:xfrm>
            <a:off x="548640" y="2011680"/>
            <a:ext cx="1280160" cy="914400"/>
          </a:xfrm>
          <a:prstGeom prst="rect">
            <a:avLst/>
          </a:prstGeom>
          <a:noFill/>
          <a:ln/>
        </p:spPr>
        <p:txBody>
          <a:bodyPr wrap="square" lIns="635" tIns="635" rIns="635" bIns="635" rtlCol="0" anchor="ctr"/>
          <a:lstStyle/>
          <a:p>
            <a:pPr algn="ctr" indent="0" marL="0">
              <a:buNone/>
            </a:pPr>
            <a:r>
              <a:rPr lang="en-US" sz="1400" b="1" dirty="0">
                <a:solidFill>
                  <a:schemeClr val="tx1"/>
                </a:solidFill>
              </a:rPr>
              <a:t>image x</a:t>
            </a:r>
            <a:endParaRPr lang="en-US" sz="1400" dirty="0"/>
          </a:p>
        </p:txBody>
      </p:sp>
      <p:sp>
        <p:nvSpPr>
          <p:cNvPr id="6" name="arrow"/>
          <p:cNvSpPr/>
          <p:nvPr/>
        </p:nvSpPr>
        <p:spPr>
          <a:xfrm>
            <a:off x="1874520" y="2468880"/>
            <a:ext cx="365760" cy="914"/>
          </a:xfrm>
          <a:prstGeom prst="line">
            <a:avLst/>
          </a:prstGeom>
          <a:noFill/>
          <a:ln w="25400">
            <a:solidFill>
              <a:schemeClr val="accent3"/>
            </a:solidFill>
            <a:prstDash val="solid"/>
            <a:tailEnd type="triangle"/>
          </a:ln>
        </p:spPr>
      </p:sp>
      <p:sp>
        <p:nvSpPr>
          <p:cNvPr id="7" name="box"/>
          <p:cNvSpPr/>
          <p:nvPr/>
        </p:nvSpPr>
        <p:spPr>
          <a:xfrm>
            <a:off x="2286000" y="2011680"/>
            <a:ext cx="1554480" cy="914400"/>
          </a:xfrm>
          <a:prstGeom prst="roundRect">
            <a:avLst>
              <a:gd name="adj" fmla="val 10000"/>
            </a:avLst>
          </a:prstGeom>
          <a:solidFill>
            <a:schemeClr val="accent3"/>
          </a:solidFill>
          <a:ln w="12700">
            <a:solidFill>
              <a:schemeClr val="accent3"/>
            </a:solidFill>
            <a:prstDash val="solid"/>
          </a:ln>
        </p:spPr>
      </p:sp>
      <p:sp>
        <p:nvSpPr>
          <p:cNvPr id="8" name="Text 6"/>
          <p:cNvSpPr txBox="1"/>
          <p:nvPr/>
        </p:nvSpPr>
        <p:spPr>
          <a:xfrm>
            <a:off x="2286000" y="2011680"/>
            <a:ext cx="1554480" cy="914400"/>
          </a:xfrm>
          <a:prstGeom prst="rect">
            <a:avLst/>
          </a:prstGeom>
          <a:noFill/>
          <a:ln/>
        </p:spPr>
        <p:txBody>
          <a:bodyPr wrap="square" lIns="635" tIns="635" rIns="635" bIns="635" rtlCol="0" anchor="ctr"/>
          <a:lstStyle/>
          <a:p>
            <a:pPr algn="ctr" indent="0" marL="0">
              <a:buNone/>
            </a:pPr>
            <a:r>
              <a:rPr lang="en-US" sz="1400" b="1" dirty="0">
                <a:solidFill>
                  <a:schemeClr val="bg1"/>
                </a:solidFill>
              </a:rPr>
              <a:t>frozen RAE</a:t>
            </a:r>
            <a:endParaRPr lang="en-US" sz="1400" dirty="0"/>
          </a:p>
          <a:p>
            <a:pPr algn="ctr" indent="0" marL="0">
              <a:buNone/>
            </a:pPr>
            <a:r>
              <a:rPr lang="en-US" sz="1400" b="1" dirty="0">
                <a:solidFill>
                  <a:schemeClr val="bg1"/>
                </a:solidFill>
              </a:rPr>
              <a:t>encoder</a:t>
            </a:r>
            <a:endParaRPr lang="en-US" sz="1400" dirty="0"/>
          </a:p>
        </p:txBody>
      </p:sp>
      <p:sp>
        <p:nvSpPr>
          <p:cNvPr id="9" name="arrow"/>
          <p:cNvSpPr/>
          <p:nvPr/>
        </p:nvSpPr>
        <p:spPr>
          <a:xfrm>
            <a:off x="3886200" y="2468880"/>
            <a:ext cx="365760" cy="914"/>
          </a:xfrm>
          <a:prstGeom prst="line">
            <a:avLst/>
          </a:prstGeom>
          <a:noFill/>
          <a:ln w="25400">
            <a:solidFill>
              <a:schemeClr val="accent3"/>
            </a:solidFill>
            <a:prstDash val="solid"/>
            <a:tailEnd type="triangle"/>
          </a:ln>
        </p:spPr>
      </p:sp>
      <p:sp>
        <p:nvSpPr>
          <p:cNvPr id="10" name="box"/>
          <p:cNvSpPr/>
          <p:nvPr/>
        </p:nvSpPr>
        <p:spPr>
          <a:xfrm>
            <a:off x="4297680" y="2011680"/>
            <a:ext cx="1188720" cy="914400"/>
          </a:xfrm>
          <a:prstGeom prst="roundRect">
            <a:avLst>
              <a:gd name="adj" fmla="val 10000"/>
            </a:avLst>
          </a:prstGeom>
          <a:solidFill>
            <a:schemeClr val="accent6"/>
          </a:solidFill>
          <a:ln w="12700">
            <a:solidFill>
              <a:schemeClr val="accent1"/>
            </a:solidFill>
            <a:prstDash val="solid"/>
          </a:ln>
        </p:spPr>
      </p:sp>
      <p:sp>
        <p:nvSpPr>
          <p:cNvPr id="11" name="Text 9"/>
          <p:cNvSpPr txBox="1"/>
          <p:nvPr/>
        </p:nvSpPr>
        <p:spPr>
          <a:xfrm>
            <a:off x="4297680" y="2011680"/>
            <a:ext cx="1188720" cy="914400"/>
          </a:xfrm>
          <a:prstGeom prst="rect">
            <a:avLst/>
          </a:prstGeom>
          <a:noFill/>
          <a:ln/>
        </p:spPr>
        <p:txBody>
          <a:bodyPr wrap="square" lIns="635" tIns="635" rIns="635" bIns="635" rtlCol="0" anchor="ctr"/>
          <a:lstStyle/>
          <a:p>
            <a:pPr algn="ctr" indent="0" marL="0">
              <a:buNone/>
            </a:pPr>
            <a:r>
              <a:rPr lang="en-US" sz="1800" b="1" dirty="0">
                <a:solidFill>
                  <a:schemeClr val="tx1"/>
                </a:solidFill>
              </a:rPr>
              <a:t>z</a:t>
            </a:r>
            <a:endParaRPr lang="en-US" sz="1800" dirty="0"/>
          </a:p>
        </p:txBody>
      </p:sp>
      <p:sp>
        <p:nvSpPr>
          <p:cNvPr id="12" name="arrow"/>
          <p:cNvSpPr/>
          <p:nvPr/>
        </p:nvSpPr>
        <p:spPr>
          <a:xfrm>
            <a:off x="5532120" y="2468880"/>
            <a:ext cx="365760" cy="914"/>
          </a:xfrm>
          <a:prstGeom prst="line">
            <a:avLst/>
          </a:prstGeom>
          <a:noFill/>
          <a:ln w="25400">
            <a:solidFill>
              <a:schemeClr val="accent4"/>
            </a:solidFill>
            <a:prstDash val="solid"/>
            <a:tailEnd type="triangle"/>
          </a:ln>
        </p:spPr>
      </p:sp>
      <p:sp>
        <p:nvSpPr>
          <p:cNvPr id="13" name="box"/>
          <p:cNvSpPr/>
          <p:nvPr/>
        </p:nvSpPr>
        <p:spPr>
          <a:xfrm>
            <a:off x="5943600" y="2011680"/>
            <a:ext cx="1554480" cy="914400"/>
          </a:xfrm>
          <a:prstGeom prst="roundRect">
            <a:avLst>
              <a:gd name="adj" fmla="val 10000"/>
            </a:avLst>
          </a:prstGeom>
          <a:solidFill>
            <a:schemeClr val="accent4"/>
          </a:solidFill>
          <a:ln w="12700">
            <a:solidFill>
              <a:schemeClr val="accent4"/>
            </a:solidFill>
            <a:prstDash val="solid"/>
          </a:ln>
        </p:spPr>
      </p:sp>
      <p:sp>
        <p:nvSpPr>
          <p:cNvPr id="14" name="Text 12"/>
          <p:cNvSpPr txBox="1"/>
          <p:nvPr/>
        </p:nvSpPr>
        <p:spPr>
          <a:xfrm>
            <a:off x="5943600" y="2011680"/>
            <a:ext cx="1554480" cy="914400"/>
          </a:xfrm>
          <a:prstGeom prst="rect">
            <a:avLst/>
          </a:prstGeom>
          <a:noFill/>
          <a:ln/>
        </p:spPr>
        <p:txBody>
          <a:bodyPr wrap="square" lIns="635" tIns="635" rIns="635" bIns="635" rtlCol="0" anchor="ctr"/>
          <a:lstStyle/>
          <a:p>
            <a:pPr algn="ctr" indent="0" marL="0">
              <a:buNone/>
            </a:pPr>
            <a:r>
              <a:rPr lang="en-US" sz="1400" b="1" dirty="0">
                <a:solidFill>
                  <a:schemeClr val="bg1"/>
                </a:solidFill>
              </a:rPr>
              <a:t>synthesize</a:t>
            </a:r>
            <a:endParaRPr lang="en-US" sz="1400" dirty="0"/>
          </a:p>
          <a:p>
            <a:pPr algn="ctr" indent="0" marL="0">
              <a:buNone/>
            </a:pPr>
            <a:r>
              <a:rPr lang="en-US" sz="1400" b="1" dirty="0">
                <a:solidFill>
                  <a:schemeClr val="bg1"/>
                </a:solidFill>
              </a:rPr>
              <a:t>anomaly → z_a</a:t>
            </a:r>
            <a:endParaRPr lang="en-US" sz="1400" dirty="0"/>
          </a:p>
        </p:txBody>
      </p:sp>
      <p:sp>
        <p:nvSpPr>
          <p:cNvPr id="15" name="arrow"/>
          <p:cNvSpPr/>
          <p:nvPr/>
        </p:nvSpPr>
        <p:spPr>
          <a:xfrm>
            <a:off x="7543800" y="2468880"/>
            <a:ext cx="365760" cy="914"/>
          </a:xfrm>
          <a:prstGeom prst="line">
            <a:avLst/>
          </a:prstGeom>
          <a:noFill/>
          <a:ln w="25400">
            <a:solidFill>
              <a:schemeClr val="accent3"/>
            </a:solidFill>
            <a:prstDash val="solid"/>
            <a:tailEnd type="triangle"/>
          </a:ln>
        </p:spPr>
      </p:sp>
      <p:sp>
        <p:nvSpPr>
          <p:cNvPr id="16" name="box"/>
          <p:cNvSpPr/>
          <p:nvPr/>
        </p:nvSpPr>
        <p:spPr>
          <a:xfrm>
            <a:off x="7955280" y="2011680"/>
            <a:ext cx="1554480" cy="914400"/>
          </a:xfrm>
          <a:prstGeom prst="roundRect">
            <a:avLst>
              <a:gd name="adj" fmla="val 10000"/>
            </a:avLst>
          </a:prstGeom>
          <a:solidFill>
            <a:schemeClr val="accent1"/>
          </a:solidFill>
          <a:ln w="12700">
            <a:solidFill>
              <a:schemeClr val="accent1"/>
            </a:solidFill>
            <a:prstDash val="solid"/>
          </a:ln>
        </p:spPr>
      </p:sp>
      <p:sp>
        <p:nvSpPr>
          <p:cNvPr id="17" name="Text 15"/>
          <p:cNvSpPr txBox="1"/>
          <p:nvPr/>
        </p:nvSpPr>
        <p:spPr>
          <a:xfrm>
            <a:off x="7955280" y="2011680"/>
            <a:ext cx="1554480" cy="914400"/>
          </a:xfrm>
          <a:prstGeom prst="rect">
            <a:avLst/>
          </a:prstGeom>
          <a:noFill/>
          <a:ln/>
        </p:spPr>
        <p:txBody>
          <a:bodyPr wrap="square" lIns="635" tIns="635" rIns="635" bIns="635" rtlCol="0" anchor="ctr"/>
          <a:lstStyle/>
          <a:p>
            <a:pPr algn="ctr" indent="0" marL="0">
              <a:buNone/>
            </a:pPr>
            <a:r>
              <a:rPr lang="en-US" sz="1400" b="1" dirty="0">
                <a:solidFill>
                  <a:schemeClr val="bg1"/>
                </a:solidFill>
              </a:rPr>
              <a:t>restorer R</a:t>
            </a:r>
            <a:endParaRPr lang="en-US" sz="1400" dirty="0"/>
          </a:p>
          <a:p>
            <a:pPr algn="ctr" indent="0" marL="0">
              <a:buNone/>
            </a:pPr>
            <a:r>
              <a:rPr lang="en-US" sz="1400" b="1" dirty="0">
                <a:solidFill>
                  <a:schemeClr val="bg1"/>
                </a:solidFill>
              </a:rPr>
              <a:t>z_a → r ≈ z</a:t>
            </a:r>
            <a:endParaRPr lang="en-US" sz="1400" dirty="0"/>
          </a:p>
        </p:txBody>
      </p:sp>
      <p:sp>
        <p:nvSpPr>
          <p:cNvPr id="18" name="arrow"/>
          <p:cNvSpPr/>
          <p:nvPr/>
        </p:nvSpPr>
        <p:spPr>
          <a:xfrm>
            <a:off x="9555480" y="2468880"/>
            <a:ext cx="365760" cy="914"/>
          </a:xfrm>
          <a:prstGeom prst="line">
            <a:avLst/>
          </a:prstGeom>
          <a:noFill/>
          <a:ln w="25400">
            <a:solidFill>
              <a:schemeClr val="accent3"/>
            </a:solidFill>
            <a:prstDash val="solid"/>
            <a:tailEnd type="triangle"/>
          </a:ln>
        </p:spPr>
      </p:sp>
      <p:sp>
        <p:nvSpPr>
          <p:cNvPr id="19" name="box"/>
          <p:cNvSpPr/>
          <p:nvPr/>
        </p:nvSpPr>
        <p:spPr>
          <a:xfrm>
            <a:off x="9966960" y="2011680"/>
            <a:ext cx="1691640" cy="914400"/>
          </a:xfrm>
          <a:prstGeom prst="roundRect">
            <a:avLst>
              <a:gd name="adj" fmla="val 10000"/>
            </a:avLst>
          </a:prstGeom>
          <a:solidFill>
            <a:schemeClr val="accent1"/>
          </a:solidFill>
          <a:ln w="12700">
            <a:solidFill>
              <a:schemeClr val="accent1"/>
            </a:solidFill>
            <a:prstDash val="solid"/>
          </a:ln>
        </p:spPr>
      </p:sp>
      <p:sp>
        <p:nvSpPr>
          <p:cNvPr id="20" name="Text 18"/>
          <p:cNvSpPr txBox="1"/>
          <p:nvPr/>
        </p:nvSpPr>
        <p:spPr>
          <a:xfrm>
            <a:off x="9966960" y="2011680"/>
            <a:ext cx="1691640" cy="914400"/>
          </a:xfrm>
          <a:prstGeom prst="rect">
            <a:avLst/>
          </a:prstGeom>
          <a:noFill/>
          <a:ln/>
        </p:spPr>
        <p:txBody>
          <a:bodyPr wrap="square" lIns="635" tIns="635" rIns="635" bIns="635" rtlCol="0" anchor="ctr"/>
          <a:lstStyle/>
          <a:p>
            <a:pPr algn="ctr" indent="0" marL="0">
              <a:buNone/>
            </a:pPr>
            <a:r>
              <a:rPr lang="en-US" sz="1400" b="1" dirty="0">
                <a:solidFill>
                  <a:schemeClr val="bg1"/>
                </a:solidFill>
              </a:rPr>
              <a:t>discriminator D</a:t>
            </a:r>
            <a:endParaRPr lang="en-US" sz="1400" dirty="0"/>
          </a:p>
          <a:p>
            <a:pPr algn="ctr" indent="0" marL="0">
              <a:buNone/>
            </a:pPr>
            <a:r>
              <a:rPr lang="en-US" sz="1400" b="1" dirty="0">
                <a:solidFill>
                  <a:schemeClr val="bg1"/>
                </a:solidFill>
              </a:rPr>
              <a:t>→ token map</a:t>
            </a:r>
            <a:endParaRPr lang="en-US" sz="1400" dirty="0"/>
          </a:p>
        </p:txBody>
      </p:sp>
      <p:sp>
        <p:nvSpPr>
          <p:cNvPr id="21" name="Text 19"/>
          <p:cNvSpPr txBox="1"/>
          <p:nvPr/>
        </p:nvSpPr>
        <p:spPr>
          <a:xfrm>
            <a:off x="5943600" y="2971800"/>
            <a:ext cx="1554480" cy="320040"/>
          </a:xfrm>
          <a:prstGeom prst="rect">
            <a:avLst/>
          </a:prstGeom>
          <a:noFill/>
          <a:ln/>
        </p:spPr>
        <p:txBody>
          <a:bodyPr wrap="square" lIns="635" tIns="635" rIns="635" bIns="635" rtlCol="0" anchor="t"/>
          <a:lstStyle/>
          <a:p>
            <a:pPr algn="ctr" indent="0" marL="0">
              <a:buNone/>
            </a:pPr>
            <a:r>
              <a:rPr lang="en-US" sz="1200" i="1" dirty="0">
                <a:solidFill>
                  <a:schemeClr val="accent4"/>
                </a:solidFill>
              </a:rPr>
              <a:t>training only</a:t>
            </a:r>
            <a:endParaRPr lang="en-US" sz="1200" dirty="0"/>
          </a:p>
        </p:txBody>
      </p:sp>
      <p:sp>
        <p:nvSpPr>
          <p:cNvPr id="22" name="c0"/>
          <p:cNvSpPr/>
          <p:nvPr/>
        </p:nvSpPr>
        <p:spPr>
          <a:xfrm>
            <a:off x="548640" y="3611880"/>
            <a:ext cx="3520440" cy="2377440"/>
          </a:xfrm>
          <a:prstGeom prst="roundRect">
            <a:avLst>
              <a:gd name="adj" fmla="val 4615"/>
            </a:avLst>
          </a:prstGeom>
          <a:solidFill>
            <a:schemeClr val="accent6"/>
          </a:solidFill>
          <a:ln w="12700">
            <a:solidFill>
              <a:schemeClr val="accent6"/>
            </a:solidFill>
            <a:prstDash val="solid"/>
          </a:ln>
        </p:spPr>
      </p:sp>
      <p:sp>
        <p:nvSpPr>
          <p:cNvPr id="23" name="Text 21"/>
          <p:cNvSpPr txBox="1"/>
          <p:nvPr/>
        </p:nvSpPr>
        <p:spPr>
          <a:xfrm>
            <a:off x="731520" y="3703320"/>
            <a:ext cx="3154680" cy="411480"/>
          </a:xfrm>
          <a:prstGeom prst="rect">
            <a:avLst/>
          </a:prstGeom>
          <a:noFill/>
          <a:ln/>
        </p:spPr>
        <p:txBody>
          <a:bodyPr wrap="square" lIns="635" tIns="635" rIns="635" bIns="635" rtlCol="0" anchor="t"/>
          <a:lstStyle/>
          <a:p>
            <a:pPr indent="0" marL="0">
              <a:buNone/>
            </a:pPr>
            <a:r>
              <a:rPr lang="en-US" sz="1700" b="1" dirty="0">
                <a:solidFill>
                  <a:schemeClr val="tx1"/>
                </a:solidFill>
              </a:rPr>
              <a:t>Restorer R</a:t>
            </a:r>
            <a:endParaRPr lang="en-US" sz="1700" dirty="0"/>
          </a:p>
        </p:txBody>
      </p:sp>
      <p:sp>
        <p:nvSpPr>
          <p:cNvPr id="24" name="Text 22"/>
          <p:cNvSpPr txBox="1"/>
          <p:nvPr/>
        </p:nvSpPr>
        <p:spPr>
          <a:xfrm>
            <a:off x="731520" y="4160520"/>
            <a:ext cx="3154680" cy="1737360"/>
          </a:xfrm>
          <a:prstGeom prst="rect">
            <a:avLst/>
          </a:prstGeom>
          <a:noFill/>
          <a:ln/>
        </p:spPr>
        <p:txBody>
          <a:bodyPr wrap="square" lIns="635" tIns="635" rIns="635" bIns="635" rtlCol="0" anchor="t"/>
          <a:lstStyle/>
          <a:p>
            <a:pPr indent="0" marL="0">
              <a:buNone/>
            </a:pPr>
            <a:r>
              <a:rPr lang="en-US" sz="1400" dirty="0">
                <a:solidFill>
                  <a:schemeClr val="tx2"/>
                </a:solidFill>
              </a:rPr>
              <a:t>8-layer transformer over 256 tokens; residual output, so normal tokens pass through. Loss: cosine + MSE, anomalous tokens weighted 5×.</a:t>
            </a:r>
            <a:endParaRPr lang="en-US" sz="1400" dirty="0"/>
          </a:p>
        </p:txBody>
      </p:sp>
      <p:sp>
        <p:nvSpPr>
          <p:cNvPr id="25" name="c1"/>
          <p:cNvSpPr/>
          <p:nvPr/>
        </p:nvSpPr>
        <p:spPr>
          <a:xfrm>
            <a:off x="4297680" y="3611880"/>
            <a:ext cx="3520440" cy="2377440"/>
          </a:xfrm>
          <a:prstGeom prst="roundRect">
            <a:avLst>
              <a:gd name="adj" fmla="val 4615"/>
            </a:avLst>
          </a:prstGeom>
          <a:solidFill>
            <a:schemeClr val="accent6"/>
          </a:solidFill>
          <a:ln w="12700">
            <a:solidFill>
              <a:schemeClr val="accent6"/>
            </a:solidFill>
            <a:prstDash val="solid"/>
          </a:ln>
        </p:spPr>
      </p:sp>
      <p:sp>
        <p:nvSpPr>
          <p:cNvPr id="26" name="Text 24"/>
          <p:cNvSpPr txBox="1"/>
          <p:nvPr/>
        </p:nvSpPr>
        <p:spPr>
          <a:xfrm>
            <a:off x="4480560" y="3703320"/>
            <a:ext cx="3154680" cy="411480"/>
          </a:xfrm>
          <a:prstGeom prst="rect">
            <a:avLst/>
          </a:prstGeom>
          <a:noFill/>
          <a:ln/>
        </p:spPr>
        <p:txBody>
          <a:bodyPr wrap="square" lIns="635" tIns="635" rIns="635" bIns="635" rtlCol="0" anchor="t"/>
          <a:lstStyle/>
          <a:p>
            <a:pPr indent="0" marL="0">
              <a:buNone/>
            </a:pPr>
            <a:r>
              <a:rPr lang="en-US" sz="1700" b="1" dirty="0">
                <a:solidFill>
                  <a:schemeClr val="tx1"/>
                </a:solidFill>
              </a:rPr>
              <a:t>Discriminator D</a:t>
            </a:r>
            <a:endParaRPr lang="en-US" sz="1700" dirty="0"/>
          </a:p>
        </p:txBody>
      </p:sp>
      <p:sp>
        <p:nvSpPr>
          <p:cNvPr id="27" name="Text 25"/>
          <p:cNvSpPr txBox="1"/>
          <p:nvPr/>
        </p:nvSpPr>
        <p:spPr>
          <a:xfrm>
            <a:off x="4480560" y="4160520"/>
            <a:ext cx="3154680" cy="1737360"/>
          </a:xfrm>
          <a:prstGeom prst="rect">
            <a:avLst/>
          </a:prstGeom>
          <a:noFill/>
          <a:ln/>
        </p:spPr>
        <p:txBody>
          <a:bodyPr wrap="square" lIns="635" tIns="635" rIns="635" bIns="635" rtlCol="0" anchor="t"/>
          <a:lstStyle/>
          <a:p>
            <a:pPr indent="0" marL="0">
              <a:buNone/>
            </a:pPr>
            <a:r>
              <a:rPr lang="en-US" sz="1400" dirty="0">
                <a:solidFill>
                  <a:schemeClr val="tx2"/>
                </a:solidFill>
              </a:rPr>
              <a:t>Sees [z_a, r, z_a − r, cos-dist]; predicts the token mask (focal loss). Learns which differences matter — DRAEM's key idea.</a:t>
            </a:r>
            <a:endParaRPr lang="en-US" sz="1400" dirty="0"/>
          </a:p>
        </p:txBody>
      </p:sp>
      <p:sp>
        <p:nvSpPr>
          <p:cNvPr id="28" name="c2"/>
          <p:cNvSpPr/>
          <p:nvPr/>
        </p:nvSpPr>
        <p:spPr>
          <a:xfrm>
            <a:off x="8046720" y="3611880"/>
            <a:ext cx="3520440" cy="2377440"/>
          </a:xfrm>
          <a:prstGeom prst="roundRect">
            <a:avLst>
              <a:gd name="adj" fmla="val 4615"/>
            </a:avLst>
          </a:prstGeom>
          <a:solidFill>
            <a:schemeClr val="bg2"/>
          </a:solidFill>
          <a:ln w="12700">
            <a:solidFill>
              <a:schemeClr val="bg2"/>
            </a:solidFill>
            <a:prstDash val="solid"/>
          </a:ln>
        </p:spPr>
      </p:sp>
      <p:sp>
        <p:nvSpPr>
          <p:cNvPr id="29" name="Text 27"/>
          <p:cNvSpPr txBox="1"/>
          <p:nvPr/>
        </p:nvSpPr>
        <p:spPr>
          <a:xfrm>
            <a:off x="8229600" y="3703320"/>
            <a:ext cx="3154680" cy="411480"/>
          </a:xfrm>
          <a:prstGeom prst="rect">
            <a:avLst/>
          </a:prstGeom>
          <a:noFill/>
          <a:ln/>
        </p:spPr>
        <p:txBody>
          <a:bodyPr wrap="square" lIns="635" tIns="635" rIns="635" bIns="635" rtlCol="0" anchor="t"/>
          <a:lstStyle/>
          <a:p>
            <a:pPr indent="0" marL="0">
              <a:buNone/>
            </a:pPr>
            <a:r>
              <a:rPr lang="en-US" sz="1700" b="1" dirty="0">
                <a:solidFill>
                  <a:schemeClr val="tx1"/>
                </a:solidFill>
              </a:rPr>
              <a:t>Test time</a:t>
            </a:r>
            <a:endParaRPr lang="en-US" sz="1700" dirty="0"/>
          </a:p>
        </p:txBody>
      </p:sp>
      <p:sp>
        <p:nvSpPr>
          <p:cNvPr id="30" name="Text 28"/>
          <p:cNvSpPr txBox="1"/>
          <p:nvPr/>
        </p:nvSpPr>
        <p:spPr>
          <a:xfrm>
            <a:off x="8229600" y="4160520"/>
            <a:ext cx="3154680" cy="1737360"/>
          </a:xfrm>
          <a:prstGeom prst="rect">
            <a:avLst/>
          </a:prstGeom>
          <a:noFill/>
          <a:ln/>
        </p:spPr>
        <p:txBody>
          <a:bodyPr wrap="square" lIns="635" tIns="635" rIns="635" bIns="635" rtlCol="0" anchor="t"/>
          <a:lstStyle/>
          <a:p>
            <a:pPr indent="0" marL="0">
              <a:buNone/>
            </a:pPr>
            <a:r>
              <a:rPr lang="en-US" sz="1400" dirty="0">
                <a:solidFill>
                  <a:schemeClr val="tx2"/>
                </a:solidFill>
              </a:rPr>
              <a:t>No synthesis. Maps: D's probability (disc), 1 − cos(z, R(z)) (resid). Upsample 16×16 → 256×256 and blur.</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68580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How anomalies are synthesized</a:t>
            </a:r>
            <a:endParaRPr lang="en-US" sz="3600" dirty="0"/>
          </a:p>
        </p:txBody>
      </p:sp>
      <p:sp>
        <p:nvSpPr>
          <p:cNvPr id="3" name="Text 1"/>
          <p:cNvSpPr/>
          <p:nvPr>
            <p:ph idx="102" type="body" hasCustomPrompt="1"/>
          </p:nvPr>
        </p:nvSpPr>
        <p:spPr>
          <a:xfrm>
            <a:off x="548640" y="1005840"/>
            <a:ext cx="11064240" cy="457200"/>
          </a:xfrm>
          <a:prstGeom prst="rect">
            <a:avLst/>
          </a:prstGeom>
          <a:noFill/>
          <a:ln/>
        </p:spPr>
        <p:txBody>
          <a:bodyPr wrap="square" rtlCol="0" anchor="t"/>
          <a:lstStyle/>
          <a:p>
            <a:pPr indent="0" marL="0">
              <a:buNone/>
            </a:pPr>
            <a:r>
              <a:rPr lang="en-US" sz="1800" i="1" dirty="0">
                <a:solidFill>
                  <a:schemeClr val="tx2"/>
                </a:solidFill>
              </a:rPr>
              <a:t>v1 uses hand-made perturbations; v2 replaces them with a learned generator in the same space</a:t>
            </a:r>
            <a:endParaRPr lang="en-US" sz="1800" dirty="0"/>
          </a:p>
        </p:txBody>
      </p:sp>
      <p:sp>
        <p:nvSpPr>
          <p:cNvPr id="4" name="Text 2"/>
          <p:cNvSpPr txBox="1"/>
          <p:nvPr/>
        </p:nvSpPr>
        <p:spPr>
          <a:xfrm>
            <a:off x="640080" y="1691640"/>
            <a:ext cx="5486400" cy="411480"/>
          </a:xfrm>
          <a:prstGeom prst="rect">
            <a:avLst/>
          </a:prstGeom>
          <a:noFill/>
          <a:ln/>
        </p:spPr>
        <p:txBody>
          <a:bodyPr wrap="square" lIns="635" tIns="635" rIns="635" bIns="635" rtlCol="0" anchor="t"/>
          <a:lstStyle/>
          <a:p>
            <a:pPr indent="0" marL="0">
              <a:buNone/>
            </a:pPr>
            <a:r>
              <a:rPr lang="en-US" sz="1800" b="1" dirty="0">
                <a:solidFill>
                  <a:schemeClr val="tx1"/>
                </a:solidFill>
              </a:rPr>
              <a:t>v1 · hand-made (tested)</a:t>
            </a:r>
            <a:endParaRPr lang="en-US" sz="1800" dirty="0"/>
          </a:p>
        </p:txBody>
      </p:sp>
      <p:sp>
        <p:nvSpPr>
          <p:cNvPr id="5" name="box"/>
          <p:cNvSpPr/>
          <p:nvPr/>
        </p:nvSpPr>
        <p:spPr>
          <a:xfrm>
            <a:off x="640080" y="2194560"/>
            <a:ext cx="1737360" cy="566928"/>
          </a:xfrm>
          <a:prstGeom prst="roundRect">
            <a:avLst>
              <a:gd name="adj" fmla="val 16129"/>
            </a:avLst>
          </a:prstGeom>
          <a:solidFill>
            <a:schemeClr val="accent2"/>
          </a:solidFill>
          <a:ln w="12700">
            <a:solidFill>
              <a:schemeClr val="accent2"/>
            </a:solidFill>
            <a:prstDash val="solid"/>
          </a:ln>
        </p:spPr>
      </p:sp>
      <p:sp>
        <p:nvSpPr>
          <p:cNvPr id="6" name="Text 4"/>
          <p:cNvSpPr txBox="1"/>
          <p:nvPr/>
        </p:nvSpPr>
        <p:spPr>
          <a:xfrm>
            <a:off x="640080" y="2194560"/>
            <a:ext cx="1737360" cy="566928"/>
          </a:xfrm>
          <a:prstGeom prst="rect">
            <a:avLst/>
          </a:prstGeom>
          <a:noFill/>
          <a:ln/>
        </p:spPr>
        <p:txBody>
          <a:bodyPr wrap="square" lIns="635" tIns="635" rIns="635" bIns="635" rtlCol="0" anchor="ctr"/>
          <a:lstStyle/>
          <a:p>
            <a:pPr algn="ctr" indent="0" marL="0">
              <a:buNone/>
            </a:pPr>
            <a:r>
              <a:rPr lang="en-US" sz="1400" b="1" dirty="0">
                <a:solidFill>
                  <a:schemeClr val="bg1"/>
                </a:solidFill>
              </a:rPr>
              <a:t>pixel</a:t>
            </a:r>
            <a:endParaRPr lang="en-US" sz="1400" dirty="0"/>
          </a:p>
        </p:txBody>
      </p:sp>
      <p:sp>
        <p:nvSpPr>
          <p:cNvPr id="7" name="Text 5"/>
          <p:cNvSpPr txBox="1"/>
          <p:nvPr/>
        </p:nvSpPr>
        <p:spPr>
          <a:xfrm>
            <a:off x="2514600" y="2212848"/>
            <a:ext cx="3840480" cy="566928"/>
          </a:xfrm>
          <a:prstGeom prst="rect">
            <a:avLst/>
          </a:prstGeom>
          <a:noFill/>
          <a:ln/>
        </p:spPr>
        <p:txBody>
          <a:bodyPr wrap="square" lIns="635" tIns="635" rIns="635" bIns="635" rtlCol="0" anchor="ctr"/>
          <a:lstStyle/>
          <a:p>
            <a:pPr indent="0" marL="0">
              <a:buNone/>
            </a:pPr>
            <a:r>
              <a:rPr lang="en-US" sz="1400" dirty="0">
                <a:solidFill>
                  <a:schemeClr val="tx1"/>
                </a:solidFill>
              </a:rPr>
              <a:t>DRAEM recipe in pixels, then encoded (reference)</a:t>
            </a:r>
            <a:endParaRPr lang="en-US" sz="1400" dirty="0"/>
          </a:p>
        </p:txBody>
      </p:sp>
      <p:sp>
        <p:nvSpPr>
          <p:cNvPr id="8" name="box"/>
          <p:cNvSpPr/>
          <p:nvPr/>
        </p:nvSpPr>
        <p:spPr>
          <a:xfrm>
            <a:off x="640080" y="2907792"/>
            <a:ext cx="1737360" cy="566928"/>
          </a:xfrm>
          <a:prstGeom prst="roundRect">
            <a:avLst>
              <a:gd name="adj" fmla="val 16129"/>
            </a:avLst>
          </a:prstGeom>
          <a:solidFill>
            <a:schemeClr val="accent1"/>
          </a:solidFill>
          <a:ln w="12700">
            <a:solidFill>
              <a:schemeClr val="accent1"/>
            </a:solidFill>
            <a:prstDash val="solid"/>
          </a:ln>
        </p:spPr>
      </p:sp>
      <p:sp>
        <p:nvSpPr>
          <p:cNvPr id="9" name="Text 7"/>
          <p:cNvSpPr txBox="1"/>
          <p:nvPr/>
        </p:nvSpPr>
        <p:spPr>
          <a:xfrm>
            <a:off x="640080" y="2907792"/>
            <a:ext cx="1737360" cy="566928"/>
          </a:xfrm>
          <a:prstGeom prst="rect">
            <a:avLst/>
          </a:prstGeom>
          <a:noFill/>
          <a:ln/>
        </p:spPr>
        <p:txBody>
          <a:bodyPr wrap="square" lIns="635" tIns="635" rIns="635" bIns="635" rtlCol="0" anchor="ctr"/>
          <a:lstStyle/>
          <a:p>
            <a:pPr algn="ctr" indent="0" marL="0">
              <a:buNone/>
            </a:pPr>
            <a:r>
              <a:rPr lang="en-US" sz="1400" b="1" dirty="0">
                <a:solidFill>
                  <a:schemeClr val="bg1"/>
                </a:solidFill>
              </a:rPr>
              <a:t>latent_tex</a:t>
            </a:r>
            <a:endParaRPr lang="en-US" sz="1400" dirty="0"/>
          </a:p>
        </p:txBody>
      </p:sp>
      <p:sp>
        <p:nvSpPr>
          <p:cNvPr id="10" name="Text 8"/>
          <p:cNvSpPr txBox="1"/>
          <p:nvPr/>
        </p:nvSpPr>
        <p:spPr>
          <a:xfrm>
            <a:off x="2514600" y="2926080"/>
            <a:ext cx="3840480" cy="566928"/>
          </a:xfrm>
          <a:prstGeom prst="rect">
            <a:avLst/>
          </a:prstGeom>
          <a:noFill/>
          <a:ln/>
        </p:spPr>
        <p:txBody>
          <a:bodyPr wrap="square" lIns="635" tIns="635" rIns="635" bIns="635" rtlCol="0" anchor="ctr"/>
          <a:lstStyle/>
          <a:p>
            <a:pPr indent="0" marL="0">
              <a:buNone/>
            </a:pPr>
            <a:r>
              <a:rPr lang="en-US" sz="1400" dirty="0">
                <a:solidFill>
                  <a:schemeClr val="tx1"/>
                </a:solidFill>
              </a:rPr>
              <a:t>DTD texture tokens blended in: z + β·m·(z_tex − z)</a:t>
            </a:r>
            <a:endParaRPr lang="en-US" sz="1400" dirty="0"/>
          </a:p>
        </p:txBody>
      </p:sp>
      <p:sp>
        <p:nvSpPr>
          <p:cNvPr id="11" name="box"/>
          <p:cNvSpPr/>
          <p:nvPr/>
        </p:nvSpPr>
        <p:spPr>
          <a:xfrm>
            <a:off x="640080" y="3621024"/>
            <a:ext cx="1737360" cy="566928"/>
          </a:xfrm>
          <a:prstGeom prst="roundRect">
            <a:avLst>
              <a:gd name="adj" fmla="val 16129"/>
            </a:avLst>
          </a:prstGeom>
          <a:solidFill>
            <a:schemeClr val="accent1"/>
          </a:solidFill>
          <a:ln w="12700">
            <a:solidFill>
              <a:schemeClr val="accent1"/>
            </a:solidFill>
            <a:prstDash val="solid"/>
          </a:ln>
        </p:spPr>
      </p:sp>
      <p:sp>
        <p:nvSpPr>
          <p:cNvPr id="12" name="Text 10"/>
          <p:cNvSpPr txBox="1"/>
          <p:nvPr/>
        </p:nvSpPr>
        <p:spPr>
          <a:xfrm>
            <a:off x="640080" y="3621024"/>
            <a:ext cx="1737360" cy="566928"/>
          </a:xfrm>
          <a:prstGeom prst="rect">
            <a:avLst/>
          </a:prstGeom>
          <a:noFill/>
          <a:ln/>
        </p:spPr>
        <p:txBody>
          <a:bodyPr wrap="square" lIns="635" tIns="635" rIns="635" bIns="635" rtlCol="0" anchor="ctr"/>
          <a:lstStyle/>
          <a:p>
            <a:pPr algn="ctr" indent="0" marL="0">
              <a:buNone/>
            </a:pPr>
            <a:r>
              <a:rPr lang="en-US" sz="1400" b="1" dirty="0">
                <a:solidFill>
                  <a:schemeClr val="bg1"/>
                </a:solidFill>
              </a:rPr>
              <a:t>latent_self</a:t>
            </a:r>
            <a:endParaRPr lang="en-US" sz="1400" dirty="0"/>
          </a:p>
        </p:txBody>
      </p:sp>
      <p:sp>
        <p:nvSpPr>
          <p:cNvPr id="13" name="Text 11"/>
          <p:cNvSpPr txBox="1"/>
          <p:nvPr/>
        </p:nvSpPr>
        <p:spPr>
          <a:xfrm>
            <a:off x="2514600" y="3639312"/>
            <a:ext cx="3840480" cy="566928"/>
          </a:xfrm>
          <a:prstGeom prst="rect">
            <a:avLst/>
          </a:prstGeom>
          <a:noFill/>
          <a:ln/>
        </p:spPr>
        <p:txBody>
          <a:bodyPr wrap="square" lIns="635" tIns="635" rIns="635" bIns="635" rtlCol="0" anchor="ctr"/>
          <a:lstStyle/>
          <a:p>
            <a:pPr indent="0" marL="0">
              <a:buNone/>
            </a:pPr>
            <a:r>
              <a:rPr lang="en-US" sz="1400" dirty="0">
                <a:solidFill>
                  <a:schemeClr val="tx1"/>
                </a:solidFill>
              </a:rPr>
              <a:t>Shifted tokens from another normal image (latent CutPaste)</a:t>
            </a:r>
            <a:endParaRPr lang="en-US" sz="1400" dirty="0"/>
          </a:p>
        </p:txBody>
      </p:sp>
      <p:sp>
        <p:nvSpPr>
          <p:cNvPr id="14" name="box"/>
          <p:cNvSpPr/>
          <p:nvPr/>
        </p:nvSpPr>
        <p:spPr>
          <a:xfrm>
            <a:off x="640080" y="4334256"/>
            <a:ext cx="1737360" cy="566928"/>
          </a:xfrm>
          <a:prstGeom prst="roundRect">
            <a:avLst>
              <a:gd name="adj" fmla="val 16129"/>
            </a:avLst>
          </a:prstGeom>
          <a:solidFill>
            <a:schemeClr val="accent1"/>
          </a:solidFill>
          <a:ln w="12700">
            <a:solidFill>
              <a:schemeClr val="accent1"/>
            </a:solidFill>
            <a:prstDash val="solid"/>
          </a:ln>
        </p:spPr>
      </p:sp>
      <p:sp>
        <p:nvSpPr>
          <p:cNvPr id="15" name="Text 13"/>
          <p:cNvSpPr txBox="1"/>
          <p:nvPr/>
        </p:nvSpPr>
        <p:spPr>
          <a:xfrm>
            <a:off x="640080" y="4334256"/>
            <a:ext cx="1737360" cy="566928"/>
          </a:xfrm>
          <a:prstGeom prst="rect">
            <a:avLst/>
          </a:prstGeom>
          <a:noFill/>
          <a:ln/>
        </p:spPr>
        <p:txBody>
          <a:bodyPr wrap="square" lIns="635" tIns="635" rIns="635" bIns="635" rtlCol="0" anchor="ctr"/>
          <a:lstStyle/>
          <a:p>
            <a:pPr algn="ctr" indent="0" marL="0">
              <a:buNone/>
            </a:pPr>
            <a:r>
              <a:rPr lang="en-US" sz="1400" b="1" dirty="0">
                <a:solidFill>
                  <a:schemeClr val="bg1"/>
                </a:solidFill>
              </a:rPr>
              <a:t>latent_noise</a:t>
            </a:r>
            <a:endParaRPr lang="en-US" sz="1400" dirty="0"/>
          </a:p>
        </p:txBody>
      </p:sp>
      <p:sp>
        <p:nvSpPr>
          <p:cNvPr id="16" name="Text 14"/>
          <p:cNvSpPr txBox="1"/>
          <p:nvPr/>
        </p:nvSpPr>
        <p:spPr>
          <a:xfrm>
            <a:off x="2514600" y="4352544"/>
            <a:ext cx="3840480" cy="566928"/>
          </a:xfrm>
          <a:prstGeom prst="rect">
            <a:avLst/>
          </a:prstGeom>
          <a:noFill/>
          <a:ln/>
        </p:spPr>
        <p:txBody>
          <a:bodyPr wrap="square" lIns="635" tIns="635" rIns="635" bIns="635" rtlCol="0" anchor="ctr"/>
          <a:lstStyle/>
          <a:p>
            <a:pPr indent="0" marL="0">
              <a:buNone/>
            </a:pPr>
            <a:r>
              <a:rPr lang="en-US" sz="1400" dirty="0">
                <a:solidFill>
                  <a:schemeClr val="tx1"/>
                </a:solidFill>
              </a:rPr>
              <a:t>Gaussian noise on masked tokens</a:t>
            </a:r>
            <a:endParaRPr lang="en-US" sz="1400" dirty="0"/>
          </a:p>
        </p:txBody>
      </p:sp>
      <p:sp>
        <p:nvSpPr>
          <p:cNvPr id="17" name="box"/>
          <p:cNvSpPr/>
          <p:nvPr/>
        </p:nvSpPr>
        <p:spPr>
          <a:xfrm>
            <a:off x="640080" y="5047488"/>
            <a:ext cx="1737360" cy="566928"/>
          </a:xfrm>
          <a:prstGeom prst="roundRect">
            <a:avLst>
              <a:gd name="adj" fmla="val 16129"/>
            </a:avLst>
          </a:prstGeom>
          <a:solidFill>
            <a:schemeClr val="accent3"/>
          </a:solidFill>
          <a:ln w="12700">
            <a:solidFill>
              <a:schemeClr val="accent3"/>
            </a:solidFill>
            <a:prstDash val="solid"/>
          </a:ln>
        </p:spPr>
      </p:sp>
      <p:sp>
        <p:nvSpPr>
          <p:cNvPr id="18" name="Text 16"/>
          <p:cNvSpPr txBox="1"/>
          <p:nvPr/>
        </p:nvSpPr>
        <p:spPr>
          <a:xfrm>
            <a:off x="640080" y="5047488"/>
            <a:ext cx="1737360" cy="566928"/>
          </a:xfrm>
          <a:prstGeom prst="rect">
            <a:avLst/>
          </a:prstGeom>
          <a:noFill/>
          <a:ln/>
        </p:spPr>
        <p:txBody>
          <a:bodyPr wrap="square" lIns="635" tIns="635" rIns="635" bIns="635" rtlCol="0" anchor="ctr"/>
          <a:lstStyle/>
          <a:p>
            <a:pPr algn="ctr" indent="0" marL="0">
              <a:buNone/>
            </a:pPr>
            <a:r>
              <a:rPr lang="en-US" sz="1400" b="1" dirty="0">
                <a:solidFill>
                  <a:schemeClr val="bg1"/>
                </a:solidFill>
              </a:rPr>
              <a:t>mix</a:t>
            </a:r>
            <a:endParaRPr lang="en-US" sz="1400" dirty="0"/>
          </a:p>
        </p:txBody>
      </p:sp>
      <p:sp>
        <p:nvSpPr>
          <p:cNvPr id="19" name="Text 17"/>
          <p:cNvSpPr txBox="1"/>
          <p:nvPr/>
        </p:nvSpPr>
        <p:spPr>
          <a:xfrm>
            <a:off x="2514600" y="5065776"/>
            <a:ext cx="3840480" cy="566928"/>
          </a:xfrm>
          <a:prstGeom prst="rect">
            <a:avLst/>
          </a:prstGeom>
          <a:noFill/>
          <a:ln/>
        </p:spPr>
        <p:txBody>
          <a:bodyPr wrap="square" lIns="635" tIns="635" rIns="635" bIns="635" rtlCol="0" anchor="ctr"/>
          <a:lstStyle/>
          <a:p>
            <a:pPr indent="0" marL="0">
              <a:buNone/>
            </a:pPr>
            <a:r>
              <a:rPr lang="en-US" sz="1400" dirty="0">
                <a:solidFill>
                  <a:schemeClr val="tx1"/>
                </a:solidFill>
              </a:rPr>
              <a:t>One of the above per sample</a:t>
            </a:r>
            <a:endParaRPr lang="en-US" sz="1400" dirty="0"/>
          </a:p>
        </p:txBody>
      </p:sp>
      <p:sp>
        <p:nvSpPr>
          <p:cNvPr id="20" name="v2"/>
          <p:cNvSpPr/>
          <p:nvPr/>
        </p:nvSpPr>
        <p:spPr>
          <a:xfrm>
            <a:off x="6766560" y="1691640"/>
            <a:ext cx="4846320" cy="4251960"/>
          </a:xfrm>
          <a:prstGeom prst="roundRect">
            <a:avLst>
              <a:gd name="adj" fmla="val 2581"/>
            </a:avLst>
          </a:prstGeom>
          <a:solidFill>
            <a:schemeClr val="accent6"/>
          </a:solidFill>
          <a:ln w="12700">
            <a:solidFill>
              <a:schemeClr val="accent6"/>
            </a:solidFill>
            <a:prstDash val="solid"/>
          </a:ln>
        </p:spPr>
      </p:sp>
      <p:sp>
        <p:nvSpPr>
          <p:cNvPr id="21" name="Text 19"/>
          <p:cNvSpPr txBox="1"/>
          <p:nvPr/>
        </p:nvSpPr>
        <p:spPr>
          <a:xfrm>
            <a:off x="6995160" y="1828800"/>
            <a:ext cx="4389120" cy="411480"/>
          </a:xfrm>
          <a:prstGeom prst="rect">
            <a:avLst/>
          </a:prstGeom>
          <a:noFill/>
          <a:ln/>
        </p:spPr>
        <p:txBody>
          <a:bodyPr wrap="square" lIns="635" tIns="635" rIns="635" bIns="635" rtlCol="0" anchor="t"/>
          <a:lstStyle/>
          <a:p>
            <a:pPr indent="0" marL="0">
              <a:buNone/>
            </a:pPr>
            <a:r>
              <a:rPr lang="en-US" sz="1800" b="1" dirty="0">
                <a:solidFill>
                  <a:schemeClr val="tx1"/>
                </a:solidFill>
              </a:rPr>
              <a:t>v2 · learned generator (next)</a:t>
            </a:r>
            <a:endParaRPr lang="en-US" sz="1800" dirty="0"/>
          </a:p>
        </p:txBody>
      </p:sp>
      <p:sp>
        <p:nvSpPr>
          <p:cNvPr id="22" name="Text 20"/>
          <p:cNvSpPr txBox="1"/>
          <p:nvPr/>
        </p:nvSpPr>
        <p:spPr>
          <a:xfrm>
            <a:off x="6995160" y="2331720"/>
            <a:ext cx="4434840" cy="3383280"/>
          </a:xfrm>
          <a:prstGeom prst="rect">
            <a:avLst/>
          </a:prstGeom>
          <a:noFill/>
          <a:ln/>
        </p:spPr>
        <p:txBody>
          <a:bodyPr wrap="square" rtlCol="0" anchor="t"/>
          <a:lstStyle/>
          <a:p>
            <a:pPr marL="342900" indent="-342900">
              <a:spcAft>
                <a:spcPts val="600"/>
              </a:spcAft>
              <a:buSzPct val="100000"/>
              <a:buChar char="•"/>
            </a:pPr>
            <a:r>
              <a:rPr lang="en-US" sz="1500" dirty="0">
                <a:solidFill>
                  <a:schemeClr val="tx1"/>
                </a:solidFill>
              </a:rPr>
              <a:t>Train a small DiT on normal tokens of each category: the "second RAE"</a:t>
            </a:r>
            <a:endParaRPr lang="en-US" sz="1500" dirty="0"/>
          </a:p>
          <a:p>
            <a:pPr marL="342900" indent="-342900">
              <a:spcAft>
                <a:spcPts val="600"/>
              </a:spcAft>
              <a:buSzPct val="100000"/>
              <a:buChar char="•"/>
            </a:pPr>
            <a:r>
              <a:rPr lang="en-US" sz="1500" dirty="0">
                <a:solidFill>
                  <a:schemeClr val="tx1"/>
                </a:solidFill>
              </a:rPr>
              <a:t>Sample slightly off the normal distribution: inflated variance (RealNet-style) or partial noise-and-denoise of a region</a:t>
            </a:r>
            <a:endParaRPr lang="en-US" sz="1500" dirty="0"/>
          </a:p>
          <a:p>
            <a:pPr marL="342900" indent="-342900">
              <a:spcAft>
                <a:spcPts val="600"/>
              </a:spcAft>
              <a:buSzPct val="100000"/>
              <a:buChar char="•"/>
            </a:pPr>
            <a:r>
              <a:rPr lang="en-US" sz="1500" dirty="0">
                <a:solidFill>
                  <a:schemeClr val="tx1"/>
                </a:solidFill>
              </a:rPr>
              <a:t>Anomalies stay realistic and close to normal, without hand-crafted rules</a:t>
            </a:r>
            <a:endParaRPr lang="en-US" sz="1500" dirty="0"/>
          </a:p>
        </p:txBody>
      </p:sp>
      <p:sp>
        <p:nvSpPr>
          <p:cNvPr id="23" name="Text 21"/>
          <p:cNvSpPr txBox="1"/>
          <p:nvPr/>
        </p:nvSpPr>
        <p:spPr>
          <a:xfrm>
            <a:off x="640080" y="5852160"/>
            <a:ext cx="5943600" cy="457200"/>
          </a:xfrm>
          <a:prstGeom prst="rect">
            <a:avLst/>
          </a:prstGeom>
          <a:noFill/>
          <a:ln/>
        </p:spPr>
        <p:txBody>
          <a:bodyPr wrap="square" lIns="635" tIns="635" rIns="635" bIns="635" rtlCol="0" anchor="t"/>
          <a:lstStyle/>
          <a:p>
            <a:pPr indent="0" marL="0">
              <a:buNone/>
            </a:pPr>
            <a:r>
              <a:rPr lang="en-US" sz="1200" i="1" dirty="0">
                <a:solidFill>
                  <a:schemeClr val="tx2"/>
                </a:solidFill>
              </a:rPr>
              <a:t>Masks: Perlin blobs at 256 px, pooled to per-token coverage; 20% of samples left clean.</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731520" y="2743200"/>
            <a:ext cx="10698480" cy="1280160"/>
          </a:xfrm>
          <a:prstGeom prst="rect">
            <a:avLst/>
          </a:prstGeom>
          <a:noFill/>
          <a:ln/>
        </p:spPr>
        <p:txBody>
          <a:bodyPr wrap="square"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Why the RAE latent, and why it is new</a:t>
            </a:r>
            <a:endParaRPr lang="en-US" sz="4000" dirty="0"/>
          </a:p>
        </p:txBody>
      </p:sp>
      <p:sp>
        <p:nvSpPr>
          <p:cNvPr id="3" name="Text 0"/>
          <p:cNvSpPr/>
          <p:nvPr>
            <p:ph idx="100" type="body" hasCustomPrompt="1"/>
          </p:nvPr>
        </p:nvSpPr>
        <p:spPr>
          <a:xfrm>
            <a:off x="731520" y="2011680"/>
            <a:ext cx="10698480" cy="731520"/>
          </a:xfrm>
          <a:prstGeom prst="rect">
            <a:avLst/>
          </a:prstGeom>
          <a:noFill/>
          <a:ln/>
        </p:spPr>
        <p:txBody>
          <a:bodyPr wrap="square" rtlCol="0"/>
          <a:lstStyle/>
          <a:p>
            <a:pPr indent="0" marL="0">
              <a:buNone/>
            </a:pPr>
            <a:r>
              <a:rPr lang="en-US" sz="2000" b="1" dirty="0">
                <a:solidFill>
                  <a:schemeClr val="accent1"/>
                </a:solidFill>
              </a:rPr>
              <a:t>Part 3</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68580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Four reasons to work in RAE space</a:t>
            </a:r>
            <a:endParaRPr lang="en-US" sz="3600" dirty="0"/>
          </a:p>
        </p:txBody>
      </p:sp>
      <p:sp>
        <p:nvSpPr>
          <p:cNvPr id="3" name="Text 1"/>
          <p:cNvSpPr/>
          <p:nvPr>
            <p:ph idx="102" type="body" hasCustomPrompt="1"/>
          </p:nvPr>
        </p:nvSpPr>
        <p:spPr>
          <a:xfrm>
            <a:off x="548640" y="1005840"/>
            <a:ext cx="11064240" cy="457200"/>
          </a:xfrm>
          <a:prstGeom prst="rect">
            <a:avLst/>
          </a:prstGeom>
          <a:noFill/>
          <a:ln/>
        </p:spPr>
        <p:txBody>
          <a:bodyPr wrap="square" rtlCol="0" anchor="t"/>
          <a:lstStyle/>
          <a:p>
            <a:pPr indent="0" marL="0">
              <a:buNone/>
            </a:pPr>
            <a:r>
              <a:rPr lang="en-US" sz="1800" i="1" dirty="0">
                <a:solidFill>
                  <a:schemeClr val="tx2"/>
                </a:solidFill>
              </a:rPr>
              <a:t>Each one is testable, and the experiments are designed around them</a:t>
            </a:r>
            <a:endParaRPr lang="en-US" sz="1800" dirty="0"/>
          </a:p>
        </p:txBody>
      </p:sp>
      <p:sp>
        <p:nvSpPr>
          <p:cNvPr id="4" name="r0"/>
          <p:cNvSpPr/>
          <p:nvPr/>
        </p:nvSpPr>
        <p:spPr>
          <a:xfrm>
            <a:off x="640080" y="1691640"/>
            <a:ext cx="5303520" cy="2011680"/>
          </a:xfrm>
          <a:prstGeom prst="roundRect">
            <a:avLst>
              <a:gd name="adj" fmla="val 5455"/>
            </a:avLst>
          </a:prstGeom>
          <a:solidFill>
            <a:schemeClr val="accent6"/>
          </a:solidFill>
          <a:ln w="12700">
            <a:solidFill>
              <a:schemeClr val="accent6"/>
            </a:solidFill>
            <a:prstDash val="solid"/>
          </a:ln>
        </p:spPr>
      </p:sp>
      <p:sp>
        <p:nvSpPr>
          <p:cNvPr id="5" name="num"/>
          <p:cNvSpPr/>
          <p:nvPr/>
        </p:nvSpPr>
        <p:spPr>
          <a:xfrm>
            <a:off x="868680" y="1920240"/>
            <a:ext cx="457200" cy="457200"/>
          </a:xfrm>
          <a:prstGeom prst="ellipse">
            <a:avLst/>
          </a:prstGeom>
          <a:solidFill>
            <a:schemeClr val="accent1"/>
          </a:solidFill>
          <a:ln w="12700">
            <a:solidFill>
              <a:schemeClr val="accent1"/>
            </a:solidFill>
            <a:prstDash val="solid"/>
          </a:ln>
        </p:spPr>
      </p:sp>
      <p:sp>
        <p:nvSpPr>
          <p:cNvPr id="6" name="Text 4"/>
          <p:cNvSpPr txBox="1"/>
          <p:nvPr/>
        </p:nvSpPr>
        <p:spPr>
          <a:xfrm>
            <a:off x="868680" y="1920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1508760" y="1892808"/>
            <a:ext cx="4206240" cy="457200"/>
          </a:xfrm>
          <a:prstGeom prst="rect">
            <a:avLst/>
          </a:prstGeom>
          <a:noFill/>
          <a:ln/>
        </p:spPr>
        <p:txBody>
          <a:bodyPr wrap="square" lIns="635" tIns="635" rIns="635" bIns="635" rtlCol="0" anchor="ctr"/>
          <a:lstStyle/>
          <a:p>
            <a:pPr indent="0" marL="0">
              <a:buNone/>
            </a:pPr>
            <a:r>
              <a:rPr lang="en-US" sz="1800" b="1" dirty="0">
                <a:solidFill>
                  <a:schemeClr val="tx1"/>
                </a:solidFill>
              </a:rPr>
              <a:t>Semantic edits</a:t>
            </a:r>
            <a:endParaRPr lang="en-US" sz="1800" dirty="0"/>
          </a:p>
        </p:txBody>
      </p:sp>
      <p:sp>
        <p:nvSpPr>
          <p:cNvPr id="8" name="Text 6"/>
          <p:cNvSpPr txBox="1"/>
          <p:nvPr/>
        </p:nvSpPr>
        <p:spPr>
          <a:xfrm>
            <a:off x="914400" y="2468880"/>
            <a:ext cx="4846320" cy="822960"/>
          </a:xfrm>
          <a:prstGeom prst="rect">
            <a:avLst/>
          </a:prstGeom>
          <a:noFill/>
          <a:ln/>
        </p:spPr>
        <p:txBody>
          <a:bodyPr wrap="square" lIns="635" tIns="635" rIns="635" bIns="635" rtlCol="0" anchor="t"/>
          <a:lstStyle/>
          <a:p>
            <a:pPr indent="0" marL="0">
              <a:buNone/>
            </a:pPr>
            <a:r>
              <a:rPr lang="en-US" sz="1400" dirty="0">
                <a:solidFill>
                  <a:schemeClr val="tx2"/>
                </a:solidFill>
              </a:rPr>
              <a:t>A token edit is a semantic edit. Misplaced, missing or deformed parts can be synthesized, not only texture blobs.</a:t>
            </a:r>
            <a:endParaRPr lang="en-US" sz="1400" dirty="0"/>
          </a:p>
        </p:txBody>
      </p:sp>
      <p:sp>
        <p:nvSpPr>
          <p:cNvPr id="9" name="Text 7"/>
          <p:cNvSpPr txBox="1"/>
          <p:nvPr/>
        </p:nvSpPr>
        <p:spPr>
          <a:xfrm>
            <a:off x="914400" y="3246120"/>
            <a:ext cx="4846320" cy="365760"/>
          </a:xfrm>
          <a:prstGeom prst="rect">
            <a:avLst/>
          </a:prstGeom>
          <a:noFill/>
          <a:ln/>
        </p:spPr>
        <p:txBody>
          <a:bodyPr wrap="square" lIns="635" tIns="635" rIns="635" bIns="635" rtlCol="0" anchor="t"/>
          <a:lstStyle/>
          <a:p>
            <a:pPr indent="0" marL="0">
              <a:buNone/>
            </a:pPr>
            <a:r>
              <a:rPr lang="en-US" sz="1200" b="1" i="1" dirty="0">
                <a:solidFill>
                  <a:schemeClr val="accent2"/>
                </a:solidFill>
              </a:rPr>
              <a:t>Exp 2: latent_self wins on transistor</a:t>
            </a:r>
            <a:endParaRPr lang="en-US" sz="1200" dirty="0"/>
          </a:p>
        </p:txBody>
      </p:sp>
      <p:sp>
        <p:nvSpPr>
          <p:cNvPr id="10" name="r1"/>
          <p:cNvSpPr/>
          <p:nvPr/>
        </p:nvSpPr>
        <p:spPr>
          <a:xfrm>
            <a:off x="6172200" y="1691640"/>
            <a:ext cx="5303520" cy="2011680"/>
          </a:xfrm>
          <a:prstGeom prst="roundRect">
            <a:avLst>
              <a:gd name="adj" fmla="val 5455"/>
            </a:avLst>
          </a:prstGeom>
          <a:solidFill>
            <a:schemeClr val="bg2"/>
          </a:solidFill>
          <a:ln w="12700">
            <a:solidFill>
              <a:schemeClr val="bg2"/>
            </a:solidFill>
            <a:prstDash val="solid"/>
          </a:ln>
        </p:spPr>
      </p:sp>
      <p:sp>
        <p:nvSpPr>
          <p:cNvPr id="11" name="num"/>
          <p:cNvSpPr/>
          <p:nvPr/>
        </p:nvSpPr>
        <p:spPr>
          <a:xfrm>
            <a:off x="6400800" y="1920240"/>
            <a:ext cx="457200" cy="457200"/>
          </a:xfrm>
          <a:prstGeom prst="ellipse">
            <a:avLst/>
          </a:prstGeom>
          <a:solidFill>
            <a:schemeClr val="accent1"/>
          </a:solidFill>
          <a:ln w="12700">
            <a:solidFill>
              <a:schemeClr val="accent1"/>
            </a:solidFill>
            <a:prstDash val="solid"/>
          </a:ln>
        </p:spPr>
      </p:sp>
      <p:sp>
        <p:nvSpPr>
          <p:cNvPr id="12" name="Text 10"/>
          <p:cNvSpPr txBox="1"/>
          <p:nvPr/>
        </p:nvSpPr>
        <p:spPr>
          <a:xfrm>
            <a:off x="6400800" y="1920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1"/>
          <p:cNvSpPr txBox="1"/>
          <p:nvPr/>
        </p:nvSpPr>
        <p:spPr>
          <a:xfrm>
            <a:off x="7040880" y="1892808"/>
            <a:ext cx="4206240" cy="457200"/>
          </a:xfrm>
          <a:prstGeom prst="rect">
            <a:avLst/>
          </a:prstGeom>
          <a:noFill/>
          <a:ln/>
        </p:spPr>
        <p:txBody>
          <a:bodyPr wrap="square" lIns="635" tIns="635" rIns="635" bIns="635" rtlCol="0" anchor="ctr"/>
          <a:lstStyle/>
          <a:p>
            <a:pPr indent="0" marL="0">
              <a:buNone/>
            </a:pPr>
            <a:r>
              <a:rPr lang="en-US" sz="1800" b="1" dirty="0">
                <a:solidFill>
                  <a:schemeClr val="tx1"/>
                </a:solidFill>
              </a:rPr>
              <a:t>A generative prior</a:t>
            </a:r>
            <a:endParaRPr lang="en-US" sz="1800" dirty="0"/>
          </a:p>
        </p:txBody>
      </p:sp>
      <p:sp>
        <p:nvSpPr>
          <p:cNvPr id="14" name="Text 12"/>
          <p:cNvSpPr txBox="1"/>
          <p:nvPr/>
        </p:nvSpPr>
        <p:spPr>
          <a:xfrm>
            <a:off x="6446520" y="2468880"/>
            <a:ext cx="4846320" cy="822960"/>
          </a:xfrm>
          <a:prstGeom prst="rect">
            <a:avLst/>
          </a:prstGeom>
          <a:noFill/>
          <a:ln/>
        </p:spPr>
        <p:txBody>
          <a:bodyPr wrap="square" lIns="635" tIns="635" rIns="635" bIns="635" rtlCol="0" anchor="t"/>
          <a:lstStyle/>
          <a:p>
            <a:pPr indent="0" marL="0">
              <a:buNone/>
            </a:pPr>
            <a:r>
              <a:rPr lang="en-US" sz="1400" dirty="0">
                <a:solidFill>
                  <a:schemeClr val="tx2"/>
                </a:solidFill>
              </a:rPr>
              <a:t>RAE showed diffusion works in this space, so the anomaly generator can be learned rather than hand-designed.</a:t>
            </a:r>
            <a:endParaRPr lang="en-US" sz="1400" dirty="0"/>
          </a:p>
        </p:txBody>
      </p:sp>
      <p:sp>
        <p:nvSpPr>
          <p:cNvPr id="15" name="Text 13"/>
          <p:cNvSpPr txBox="1"/>
          <p:nvPr/>
        </p:nvSpPr>
        <p:spPr>
          <a:xfrm>
            <a:off x="6446520" y="3246120"/>
            <a:ext cx="4846320" cy="365760"/>
          </a:xfrm>
          <a:prstGeom prst="rect">
            <a:avLst/>
          </a:prstGeom>
          <a:noFill/>
          <a:ln/>
        </p:spPr>
        <p:txBody>
          <a:bodyPr wrap="square" lIns="635" tIns="635" rIns="635" bIns="635" rtlCol="0" anchor="t"/>
          <a:lstStyle/>
          <a:p>
            <a:pPr indent="0" marL="0">
              <a:buNone/>
            </a:pPr>
            <a:r>
              <a:rPr lang="en-US" sz="1200" b="1" i="1" dirty="0">
                <a:solidFill>
                  <a:schemeClr val="accent2"/>
                </a:solidFill>
              </a:rPr>
              <a:t>Exp 4 (planned)</a:t>
            </a:r>
            <a:endParaRPr lang="en-US" sz="1200" dirty="0"/>
          </a:p>
        </p:txBody>
      </p:sp>
      <p:sp>
        <p:nvSpPr>
          <p:cNvPr id="16" name="r2"/>
          <p:cNvSpPr/>
          <p:nvPr/>
        </p:nvSpPr>
        <p:spPr>
          <a:xfrm>
            <a:off x="640080" y="3931920"/>
            <a:ext cx="5303520" cy="2011680"/>
          </a:xfrm>
          <a:prstGeom prst="roundRect">
            <a:avLst>
              <a:gd name="adj" fmla="val 5455"/>
            </a:avLst>
          </a:prstGeom>
          <a:solidFill>
            <a:schemeClr val="bg2"/>
          </a:solidFill>
          <a:ln w="12700">
            <a:solidFill>
              <a:schemeClr val="bg2"/>
            </a:solidFill>
            <a:prstDash val="solid"/>
          </a:ln>
        </p:spPr>
      </p:sp>
      <p:sp>
        <p:nvSpPr>
          <p:cNvPr id="17" name="num"/>
          <p:cNvSpPr/>
          <p:nvPr/>
        </p:nvSpPr>
        <p:spPr>
          <a:xfrm>
            <a:off x="868680" y="4160520"/>
            <a:ext cx="457200" cy="457200"/>
          </a:xfrm>
          <a:prstGeom prst="ellipse">
            <a:avLst/>
          </a:prstGeom>
          <a:solidFill>
            <a:schemeClr val="accent1"/>
          </a:solidFill>
          <a:ln w="12700">
            <a:solidFill>
              <a:schemeClr val="accent1"/>
            </a:solidFill>
            <a:prstDash val="solid"/>
          </a:ln>
        </p:spPr>
      </p:sp>
      <p:sp>
        <p:nvSpPr>
          <p:cNvPr id="18" name="Text 16"/>
          <p:cNvSpPr txBox="1"/>
          <p:nvPr/>
        </p:nvSpPr>
        <p:spPr>
          <a:xfrm>
            <a:off x="868680" y="41605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Text 17"/>
          <p:cNvSpPr txBox="1"/>
          <p:nvPr/>
        </p:nvSpPr>
        <p:spPr>
          <a:xfrm>
            <a:off x="1508760" y="4133088"/>
            <a:ext cx="4206240" cy="457200"/>
          </a:xfrm>
          <a:prstGeom prst="rect">
            <a:avLst/>
          </a:prstGeom>
          <a:noFill/>
          <a:ln/>
        </p:spPr>
        <p:txBody>
          <a:bodyPr wrap="square" lIns="635" tIns="635" rIns="635" bIns="635" rtlCol="0" anchor="ctr"/>
          <a:lstStyle/>
          <a:p>
            <a:pPr indent="0" marL="0">
              <a:buNone/>
            </a:pPr>
            <a:r>
              <a:rPr lang="en-US" sz="1800" b="1" dirty="0">
                <a:solidFill>
                  <a:schemeClr val="tx1"/>
                </a:solidFill>
              </a:rPr>
              <a:t>Frozen and cheap</a:t>
            </a:r>
            <a:endParaRPr lang="en-US" sz="1800" dirty="0"/>
          </a:p>
        </p:txBody>
      </p:sp>
      <p:sp>
        <p:nvSpPr>
          <p:cNvPr id="20" name="Text 18"/>
          <p:cNvSpPr txBox="1"/>
          <p:nvPr/>
        </p:nvSpPr>
        <p:spPr>
          <a:xfrm>
            <a:off x="914400" y="4709160"/>
            <a:ext cx="4846320" cy="822960"/>
          </a:xfrm>
          <a:prstGeom prst="rect">
            <a:avLst/>
          </a:prstGeom>
          <a:noFill/>
          <a:ln/>
        </p:spPr>
        <p:txBody>
          <a:bodyPr wrap="square" lIns="635" tIns="635" rIns="635" bIns="635" rtlCol="0" anchor="t"/>
          <a:lstStyle/>
          <a:p>
            <a:pPr indent="0" marL="0">
              <a:buNone/>
            </a:pPr>
            <a:r>
              <a:rPr lang="en-US" sz="1400" dirty="0">
                <a:solidFill>
                  <a:schemeClr val="tx2"/>
                </a:solidFill>
              </a:rPr>
              <a:t>No encoder training. The restorer is a small transformer over 256 tokens; normal training sets of ~200 images suffice.</a:t>
            </a:r>
            <a:endParaRPr lang="en-US" sz="1400" dirty="0"/>
          </a:p>
        </p:txBody>
      </p:sp>
      <p:sp>
        <p:nvSpPr>
          <p:cNvPr id="21" name="Text 19"/>
          <p:cNvSpPr txBox="1"/>
          <p:nvPr/>
        </p:nvSpPr>
        <p:spPr>
          <a:xfrm>
            <a:off x="914400" y="5486400"/>
            <a:ext cx="4846320" cy="365760"/>
          </a:xfrm>
          <a:prstGeom prst="rect">
            <a:avLst/>
          </a:prstGeom>
          <a:noFill/>
          <a:ln/>
        </p:spPr>
        <p:txBody>
          <a:bodyPr wrap="square" lIns="635" tIns="635" rIns="635" bIns="635" rtlCol="0" anchor="t"/>
          <a:lstStyle/>
          <a:p>
            <a:pPr indent="0" marL="0">
              <a:buNone/>
            </a:pPr>
            <a:r>
              <a:rPr lang="en-US" sz="1200" b="1" i="1" dirty="0">
                <a:solidFill>
                  <a:schemeClr val="accent2"/>
                </a:solidFill>
              </a:rPr>
              <a:t>~8 min per category on one GPU</a:t>
            </a:r>
            <a:endParaRPr lang="en-US" sz="1200" dirty="0"/>
          </a:p>
        </p:txBody>
      </p:sp>
      <p:sp>
        <p:nvSpPr>
          <p:cNvPr id="22" name="r3"/>
          <p:cNvSpPr/>
          <p:nvPr/>
        </p:nvSpPr>
        <p:spPr>
          <a:xfrm>
            <a:off x="6172200" y="3931920"/>
            <a:ext cx="5303520" cy="2011680"/>
          </a:xfrm>
          <a:prstGeom prst="roundRect">
            <a:avLst>
              <a:gd name="adj" fmla="val 5455"/>
            </a:avLst>
          </a:prstGeom>
          <a:solidFill>
            <a:schemeClr val="accent6"/>
          </a:solidFill>
          <a:ln w="12700">
            <a:solidFill>
              <a:schemeClr val="accent6"/>
            </a:solidFill>
            <a:prstDash val="solid"/>
          </a:ln>
        </p:spPr>
      </p:sp>
      <p:sp>
        <p:nvSpPr>
          <p:cNvPr id="23" name="num"/>
          <p:cNvSpPr/>
          <p:nvPr/>
        </p:nvSpPr>
        <p:spPr>
          <a:xfrm>
            <a:off x="6400800" y="4160520"/>
            <a:ext cx="457200" cy="457200"/>
          </a:xfrm>
          <a:prstGeom prst="ellipse">
            <a:avLst/>
          </a:prstGeom>
          <a:solidFill>
            <a:schemeClr val="accent1"/>
          </a:solidFill>
          <a:ln w="12700">
            <a:solidFill>
              <a:schemeClr val="accent1"/>
            </a:solidFill>
            <a:prstDash val="solid"/>
          </a:ln>
        </p:spPr>
      </p:sp>
      <p:sp>
        <p:nvSpPr>
          <p:cNvPr id="24" name="Text 22"/>
          <p:cNvSpPr txBox="1"/>
          <p:nvPr/>
        </p:nvSpPr>
        <p:spPr>
          <a:xfrm>
            <a:off x="6400800" y="41605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5" name="Text 23"/>
          <p:cNvSpPr txBox="1"/>
          <p:nvPr/>
        </p:nvSpPr>
        <p:spPr>
          <a:xfrm>
            <a:off x="7040880" y="4133088"/>
            <a:ext cx="4206240" cy="457200"/>
          </a:xfrm>
          <a:prstGeom prst="rect">
            <a:avLst/>
          </a:prstGeom>
          <a:noFill/>
          <a:ln/>
        </p:spPr>
        <p:txBody>
          <a:bodyPr wrap="square" lIns="635" tIns="635" rIns="635" bIns="635" rtlCol="0" anchor="ctr"/>
          <a:lstStyle/>
          <a:p>
            <a:pPr indent="0" marL="0">
              <a:buNone/>
            </a:pPr>
            <a:r>
              <a:rPr lang="en-US" sz="1800" b="1" dirty="0">
                <a:solidFill>
                  <a:schemeClr val="tx1"/>
                </a:solidFill>
              </a:rPr>
              <a:t>Decoder-free scoring</a:t>
            </a:r>
            <a:endParaRPr lang="en-US" sz="1800" dirty="0"/>
          </a:p>
        </p:txBody>
      </p:sp>
      <p:sp>
        <p:nvSpPr>
          <p:cNvPr id="26" name="Text 24"/>
          <p:cNvSpPr txBox="1"/>
          <p:nvPr/>
        </p:nvSpPr>
        <p:spPr>
          <a:xfrm>
            <a:off x="6446520" y="4709160"/>
            <a:ext cx="4846320" cy="822960"/>
          </a:xfrm>
          <a:prstGeom prst="rect">
            <a:avLst/>
          </a:prstGeom>
          <a:noFill/>
          <a:ln/>
        </p:spPr>
        <p:txBody>
          <a:bodyPr wrap="square" lIns="635" tIns="635" rIns="635" bIns="635" rtlCol="0" anchor="t"/>
          <a:lstStyle/>
          <a:p>
            <a:pPr indent="0" marL="0">
              <a:buNone/>
            </a:pPr>
            <a:r>
              <a:rPr lang="en-US" sz="1400" dirty="0">
                <a:solidFill>
                  <a:schemeClr val="tx2"/>
                </a:solidFill>
              </a:rPr>
              <a:t>Detection and localization use tokens only, so the decoder's pixel errors cannot cause false positives.</a:t>
            </a:r>
            <a:endParaRPr lang="en-US" sz="1400" dirty="0"/>
          </a:p>
        </p:txBody>
      </p:sp>
      <p:sp>
        <p:nvSpPr>
          <p:cNvPr id="27" name="Text 25"/>
          <p:cNvSpPr txBox="1"/>
          <p:nvPr/>
        </p:nvSpPr>
        <p:spPr>
          <a:xfrm>
            <a:off x="6446520" y="5486400"/>
            <a:ext cx="4846320" cy="365760"/>
          </a:xfrm>
          <a:prstGeom prst="rect">
            <a:avLst/>
          </a:prstGeom>
          <a:noFill/>
          <a:ln/>
        </p:spPr>
        <p:txBody>
          <a:bodyPr wrap="square" lIns="635" tIns="635" rIns="635" bIns="635" rtlCol="0" anchor="t"/>
          <a:lstStyle/>
          <a:p>
            <a:pPr indent="0" marL="0">
              <a:buNone/>
            </a:pPr>
            <a:r>
              <a:rPr lang="en-US" sz="1200" b="1" i="1" dirty="0">
                <a:solidFill>
                  <a:schemeClr val="accent2"/>
                </a:solidFill>
              </a:rPr>
              <a:t>Exp 1: why this matters</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68580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Novel, and guarded against fooling ourselves</a:t>
            </a:r>
            <a:endParaRPr lang="en-US" sz="3600" dirty="0"/>
          </a:p>
        </p:txBody>
      </p:sp>
      <p:sp>
        <p:nvSpPr>
          <p:cNvPr id="3" name="Text 1"/>
          <p:cNvSpPr/>
          <p:nvPr>
            <p:ph idx="102" type="body" hasCustomPrompt="1"/>
          </p:nvPr>
        </p:nvSpPr>
        <p:spPr>
          <a:xfrm>
            <a:off x="548640" y="1005840"/>
            <a:ext cx="11064240" cy="457200"/>
          </a:xfrm>
          <a:prstGeom prst="rect">
            <a:avLst/>
          </a:prstGeom>
          <a:noFill/>
          <a:ln/>
        </p:spPr>
        <p:txBody>
          <a:bodyPr wrap="square" rtlCol="0" anchor="t"/>
          <a:lstStyle/>
          <a:p>
            <a:pPr indent="0" marL="0">
              <a:buNone/>
            </a:pPr>
            <a:r>
              <a:rPr lang="en-US" sz="1800" i="1" dirty="0">
                <a:solidFill>
                  <a:schemeClr val="tx2"/>
                </a:solidFill>
              </a:rPr>
              <a:t>Literature check plus the controls built into every experiment</a:t>
            </a:r>
            <a:endParaRPr lang="en-US" sz="1800" dirty="0"/>
          </a:p>
        </p:txBody>
      </p:sp>
      <p:sp>
        <p:nvSpPr>
          <p:cNvPr id="4" name="novel"/>
          <p:cNvSpPr/>
          <p:nvPr/>
        </p:nvSpPr>
        <p:spPr>
          <a:xfrm>
            <a:off x="640080" y="1691640"/>
            <a:ext cx="4206240" cy="4297680"/>
          </a:xfrm>
          <a:prstGeom prst="roundRect">
            <a:avLst>
              <a:gd name="adj" fmla="val 2609"/>
            </a:avLst>
          </a:prstGeom>
          <a:solidFill>
            <a:schemeClr val="tx1"/>
          </a:solidFill>
          <a:ln w="12700">
            <a:solidFill>
              <a:schemeClr val="tx1"/>
            </a:solidFill>
            <a:prstDash val="solid"/>
          </a:ln>
        </p:spPr>
      </p:sp>
      <p:sp>
        <p:nvSpPr>
          <p:cNvPr id="5" name="Text 3"/>
          <p:cNvSpPr txBox="1"/>
          <p:nvPr/>
        </p:nvSpPr>
        <p:spPr>
          <a:xfrm>
            <a:off x="868680" y="1920240"/>
            <a:ext cx="3749040" cy="1005840"/>
          </a:xfrm>
          <a:prstGeom prst="rect">
            <a:avLst/>
          </a:prstGeom>
          <a:noFill/>
          <a:ln/>
        </p:spPr>
        <p:txBody>
          <a:bodyPr wrap="square" lIns="635" tIns="635" rIns="635" bIns="635"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0 / 297</a:t>
            </a:r>
            <a:endParaRPr lang="en-US" sz="5400" dirty="0"/>
          </a:p>
        </p:txBody>
      </p:sp>
      <p:sp>
        <p:nvSpPr>
          <p:cNvPr id="6" name="Text 4"/>
          <p:cNvSpPr txBox="1"/>
          <p:nvPr/>
        </p:nvSpPr>
        <p:spPr>
          <a:xfrm>
            <a:off x="868680" y="2971800"/>
            <a:ext cx="3749040" cy="822960"/>
          </a:xfrm>
          <a:prstGeom prst="rect">
            <a:avLst/>
          </a:prstGeom>
          <a:noFill/>
          <a:ln/>
        </p:spPr>
        <p:txBody>
          <a:bodyPr wrap="square" lIns="635" tIns="635" rIns="635" bIns="635" rtlCol="0" anchor="t"/>
          <a:lstStyle/>
          <a:p>
            <a:pPr indent="0" marL="0">
              <a:buNone/>
            </a:pPr>
            <a:r>
              <a:rPr lang="en-US" sz="1400" dirty="0">
                <a:solidFill>
                  <a:schemeClr val="bg1"/>
                </a:solidFill>
              </a:rPr>
              <a:t>papers citing RAE that address anomaly detection (Semantic Scholar, Oct 2026)</a:t>
            </a:r>
            <a:endParaRPr lang="en-US" sz="1400" dirty="0"/>
          </a:p>
        </p:txBody>
      </p:sp>
      <p:sp>
        <p:nvSpPr>
          <p:cNvPr id="7" name="Text 5"/>
          <p:cNvSpPr txBox="1"/>
          <p:nvPr/>
        </p:nvSpPr>
        <p:spPr>
          <a:xfrm>
            <a:off x="868680" y="3977640"/>
            <a:ext cx="3749040" cy="1737360"/>
          </a:xfrm>
          <a:prstGeom prst="rect">
            <a:avLst/>
          </a:prstGeom>
          <a:noFill/>
          <a:ln/>
        </p:spPr>
        <p:txBody>
          <a:bodyPr wrap="square" lIns="635" tIns="635" rIns="635" bIns="635" rtlCol="0" anchor="t"/>
          <a:lstStyle/>
          <a:p>
            <a:pPr indent="0" marL="0">
              <a:buNone/>
            </a:pPr>
            <a:r>
              <a:rPr lang="en-US" sz="1300" dirty="0">
                <a:solidFill>
                  <a:schemeClr val="accent5"/>
                </a:solidFill>
              </a:rPr>
              <a:t>Closest: Q-Former AE (2025): frozen DINOv2 + pixel decoder, medical only, no anomaly synthesis, no generative prior.</a:t>
            </a:r>
            <a:endParaRPr lang="en-US" sz="1300" dirty="0"/>
          </a:p>
        </p:txBody>
      </p:sp>
      <p:sp>
        <p:nvSpPr>
          <p:cNvPr id="8" name="ctl0"/>
          <p:cNvSpPr/>
          <p:nvPr/>
        </p:nvSpPr>
        <p:spPr>
          <a:xfrm>
            <a:off x="5120640" y="1691640"/>
            <a:ext cx="6492240" cy="960120"/>
          </a:xfrm>
          <a:prstGeom prst="roundRect">
            <a:avLst>
              <a:gd name="adj" fmla="val 11429"/>
            </a:avLst>
          </a:prstGeom>
          <a:solidFill>
            <a:schemeClr val="bg2"/>
          </a:solidFill>
          <a:ln w="12700">
            <a:solidFill>
              <a:schemeClr val="bg2"/>
            </a:solidFill>
            <a:prstDash val="solid"/>
          </a:ln>
        </p:spPr>
      </p:sp>
      <p:sp>
        <p:nvSpPr>
          <p:cNvPr id="9" name="Text 7"/>
          <p:cNvSpPr txBox="1"/>
          <p:nvPr/>
        </p:nvSpPr>
        <p:spPr>
          <a:xfrm>
            <a:off x="5303520" y="1764792"/>
            <a:ext cx="6126480" cy="365760"/>
          </a:xfrm>
          <a:prstGeom prst="rect">
            <a:avLst/>
          </a:prstGeom>
          <a:noFill/>
          <a:ln/>
        </p:spPr>
        <p:txBody>
          <a:bodyPr wrap="square" lIns="635" tIns="635" rIns="635" bIns="635" rtlCol="0" anchor="t"/>
          <a:lstStyle/>
          <a:p>
            <a:pPr indent="0" marL="0">
              <a:buNone/>
            </a:pPr>
            <a:r>
              <a:rPr lang="en-US" sz="1600" b="1" dirty="0">
                <a:solidFill>
                  <a:schemeClr val="tx1"/>
                </a:solidFill>
              </a:rPr>
              <a:t>kNN on the same frozen tokens</a:t>
            </a:r>
            <a:endParaRPr lang="en-US" sz="1600" dirty="0"/>
          </a:p>
        </p:txBody>
      </p:sp>
      <p:sp>
        <p:nvSpPr>
          <p:cNvPr id="10" name="Text 8"/>
          <p:cNvSpPr txBox="1"/>
          <p:nvPr/>
        </p:nvSpPr>
        <p:spPr>
          <a:xfrm>
            <a:off x="5303520" y="2121408"/>
            <a:ext cx="6126480" cy="502920"/>
          </a:xfrm>
          <a:prstGeom prst="rect">
            <a:avLst/>
          </a:prstGeom>
          <a:noFill/>
          <a:ln/>
        </p:spPr>
        <p:txBody>
          <a:bodyPr wrap="square" lIns="635" tIns="635" rIns="635" bIns="635" rtlCol="0" anchor="t"/>
          <a:lstStyle/>
          <a:p>
            <a:pPr indent="0" marL="0">
              <a:buNone/>
            </a:pPr>
            <a:r>
              <a:rPr lang="en-US" sz="1300" dirty="0">
                <a:solidFill>
                  <a:schemeClr val="tx2"/>
                </a:solidFill>
              </a:rPr>
              <a:t>Training-free PatchCore-style control. If the learned pipeline does not beat it, the method adds nothing.</a:t>
            </a:r>
            <a:endParaRPr lang="en-US" sz="1300" dirty="0"/>
          </a:p>
        </p:txBody>
      </p:sp>
      <p:sp>
        <p:nvSpPr>
          <p:cNvPr id="11" name="ctl1"/>
          <p:cNvSpPr/>
          <p:nvPr/>
        </p:nvSpPr>
        <p:spPr>
          <a:xfrm>
            <a:off x="5120640" y="2788920"/>
            <a:ext cx="6492240" cy="960120"/>
          </a:xfrm>
          <a:prstGeom prst="roundRect">
            <a:avLst>
              <a:gd name="adj" fmla="val 11429"/>
            </a:avLst>
          </a:prstGeom>
          <a:solidFill>
            <a:schemeClr val="bg2"/>
          </a:solidFill>
          <a:ln w="12700">
            <a:solidFill>
              <a:schemeClr val="bg2"/>
            </a:solidFill>
            <a:prstDash val="solid"/>
          </a:ln>
        </p:spPr>
      </p:sp>
      <p:sp>
        <p:nvSpPr>
          <p:cNvPr id="12" name="Text 10"/>
          <p:cNvSpPr txBox="1"/>
          <p:nvPr/>
        </p:nvSpPr>
        <p:spPr>
          <a:xfrm>
            <a:off x="5303520" y="2862072"/>
            <a:ext cx="6126480" cy="365760"/>
          </a:xfrm>
          <a:prstGeom prst="rect">
            <a:avLst/>
          </a:prstGeom>
          <a:noFill/>
          <a:ln/>
        </p:spPr>
        <p:txBody>
          <a:bodyPr wrap="square" lIns="635" tIns="635" rIns="635" bIns="635" rtlCol="0" anchor="t"/>
          <a:lstStyle/>
          <a:p>
            <a:pPr indent="0" marL="0">
              <a:buNone/>
            </a:pPr>
            <a:r>
              <a:rPr lang="en-US" sz="1600" b="1" dirty="0">
                <a:solidFill>
                  <a:schemeClr val="tx1"/>
                </a:solidFill>
              </a:rPr>
              <a:t>Pixel-synthesis reference</a:t>
            </a:r>
            <a:endParaRPr lang="en-US" sz="1600" dirty="0"/>
          </a:p>
        </p:txBody>
      </p:sp>
      <p:sp>
        <p:nvSpPr>
          <p:cNvPr id="13" name="Text 11"/>
          <p:cNvSpPr txBox="1"/>
          <p:nvPr/>
        </p:nvSpPr>
        <p:spPr>
          <a:xfrm>
            <a:off x="5303520" y="3218688"/>
            <a:ext cx="6126480" cy="502920"/>
          </a:xfrm>
          <a:prstGeom prst="rect">
            <a:avLst/>
          </a:prstGeom>
          <a:noFill/>
          <a:ln/>
        </p:spPr>
        <p:txBody>
          <a:bodyPr wrap="square" lIns="635" tIns="635" rIns="635" bIns="635" rtlCol="0" anchor="t"/>
          <a:lstStyle/>
          <a:p>
            <a:pPr indent="0" marL="0">
              <a:buNone/>
            </a:pPr>
            <a:r>
              <a:rPr lang="en-US" sz="1300" dirty="0">
                <a:solidFill>
                  <a:schemeClr val="tx2"/>
                </a:solidFill>
              </a:rPr>
              <a:t>DRAEM's own recipe, run through the same encoder, so latent synthesis is compared like-for-like.</a:t>
            </a:r>
            <a:endParaRPr lang="en-US" sz="1300" dirty="0"/>
          </a:p>
        </p:txBody>
      </p:sp>
      <p:sp>
        <p:nvSpPr>
          <p:cNvPr id="14" name="ctl2"/>
          <p:cNvSpPr/>
          <p:nvPr/>
        </p:nvSpPr>
        <p:spPr>
          <a:xfrm>
            <a:off x="5120640" y="3886200"/>
            <a:ext cx="6492240" cy="960120"/>
          </a:xfrm>
          <a:prstGeom prst="roundRect">
            <a:avLst>
              <a:gd name="adj" fmla="val 11429"/>
            </a:avLst>
          </a:prstGeom>
          <a:solidFill>
            <a:schemeClr val="bg2"/>
          </a:solidFill>
          <a:ln w="12700">
            <a:solidFill>
              <a:schemeClr val="bg2"/>
            </a:solidFill>
            <a:prstDash val="solid"/>
          </a:ln>
        </p:spPr>
      </p:sp>
      <p:sp>
        <p:nvSpPr>
          <p:cNvPr id="15" name="Text 13"/>
          <p:cNvSpPr txBox="1"/>
          <p:nvPr/>
        </p:nvSpPr>
        <p:spPr>
          <a:xfrm>
            <a:off x="5303520" y="3959352"/>
            <a:ext cx="6126480" cy="365760"/>
          </a:xfrm>
          <a:prstGeom prst="rect">
            <a:avLst/>
          </a:prstGeom>
          <a:noFill/>
          <a:ln/>
        </p:spPr>
        <p:txBody>
          <a:bodyPr wrap="square" lIns="635" tIns="635" rIns="635" bIns="635" rtlCol="0" anchor="t"/>
          <a:lstStyle/>
          <a:p>
            <a:pPr indent="0" marL="0">
              <a:buNone/>
            </a:pPr>
            <a:r>
              <a:rPr lang="en-US" sz="1600" b="1" dirty="0">
                <a:solidFill>
                  <a:schemeClr val="tx1"/>
                </a:solidFill>
              </a:rPr>
              <a:t>Two latents</a:t>
            </a:r>
            <a:endParaRPr lang="en-US" sz="1600" dirty="0"/>
          </a:p>
        </p:txBody>
      </p:sp>
      <p:sp>
        <p:nvSpPr>
          <p:cNvPr id="16" name="Text 14"/>
          <p:cNvSpPr txBox="1"/>
          <p:nvPr/>
        </p:nvSpPr>
        <p:spPr>
          <a:xfrm>
            <a:off x="5303520" y="4315968"/>
            <a:ext cx="6126480" cy="502920"/>
          </a:xfrm>
          <a:prstGeom prst="rect">
            <a:avLst/>
          </a:prstGeom>
          <a:noFill/>
          <a:ln/>
        </p:spPr>
        <p:txBody>
          <a:bodyPr wrap="square" lIns="635" tIns="635" rIns="635" bIns="635" rtlCol="0" anchor="t"/>
          <a:lstStyle/>
          <a:p>
            <a:pPr indent="0" marL="0">
              <a:buNone/>
            </a:pPr>
            <a:r>
              <a:rPr lang="en-US" sz="1300" dirty="0">
                <a:solidFill>
                  <a:schemeClr val="tx2"/>
                </a:solidFill>
              </a:rPr>
              <a:t>DINOv2-B (semantic) vs MAE (faithful) separates 'semantics help' from 'any latent helps'.</a:t>
            </a:r>
            <a:endParaRPr lang="en-US" sz="1300" dirty="0"/>
          </a:p>
        </p:txBody>
      </p:sp>
      <p:sp>
        <p:nvSpPr>
          <p:cNvPr id="17" name="ctl3"/>
          <p:cNvSpPr/>
          <p:nvPr/>
        </p:nvSpPr>
        <p:spPr>
          <a:xfrm>
            <a:off x="5120640" y="4983480"/>
            <a:ext cx="6492240" cy="960120"/>
          </a:xfrm>
          <a:prstGeom prst="roundRect">
            <a:avLst>
              <a:gd name="adj" fmla="val 11429"/>
            </a:avLst>
          </a:prstGeom>
          <a:solidFill>
            <a:schemeClr val="bg2"/>
          </a:solidFill>
          <a:ln w="12700">
            <a:solidFill>
              <a:schemeClr val="bg2"/>
            </a:solidFill>
            <a:prstDash val="solid"/>
          </a:ln>
        </p:spPr>
      </p:sp>
      <p:sp>
        <p:nvSpPr>
          <p:cNvPr id="18" name="Text 16"/>
          <p:cNvSpPr txBox="1"/>
          <p:nvPr/>
        </p:nvSpPr>
        <p:spPr>
          <a:xfrm>
            <a:off x="5303520" y="5056632"/>
            <a:ext cx="6126480" cy="365760"/>
          </a:xfrm>
          <a:prstGeom prst="rect">
            <a:avLst/>
          </a:prstGeom>
          <a:noFill/>
          <a:ln/>
        </p:spPr>
        <p:txBody>
          <a:bodyPr wrap="square" lIns="635" tIns="635" rIns="635" bIns="635" rtlCol="0" anchor="t"/>
          <a:lstStyle/>
          <a:p>
            <a:pPr indent="0" marL="0">
              <a:buNone/>
            </a:pPr>
            <a:r>
              <a:rPr lang="en-US" sz="1600" b="1" dirty="0">
                <a:solidFill>
                  <a:schemeClr val="tx1"/>
                </a:solidFill>
              </a:rPr>
              <a:t>Seeds + held-out normals (Exp 3)</a:t>
            </a:r>
            <a:endParaRPr lang="en-US" sz="1600" dirty="0"/>
          </a:p>
        </p:txBody>
      </p:sp>
      <p:sp>
        <p:nvSpPr>
          <p:cNvPr id="19" name="Text 17"/>
          <p:cNvSpPr txBox="1"/>
          <p:nvPr/>
        </p:nvSpPr>
        <p:spPr>
          <a:xfrm>
            <a:off x="5303520" y="5413248"/>
            <a:ext cx="6126480" cy="502920"/>
          </a:xfrm>
          <a:prstGeom prst="rect">
            <a:avLst/>
          </a:prstGeom>
          <a:noFill/>
          <a:ln/>
        </p:spPr>
        <p:txBody>
          <a:bodyPr wrap="square" lIns="635" tIns="635" rIns="635" bIns="635" rtlCol="0" anchor="t"/>
          <a:lstStyle/>
          <a:p>
            <a:pPr indent="0" marL="0">
              <a:buNone/>
            </a:pPr>
            <a:r>
              <a:rPr lang="en-US" sz="1300" dirty="0">
                <a:solidFill>
                  <a:schemeClr val="tx2"/>
                </a:solidFill>
              </a:rPr>
              <a:t>3 seeds; score scales set on held-out normal images only, never on test labels.</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731520" y="2743200"/>
            <a:ext cx="10698480" cy="1280160"/>
          </a:xfrm>
          <a:prstGeom prst="rect">
            <a:avLst/>
          </a:prstGeom>
          <a:noFill/>
          <a:ln/>
        </p:spPr>
        <p:txBody>
          <a:bodyPr wrap="square"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Results so far</a:t>
            </a:r>
            <a:endParaRPr lang="en-US" sz="4000" dirty="0"/>
          </a:p>
        </p:txBody>
      </p:sp>
      <p:sp>
        <p:nvSpPr>
          <p:cNvPr id="3" name="Text 0"/>
          <p:cNvSpPr/>
          <p:nvPr>
            <p:ph idx="100" type="body" hasCustomPrompt="1"/>
          </p:nvPr>
        </p:nvSpPr>
        <p:spPr>
          <a:xfrm>
            <a:off x="731520" y="2011680"/>
            <a:ext cx="10698480" cy="731520"/>
          </a:xfrm>
          <a:prstGeom prst="rect">
            <a:avLst/>
          </a:prstGeom>
          <a:noFill/>
          <a:ln/>
        </p:spPr>
        <p:txBody>
          <a:bodyPr wrap="square" rtlCol="0"/>
          <a:lstStyle/>
          <a:p>
            <a:pPr indent="0" marL="0">
              <a:buNone/>
            </a:pPr>
            <a:r>
              <a:rPr lang="en-US" sz="2000" b="1" dirty="0">
                <a:solidFill>
                  <a:schemeClr val="accent1"/>
                </a:solidFill>
              </a:rPr>
              <a:t>Part 4</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68580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Exp 1: can a frozen RAE copy industrial images?</a:t>
            </a:r>
            <a:endParaRPr lang="en-US" sz="3600" dirty="0"/>
          </a:p>
        </p:txBody>
      </p:sp>
      <p:sp>
        <p:nvSpPr>
          <p:cNvPr id="3" name="Text 1"/>
          <p:cNvSpPr/>
          <p:nvPr>
            <p:ph idx="102" type="body" hasCustomPrompt="1"/>
          </p:nvPr>
        </p:nvSpPr>
        <p:spPr>
          <a:xfrm>
            <a:off x="548640" y="1005840"/>
            <a:ext cx="11064240" cy="457200"/>
          </a:xfrm>
          <a:prstGeom prst="rect">
            <a:avLst/>
          </a:prstGeom>
          <a:noFill/>
          <a:ln/>
        </p:spPr>
        <p:txBody>
          <a:bodyPr wrap="square" rtlCol="0" anchor="t"/>
          <a:lstStyle/>
          <a:p>
            <a:pPr indent="0" marL="0">
              <a:buNone/>
            </a:pPr>
            <a:r>
              <a:rPr lang="en-US" sz="1800" i="1" dirty="0">
                <a:solidFill>
                  <a:schemeClr val="tx2"/>
                </a:solidFill>
              </a:rPr>
              <a:t>MVTec AD normal images, 256 px; released decoders vs the SD-VAE</a:t>
            </a:r>
            <a:endParaRPr lang="en-US" sz="1800" dirty="0"/>
          </a:p>
        </p:txBody>
      </p:sp>
      <p:graphicFrame>
        <p:nvGraphicFramePr>
          <p:cNvPr id="4" name="Chart 0" descr=""/>
          <p:cNvGraphicFramePr/>
          <p:nvPr/>
        </p:nvGraphicFramePr>
        <p:xfrm>
          <a:off x="548640" y="164592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5" name="psnr"/>
          <p:cNvSpPr/>
          <p:nvPr/>
        </p:nvSpPr>
        <p:spPr>
          <a:xfrm>
            <a:off x="7863840" y="1645920"/>
            <a:ext cx="3749040" cy="4480560"/>
          </a:xfrm>
          <a:prstGeom prst="roundRect">
            <a:avLst>
              <a:gd name="adj" fmla="val 2927"/>
            </a:avLst>
          </a:prstGeom>
          <a:solidFill>
            <a:schemeClr val="bg2"/>
          </a:solidFill>
          <a:ln w="12700">
            <a:solidFill>
              <a:schemeClr val="bg2"/>
            </a:solidFill>
            <a:prstDash val="solid"/>
          </a:ln>
        </p:spPr>
      </p:sp>
      <p:sp>
        <p:nvSpPr>
          <p:cNvPr id="6" name="Text 3"/>
          <p:cNvSpPr txBox="1"/>
          <p:nvPr/>
        </p:nvSpPr>
        <p:spPr>
          <a:xfrm>
            <a:off x="8092440" y="1783080"/>
            <a:ext cx="3291840" cy="365760"/>
          </a:xfrm>
          <a:prstGeom prst="rect">
            <a:avLst/>
          </a:prstGeom>
          <a:noFill/>
          <a:ln/>
        </p:spPr>
        <p:txBody>
          <a:bodyPr wrap="square" lIns="635" tIns="635" rIns="635" bIns="635" rtlCol="0" anchor="t"/>
          <a:lstStyle/>
          <a:p>
            <a:pPr indent="0" marL="0">
              <a:buNone/>
            </a:pPr>
            <a:r>
              <a:rPr lang="en-US" sz="1600" b="1" dirty="0">
                <a:solidFill>
                  <a:schemeClr val="tx1"/>
                </a:solidFill>
              </a:rPr>
              <a:t>Mean PSNR (dB)</a:t>
            </a:r>
            <a:endParaRPr lang="en-US" sz="1600" dirty="0"/>
          </a:p>
        </p:txBody>
      </p:sp>
      <p:sp>
        <p:nvSpPr>
          <p:cNvPr id="7" name="Text 4"/>
          <p:cNvSpPr txBox="1"/>
          <p:nvPr/>
        </p:nvSpPr>
        <p:spPr>
          <a:xfrm>
            <a:off x="8092440" y="2286000"/>
            <a:ext cx="2011680" cy="457200"/>
          </a:xfrm>
          <a:prstGeom prst="rect">
            <a:avLst/>
          </a:prstGeom>
          <a:noFill/>
          <a:ln/>
        </p:spPr>
        <p:txBody>
          <a:bodyPr wrap="square" lIns="635" tIns="635" rIns="635" bIns="635" rtlCol="0" anchor="ctr"/>
          <a:lstStyle/>
          <a:p>
            <a:pPr indent="0" marL="0">
              <a:buNone/>
            </a:pPr>
            <a:r>
              <a:rPr lang="en-US" sz="1500" dirty="0">
                <a:solidFill>
                  <a:schemeClr val="tx1"/>
                </a:solidFill>
              </a:rPr>
              <a:t>MAE</a:t>
            </a:r>
            <a:endParaRPr lang="en-US" sz="1500" dirty="0"/>
          </a:p>
        </p:txBody>
      </p:sp>
      <p:sp>
        <p:nvSpPr>
          <p:cNvPr id="8" name="Text 5"/>
          <p:cNvSpPr txBox="1"/>
          <p:nvPr/>
        </p:nvSpPr>
        <p:spPr>
          <a:xfrm>
            <a:off x="10058400" y="2286000"/>
            <a:ext cx="1280160" cy="457200"/>
          </a:xfrm>
          <a:prstGeom prst="rect">
            <a:avLst/>
          </a:prstGeom>
          <a:noFill/>
          <a:ln/>
        </p:spPr>
        <p:txBody>
          <a:bodyPr wrap="square" lIns="635" tIns="635" rIns="635" bIns="635" rtlCol="0" anchor="ctr"/>
          <a:lstStyle/>
          <a:p>
            <a:pPr algn="r" indent="0" marL="0">
              <a:buNone/>
            </a:pPr>
            <a:r>
              <a:rPr lang="en-US" sz="1800" b="1" dirty="0">
                <a:solidFill>
                  <a:schemeClr val="accent2"/>
                </a:solidFill>
              </a:rPr>
              <a:t>33.3</a:t>
            </a:r>
            <a:endParaRPr lang="en-US" sz="1800" dirty="0"/>
          </a:p>
        </p:txBody>
      </p:sp>
      <p:sp>
        <p:nvSpPr>
          <p:cNvPr id="9" name="Text 6"/>
          <p:cNvSpPr txBox="1"/>
          <p:nvPr/>
        </p:nvSpPr>
        <p:spPr>
          <a:xfrm>
            <a:off x="8092440" y="2834640"/>
            <a:ext cx="2011680" cy="457200"/>
          </a:xfrm>
          <a:prstGeom prst="rect">
            <a:avLst/>
          </a:prstGeom>
          <a:noFill/>
          <a:ln/>
        </p:spPr>
        <p:txBody>
          <a:bodyPr wrap="square" lIns="635" tIns="635" rIns="635" bIns="635" rtlCol="0" anchor="ctr"/>
          <a:lstStyle/>
          <a:p>
            <a:pPr indent="0" marL="0">
              <a:buNone/>
            </a:pPr>
            <a:r>
              <a:rPr lang="en-US" sz="1500" dirty="0">
                <a:solidFill>
                  <a:schemeClr val="tx1"/>
                </a:solidFill>
              </a:rPr>
              <a:t>SD-VAE</a:t>
            </a:r>
            <a:endParaRPr lang="en-US" sz="1500" dirty="0"/>
          </a:p>
        </p:txBody>
      </p:sp>
      <p:sp>
        <p:nvSpPr>
          <p:cNvPr id="10" name="Text 7"/>
          <p:cNvSpPr txBox="1"/>
          <p:nvPr/>
        </p:nvSpPr>
        <p:spPr>
          <a:xfrm>
            <a:off x="10058400" y="2834640"/>
            <a:ext cx="1280160" cy="457200"/>
          </a:xfrm>
          <a:prstGeom prst="rect">
            <a:avLst/>
          </a:prstGeom>
          <a:noFill/>
          <a:ln/>
        </p:spPr>
        <p:txBody>
          <a:bodyPr wrap="square" lIns="635" tIns="635" rIns="635" bIns="635" rtlCol="0" anchor="ctr"/>
          <a:lstStyle/>
          <a:p>
            <a:pPr algn="r" indent="0" marL="0">
              <a:buNone/>
            </a:pPr>
            <a:r>
              <a:rPr lang="en-US" sz="1800" b="1" dirty="0">
                <a:solidFill>
                  <a:schemeClr val="tx1"/>
                </a:solidFill>
              </a:rPr>
              <a:t>30.9</a:t>
            </a:r>
            <a:endParaRPr lang="en-US" sz="1800" dirty="0"/>
          </a:p>
        </p:txBody>
      </p:sp>
      <p:sp>
        <p:nvSpPr>
          <p:cNvPr id="11" name="Text 8"/>
          <p:cNvSpPr txBox="1"/>
          <p:nvPr/>
        </p:nvSpPr>
        <p:spPr>
          <a:xfrm>
            <a:off x="8092440" y="3383280"/>
            <a:ext cx="2011680" cy="457200"/>
          </a:xfrm>
          <a:prstGeom prst="rect">
            <a:avLst/>
          </a:prstGeom>
          <a:noFill/>
          <a:ln/>
        </p:spPr>
        <p:txBody>
          <a:bodyPr wrap="square" lIns="635" tIns="635" rIns="635" bIns="635" rtlCol="0" anchor="ctr"/>
          <a:lstStyle/>
          <a:p>
            <a:pPr indent="0" marL="0">
              <a:buNone/>
            </a:pPr>
            <a:r>
              <a:rPr lang="en-US" sz="1500" dirty="0">
                <a:solidFill>
                  <a:schemeClr val="tx1"/>
                </a:solidFill>
              </a:rPr>
              <a:t>SigLIP2</a:t>
            </a:r>
            <a:endParaRPr lang="en-US" sz="1500" dirty="0"/>
          </a:p>
        </p:txBody>
      </p:sp>
      <p:sp>
        <p:nvSpPr>
          <p:cNvPr id="12" name="Text 9"/>
          <p:cNvSpPr txBox="1"/>
          <p:nvPr/>
        </p:nvSpPr>
        <p:spPr>
          <a:xfrm>
            <a:off x="10058400" y="3383280"/>
            <a:ext cx="1280160" cy="457200"/>
          </a:xfrm>
          <a:prstGeom prst="rect">
            <a:avLst/>
          </a:prstGeom>
          <a:noFill/>
          <a:ln/>
        </p:spPr>
        <p:txBody>
          <a:bodyPr wrap="square" lIns="635" tIns="635" rIns="635" bIns="635" rtlCol="0" anchor="ctr"/>
          <a:lstStyle/>
          <a:p>
            <a:pPr algn="r" indent="0" marL="0">
              <a:buNone/>
            </a:pPr>
            <a:r>
              <a:rPr lang="en-US" sz="1800" b="1" dirty="0">
                <a:solidFill>
                  <a:schemeClr val="tx1"/>
                </a:solidFill>
              </a:rPr>
              <a:t>23.8</a:t>
            </a:r>
            <a:endParaRPr lang="en-US" sz="1800" dirty="0"/>
          </a:p>
        </p:txBody>
      </p:sp>
      <p:sp>
        <p:nvSpPr>
          <p:cNvPr id="13" name="Text 10"/>
          <p:cNvSpPr txBox="1"/>
          <p:nvPr/>
        </p:nvSpPr>
        <p:spPr>
          <a:xfrm>
            <a:off x="8092440" y="3931920"/>
            <a:ext cx="2011680" cy="457200"/>
          </a:xfrm>
          <a:prstGeom prst="rect">
            <a:avLst/>
          </a:prstGeom>
          <a:noFill/>
          <a:ln/>
        </p:spPr>
        <p:txBody>
          <a:bodyPr wrap="square" lIns="635" tIns="635" rIns="635" bIns="635" rtlCol="0" anchor="ctr"/>
          <a:lstStyle/>
          <a:p>
            <a:pPr indent="0" marL="0">
              <a:buNone/>
            </a:pPr>
            <a:r>
              <a:rPr lang="en-US" sz="1500" dirty="0">
                <a:solidFill>
                  <a:schemeClr val="tx1"/>
                </a:solidFill>
              </a:rPr>
              <a:t>DINOv2-B 512</a:t>
            </a:r>
            <a:endParaRPr lang="en-US" sz="1500" dirty="0"/>
          </a:p>
        </p:txBody>
      </p:sp>
      <p:sp>
        <p:nvSpPr>
          <p:cNvPr id="14" name="Text 11"/>
          <p:cNvSpPr txBox="1"/>
          <p:nvPr/>
        </p:nvSpPr>
        <p:spPr>
          <a:xfrm>
            <a:off x="10058400" y="3931920"/>
            <a:ext cx="1280160" cy="457200"/>
          </a:xfrm>
          <a:prstGeom prst="rect">
            <a:avLst/>
          </a:prstGeom>
          <a:noFill/>
          <a:ln/>
        </p:spPr>
        <p:txBody>
          <a:bodyPr wrap="square" lIns="635" tIns="635" rIns="635" bIns="635" rtlCol="0" anchor="ctr"/>
          <a:lstStyle/>
          <a:p>
            <a:pPr algn="r" indent="0" marL="0">
              <a:buNone/>
            </a:pPr>
            <a:r>
              <a:rPr lang="en-US" sz="1800" b="1" dirty="0">
                <a:solidFill>
                  <a:schemeClr val="tx1"/>
                </a:solidFill>
              </a:rPr>
              <a:t>20.8</a:t>
            </a:r>
            <a:endParaRPr lang="en-US" sz="1800" dirty="0"/>
          </a:p>
        </p:txBody>
      </p:sp>
      <p:sp>
        <p:nvSpPr>
          <p:cNvPr id="15" name="Text 12"/>
          <p:cNvSpPr txBox="1"/>
          <p:nvPr/>
        </p:nvSpPr>
        <p:spPr>
          <a:xfrm>
            <a:off x="8092440" y="4480560"/>
            <a:ext cx="2011680" cy="457200"/>
          </a:xfrm>
          <a:prstGeom prst="rect">
            <a:avLst/>
          </a:prstGeom>
          <a:noFill/>
          <a:ln/>
        </p:spPr>
        <p:txBody>
          <a:bodyPr wrap="square" lIns="635" tIns="635" rIns="635" bIns="635" rtlCol="0" anchor="ctr"/>
          <a:lstStyle/>
          <a:p>
            <a:pPr indent="0" marL="0">
              <a:buNone/>
            </a:pPr>
            <a:r>
              <a:rPr lang="en-US" sz="1500" dirty="0">
                <a:solidFill>
                  <a:schemeClr val="tx1"/>
                </a:solidFill>
              </a:rPr>
              <a:t>DINOv2-B</a:t>
            </a:r>
            <a:endParaRPr lang="en-US" sz="1500" dirty="0"/>
          </a:p>
        </p:txBody>
      </p:sp>
      <p:sp>
        <p:nvSpPr>
          <p:cNvPr id="16" name="Text 13"/>
          <p:cNvSpPr txBox="1"/>
          <p:nvPr/>
        </p:nvSpPr>
        <p:spPr>
          <a:xfrm>
            <a:off x="10058400" y="4480560"/>
            <a:ext cx="1280160" cy="457200"/>
          </a:xfrm>
          <a:prstGeom prst="rect">
            <a:avLst/>
          </a:prstGeom>
          <a:noFill/>
          <a:ln/>
        </p:spPr>
        <p:txBody>
          <a:bodyPr wrap="square" lIns="635" tIns="635" rIns="635" bIns="635" rtlCol="0" anchor="ctr"/>
          <a:lstStyle/>
          <a:p>
            <a:pPr algn="r" indent="0" marL="0">
              <a:buNone/>
            </a:pPr>
            <a:r>
              <a:rPr lang="en-US" sz="1800" b="1" dirty="0">
                <a:solidFill>
                  <a:schemeClr val="tx1"/>
                </a:solidFill>
              </a:rPr>
              <a:t>19.9</a:t>
            </a:r>
            <a:endParaRPr lang="en-US" sz="1800" dirty="0"/>
          </a:p>
        </p:txBody>
      </p:sp>
      <p:sp>
        <p:nvSpPr>
          <p:cNvPr id="17" name="Text 14"/>
          <p:cNvSpPr txBox="1"/>
          <p:nvPr/>
        </p:nvSpPr>
        <p:spPr>
          <a:xfrm>
            <a:off x="8092440" y="5120640"/>
            <a:ext cx="3291840" cy="822960"/>
          </a:xfrm>
          <a:prstGeom prst="rect">
            <a:avLst/>
          </a:prstGeom>
          <a:noFill/>
          <a:ln/>
        </p:spPr>
        <p:txBody>
          <a:bodyPr wrap="square" lIns="635" tIns="635" rIns="635" bIns="635" rtlCol="0" anchor="t"/>
          <a:lstStyle/>
          <a:p>
            <a:pPr indent="0" marL="0">
              <a:buNone/>
            </a:pPr>
            <a:r>
              <a:rPr lang="en-US" sz="1300" i="1" dirty="0">
                <a:solidFill>
                  <a:schemeClr val="accent4"/>
                </a:solidFill>
              </a:rPr>
              <a:t>Semantic RAEs have ~5× the error floor of MAE (p99 error 0.18 vs 0.04).</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68580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Semantic RAEs redraw instead of copying</a:t>
            </a:r>
            <a:endParaRPr lang="en-US" sz="3600" dirty="0"/>
          </a:p>
        </p:txBody>
      </p:sp>
      <p:sp>
        <p:nvSpPr>
          <p:cNvPr id="3" name="Text 1"/>
          <p:cNvSpPr/>
          <p:nvPr>
            <p:ph idx="102" type="body" hasCustomPrompt="1"/>
          </p:nvPr>
        </p:nvSpPr>
        <p:spPr>
          <a:xfrm>
            <a:off x="548640" y="1005840"/>
            <a:ext cx="11064240" cy="457200"/>
          </a:xfrm>
          <a:prstGeom prst="rect">
            <a:avLst/>
          </a:prstGeom>
          <a:noFill/>
          <a:ln/>
        </p:spPr>
        <p:txBody>
          <a:bodyPr wrap="square" rtlCol="0" anchor="t"/>
          <a:lstStyle/>
          <a:p>
            <a:pPr indent="0" marL="0">
              <a:buNone/>
            </a:pPr>
            <a:r>
              <a:rPr lang="en-US" sz="1800" i="1" dirty="0">
                <a:solidFill>
                  <a:schemeClr val="tx2"/>
                </a:solidFill>
              </a:rPr>
              <a:t>Right content, wrong pixels: tone shifts and regenerated textures</a:t>
            </a:r>
            <a:endParaRPr lang="en-US" sz="1800" dirty="0"/>
          </a:p>
        </p:txBody>
      </p:sp>
      <p:pic>
        <p:nvPicPr>
          <p:cNvPr id="4" name="exp1-grid" descr="/home/claude/deck/img/exp1_recon.png">    </p:cNvPr>
          <p:cNvPicPr>
            <a:picLocks noChangeAspect="1"/>
          </p:cNvPicPr>
          <p:nvPr/>
        </p:nvPicPr>
        <p:blipFill>
          <a:blip r:embed="rId1"/>
          <a:stretch>
            <a:fillRect/>
          </a:stretch>
        </p:blipFill>
        <p:spPr>
          <a:xfrm>
            <a:off x="822960" y="2011680"/>
            <a:ext cx="6309360" cy="4184780"/>
          </a:xfrm>
          <a:prstGeom prst="rect">
            <a:avLst/>
          </a:prstGeom>
        </p:spPr>
      </p:pic>
      <p:sp>
        <p:nvSpPr>
          <p:cNvPr id="5" name="Text 2"/>
          <p:cNvSpPr txBox="1"/>
          <p:nvPr/>
        </p:nvSpPr>
        <p:spPr>
          <a:xfrm>
            <a:off x="822960" y="1600200"/>
            <a:ext cx="2066544" cy="365760"/>
          </a:xfrm>
          <a:prstGeom prst="rect">
            <a:avLst/>
          </a:prstGeom>
          <a:noFill/>
          <a:ln/>
        </p:spPr>
        <p:txBody>
          <a:bodyPr wrap="square" lIns="635" tIns="635" rIns="635" bIns="635" rtlCol="0" anchor="t"/>
          <a:lstStyle/>
          <a:p>
            <a:pPr algn="ctr" indent="0" marL="0">
              <a:buNone/>
            </a:pPr>
            <a:r>
              <a:rPr lang="en-US" sz="1400" b="1" dirty="0">
                <a:solidFill>
                  <a:schemeClr val="tx1"/>
                </a:solidFill>
              </a:rPr>
              <a:t>input</a:t>
            </a:r>
            <a:endParaRPr lang="en-US" sz="1400" dirty="0"/>
          </a:p>
        </p:txBody>
      </p:sp>
      <p:sp>
        <p:nvSpPr>
          <p:cNvPr id="6" name="Text 3"/>
          <p:cNvSpPr txBox="1"/>
          <p:nvPr/>
        </p:nvSpPr>
        <p:spPr>
          <a:xfrm>
            <a:off x="2944368" y="1600200"/>
            <a:ext cx="2066544" cy="365760"/>
          </a:xfrm>
          <a:prstGeom prst="rect">
            <a:avLst/>
          </a:prstGeom>
          <a:noFill/>
          <a:ln/>
        </p:spPr>
        <p:txBody>
          <a:bodyPr wrap="square" lIns="635" tIns="635" rIns="635" bIns="635" rtlCol="0" anchor="t"/>
          <a:lstStyle/>
          <a:p>
            <a:pPr algn="ctr" indent="0" marL="0">
              <a:buNone/>
            </a:pPr>
            <a:r>
              <a:rPr lang="en-US" sz="1400" b="1" dirty="0">
                <a:solidFill>
                  <a:schemeClr val="tx1"/>
                </a:solidFill>
              </a:rPr>
              <a:t>DINOv2-B recon</a:t>
            </a:r>
            <a:endParaRPr lang="en-US" sz="1400" dirty="0"/>
          </a:p>
        </p:txBody>
      </p:sp>
      <p:sp>
        <p:nvSpPr>
          <p:cNvPr id="7" name="Text 4"/>
          <p:cNvSpPr txBox="1"/>
          <p:nvPr/>
        </p:nvSpPr>
        <p:spPr>
          <a:xfrm>
            <a:off x="5065776" y="1600200"/>
            <a:ext cx="2066544" cy="365760"/>
          </a:xfrm>
          <a:prstGeom prst="rect">
            <a:avLst/>
          </a:prstGeom>
          <a:noFill/>
          <a:ln/>
        </p:spPr>
        <p:txBody>
          <a:bodyPr wrap="square" lIns="635" tIns="635" rIns="635" bIns="635" rtlCol="0" anchor="t"/>
          <a:lstStyle/>
          <a:p>
            <a:pPr algn="ctr" indent="0" marL="0">
              <a:buNone/>
            </a:pPr>
            <a:r>
              <a:rPr lang="en-US" sz="1400" b="1" dirty="0">
                <a:solidFill>
                  <a:schemeClr val="tx1"/>
                </a:solidFill>
              </a:rPr>
              <a:t>MAE recon</a:t>
            </a:r>
            <a:endParaRPr lang="en-US" sz="1400" dirty="0"/>
          </a:p>
        </p:txBody>
      </p:sp>
      <p:sp>
        <p:nvSpPr>
          <p:cNvPr id="8" name="take"/>
          <p:cNvSpPr/>
          <p:nvPr/>
        </p:nvSpPr>
        <p:spPr>
          <a:xfrm>
            <a:off x="8138160" y="1600200"/>
            <a:ext cx="3474720" cy="4572000"/>
          </a:xfrm>
          <a:prstGeom prst="roundRect">
            <a:avLst>
              <a:gd name="adj" fmla="val 3158"/>
            </a:avLst>
          </a:prstGeom>
          <a:solidFill>
            <a:schemeClr val="accent6"/>
          </a:solidFill>
          <a:ln w="12700">
            <a:solidFill>
              <a:schemeClr val="accent6"/>
            </a:solidFill>
            <a:prstDash val="solid"/>
          </a:ln>
        </p:spPr>
      </p:sp>
      <p:sp>
        <p:nvSpPr>
          <p:cNvPr id="9" name="Text 6"/>
          <p:cNvSpPr txBox="1"/>
          <p:nvPr/>
        </p:nvSpPr>
        <p:spPr>
          <a:xfrm>
            <a:off x="8321040" y="1737360"/>
            <a:ext cx="3108960" cy="411480"/>
          </a:xfrm>
          <a:prstGeom prst="rect">
            <a:avLst/>
          </a:prstGeom>
          <a:noFill/>
          <a:ln/>
        </p:spPr>
        <p:txBody>
          <a:bodyPr wrap="square" lIns="635" tIns="635" rIns="635" bIns="635" rtlCol="0" anchor="t"/>
          <a:lstStyle/>
          <a:p>
            <a:pPr indent="0" marL="0">
              <a:buNone/>
            </a:pPr>
            <a:r>
              <a:rPr lang="en-US" sz="1800" b="1" dirty="0">
                <a:solidFill>
                  <a:schemeClr val="tx1"/>
                </a:solidFill>
              </a:rPr>
              <a:t>Consequences</a:t>
            </a:r>
            <a:endParaRPr lang="en-US" sz="1800" dirty="0"/>
          </a:p>
        </p:txBody>
      </p:sp>
      <p:sp>
        <p:nvSpPr>
          <p:cNvPr id="10" name="Text 7"/>
          <p:cNvSpPr txBox="1"/>
          <p:nvPr/>
        </p:nvSpPr>
        <p:spPr>
          <a:xfrm>
            <a:off x="8321040" y="2194560"/>
            <a:ext cx="3154680" cy="3840480"/>
          </a:xfrm>
          <a:prstGeom prst="rect">
            <a:avLst/>
          </a:prstGeom>
          <a:noFill/>
          <a:ln/>
        </p:spPr>
        <p:txBody>
          <a:bodyPr wrap="square" rtlCol="0" anchor="t"/>
          <a:lstStyle/>
          <a:p>
            <a:pPr marL="342900" indent="-342900">
              <a:spcAft>
                <a:spcPts val="600"/>
              </a:spcAft>
              <a:buSzPct val="100000"/>
              <a:buChar char="•"/>
            </a:pPr>
            <a:r>
              <a:rPr lang="en-US" sz="1400" dirty="0">
                <a:solidFill>
                  <a:schemeClr val="tx1"/>
                </a:solidFill>
              </a:rPr>
              <a:t>Pixel residuals from DINOv2/SigLIP RAEs are unusable for scoring</a:t>
            </a:r>
            <a:endParaRPr lang="en-US" sz="1400" dirty="0"/>
          </a:p>
          <a:p>
            <a:pPr marL="342900" indent="-342900">
              <a:spcAft>
                <a:spcPts val="600"/>
              </a:spcAft>
              <a:buSzPct val="100000"/>
              <a:buChar char="•"/>
            </a:pPr>
            <a:r>
              <a:rPr lang="en-US" sz="1400" dirty="0">
                <a:solidFill>
                  <a:schemeClr val="tx1"/>
                </a:solidFill>
              </a:rPr>
              <a:t>So v1 scores on tokens only</a:t>
            </a:r>
            <a:endParaRPr lang="en-US" sz="1400" dirty="0"/>
          </a:p>
          <a:p>
            <a:pPr marL="342900" indent="-342900">
              <a:spcAft>
                <a:spcPts val="600"/>
              </a:spcAft>
              <a:buSzPct val="100000"/>
              <a:buChar char="•"/>
            </a:pPr>
            <a:r>
              <a:rPr lang="en-US" sz="1400" dirty="0">
                <a:solidFill>
                  <a:schemeClr val="tx1"/>
                </a:solidFill>
              </a:rPr>
              <a:t>Every decoder reproduces defects (hazelnut crack): a plain RAE does not remove anomalies</a:t>
            </a:r>
            <a:endParaRPr lang="en-US" sz="1400" dirty="0"/>
          </a:p>
          <a:p>
            <a:pPr marL="342900" indent="-342900">
              <a:spcAft>
                <a:spcPts val="600"/>
              </a:spcAft>
              <a:buSzPct val="100000"/>
              <a:buChar char="•"/>
            </a:pPr>
            <a:r>
              <a:rPr lang="en-US" sz="1400" dirty="0">
                <a:solidFill>
                  <a:schemeClr val="tx1"/>
                </a:solidFill>
              </a:rPr>
              <a:t>Trade-off: most faithful latent (MAE) vs most generative latent (DINOv2)</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68580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Exp 2: latent DRAEM pilot</a:t>
            </a:r>
            <a:endParaRPr lang="en-US" sz="3600" dirty="0"/>
          </a:p>
        </p:txBody>
      </p:sp>
      <p:sp>
        <p:nvSpPr>
          <p:cNvPr id="3" name="Text 1"/>
          <p:cNvSpPr/>
          <p:nvPr>
            <p:ph idx="102" type="body" hasCustomPrompt="1"/>
          </p:nvPr>
        </p:nvSpPr>
        <p:spPr>
          <a:xfrm>
            <a:off x="548640" y="1005840"/>
            <a:ext cx="11064240" cy="457200"/>
          </a:xfrm>
          <a:prstGeom prst="rect">
            <a:avLst/>
          </a:prstGeom>
          <a:noFill/>
          <a:ln/>
        </p:spPr>
        <p:txBody>
          <a:bodyPr wrap="square" rtlCol="0" anchor="t"/>
          <a:lstStyle/>
          <a:p>
            <a:pPr indent="0" marL="0">
              <a:buNone/>
            </a:pPr>
            <a:r>
              <a:rPr lang="en-US" sz="1800" i="1" dirty="0">
                <a:solidFill>
                  <a:schemeClr val="tx2"/>
                </a:solidFill>
              </a:rPr>
              <a:t>5 MVTec categories × 5 synthesis modes × 2 latents; 3000 steps; single seed</a:t>
            </a:r>
            <a:endParaRPr lang="en-US" sz="1800" dirty="0"/>
          </a:p>
        </p:txBody>
      </p:sp>
      <p:sp>
        <p:nvSpPr>
          <p:cNvPr id="4" name="f0"/>
          <p:cNvSpPr/>
          <p:nvPr/>
        </p:nvSpPr>
        <p:spPr>
          <a:xfrm>
            <a:off x="640080" y="1691640"/>
            <a:ext cx="10881360" cy="731520"/>
          </a:xfrm>
          <a:prstGeom prst="roundRect">
            <a:avLst>
              <a:gd name="adj" fmla="val 15000"/>
            </a:avLst>
          </a:prstGeom>
          <a:solidFill>
            <a:schemeClr val="bg2"/>
          </a:solidFill>
          <a:ln w="12700">
            <a:solidFill>
              <a:schemeClr val="bg2"/>
            </a:solidFill>
            <a:prstDash val="solid"/>
          </a:ln>
        </p:spPr>
      </p:sp>
      <p:sp>
        <p:nvSpPr>
          <p:cNvPr id="5" name="Text 3"/>
          <p:cNvSpPr txBox="1"/>
          <p:nvPr/>
        </p:nvSpPr>
        <p:spPr>
          <a:xfrm>
            <a:off x="868680" y="1801368"/>
            <a:ext cx="2011680" cy="502920"/>
          </a:xfrm>
          <a:prstGeom prst="rect">
            <a:avLst/>
          </a:prstGeom>
          <a:noFill/>
          <a:ln/>
        </p:spPr>
        <p:txBody>
          <a:bodyPr wrap="square" lIns="635" tIns="635" rIns="635" bIns="635" rtlCol="0" anchor="ctr"/>
          <a:lstStyle/>
          <a:p>
            <a:pPr indent="0" marL="0">
              <a:buNone/>
            </a:pPr>
            <a:r>
              <a:rPr lang="en-US" sz="1600" b="1" dirty="0">
                <a:solidFill>
                  <a:schemeClr val="accent2"/>
                </a:solidFill>
              </a:rPr>
              <a:t>Categories</a:t>
            </a:r>
            <a:endParaRPr lang="en-US" sz="1600" dirty="0"/>
          </a:p>
        </p:txBody>
      </p:sp>
      <p:sp>
        <p:nvSpPr>
          <p:cNvPr id="6" name="Text 4"/>
          <p:cNvSpPr txBox="1"/>
          <p:nvPr/>
        </p:nvSpPr>
        <p:spPr>
          <a:xfrm>
            <a:off x="2926080" y="1801368"/>
            <a:ext cx="8412480" cy="502920"/>
          </a:xfrm>
          <a:prstGeom prst="rect">
            <a:avLst/>
          </a:prstGeom>
          <a:noFill/>
          <a:ln/>
        </p:spPr>
        <p:txBody>
          <a:bodyPr wrap="square" lIns="635" tIns="635" rIns="635" bIns="635" rtlCol="0" anchor="ctr"/>
          <a:lstStyle/>
          <a:p>
            <a:pPr indent="0" marL="0">
              <a:buNone/>
            </a:pPr>
            <a:r>
              <a:rPr lang="en-US" sz="1600" dirty="0">
                <a:solidFill>
                  <a:schemeClr val="tx1"/>
                </a:solidFill>
              </a:rPr>
              <a:t>carpet, grid (texture) · hazelnut, screw, transistor (object)</a:t>
            </a:r>
            <a:endParaRPr lang="en-US" sz="1600" dirty="0"/>
          </a:p>
        </p:txBody>
      </p:sp>
      <p:sp>
        <p:nvSpPr>
          <p:cNvPr id="7" name="f1"/>
          <p:cNvSpPr/>
          <p:nvPr/>
        </p:nvSpPr>
        <p:spPr>
          <a:xfrm>
            <a:off x="640080" y="2560320"/>
            <a:ext cx="10881360" cy="731520"/>
          </a:xfrm>
          <a:prstGeom prst="roundRect">
            <a:avLst>
              <a:gd name="adj" fmla="val 15000"/>
            </a:avLst>
          </a:prstGeom>
          <a:solidFill>
            <a:schemeClr val="bg1"/>
          </a:solidFill>
          <a:ln w="12700">
            <a:solidFill>
              <a:schemeClr val="bg1"/>
            </a:solidFill>
            <a:prstDash val="solid"/>
          </a:ln>
        </p:spPr>
      </p:sp>
      <p:sp>
        <p:nvSpPr>
          <p:cNvPr id="8" name="Text 6"/>
          <p:cNvSpPr txBox="1"/>
          <p:nvPr/>
        </p:nvSpPr>
        <p:spPr>
          <a:xfrm>
            <a:off x="868680" y="2670048"/>
            <a:ext cx="2011680" cy="502920"/>
          </a:xfrm>
          <a:prstGeom prst="rect">
            <a:avLst/>
          </a:prstGeom>
          <a:noFill/>
          <a:ln/>
        </p:spPr>
        <p:txBody>
          <a:bodyPr wrap="square" lIns="635" tIns="635" rIns="635" bIns="635" rtlCol="0" anchor="ctr"/>
          <a:lstStyle/>
          <a:p>
            <a:pPr indent="0" marL="0">
              <a:buNone/>
            </a:pPr>
            <a:r>
              <a:rPr lang="en-US" sz="1600" b="1" dirty="0">
                <a:solidFill>
                  <a:schemeClr val="accent2"/>
                </a:solidFill>
              </a:rPr>
              <a:t>Latents</a:t>
            </a:r>
            <a:endParaRPr lang="en-US" sz="1600" dirty="0"/>
          </a:p>
        </p:txBody>
      </p:sp>
      <p:sp>
        <p:nvSpPr>
          <p:cNvPr id="9" name="Text 7"/>
          <p:cNvSpPr txBox="1"/>
          <p:nvPr/>
        </p:nvSpPr>
        <p:spPr>
          <a:xfrm>
            <a:off x="2926080" y="2670048"/>
            <a:ext cx="8412480" cy="502920"/>
          </a:xfrm>
          <a:prstGeom prst="rect">
            <a:avLst/>
          </a:prstGeom>
          <a:noFill/>
          <a:ln/>
        </p:spPr>
        <p:txBody>
          <a:bodyPr wrap="square" lIns="635" tIns="635" rIns="635" bIns="635" rtlCol="0" anchor="ctr"/>
          <a:lstStyle/>
          <a:p>
            <a:pPr indent="0" marL="0">
              <a:buNone/>
            </a:pPr>
            <a:r>
              <a:rPr lang="en-US" sz="1600" dirty="0">
                <a:solidFill>
                  <a:schemeClr val="tx1"/>
                </a:solidFill>
              </a:rPr>
              <a:t>DINOv2-B and MAE RAE encoders, frozen</a:t>
            </a:r>
            <a:endParaRPr lang="en-US" sz="1600" dirty="0"/>
          </a:p>
        </p:txBody>
      </p:sp>
      <p:sp>
        <p:nvSpPr>
          <p:cNvPr id="10" name="f2"/>
          <p:cNvSpPr/>
          <p:nvPr/>
        </p:nvSpPr>
        <p:spPr>
          <a:xfrm>
            <a:off x="640080" y="3429000"/>
            <a:ext cx="10881360" cy="731520"/>
          </a:xfrm>
          <a:prstGeom prst="roundRect">
            <a:avLst>
              <a:gd name="adj" fmla="val 15000"/>
            </a:avLst>
          </a:prstGeom>
          <a:solidFill>
            <a:schemeClr val="bg2"/>
          </a:solidFill>
          <a:ln w="12700">
            <a:solidFill>
              <a:schemeClr val="bg2"/>
            </a:solidFill>
            <a:prstDash val="solid"/>
          </a:ln>
        </p:spPr>
      </p:sp>
      <p:sp>
        <p:nvSpPr>
          <p:cNvPr id="11" name="Text 9"/>
          <p:cNvSpPr txBox="1"/>
          <p:nvPr/>
        </p:nvSpPr>
        <p:spPr>
          <a:xfrm>
            <a:off x="868680" y="3538728"/>
            <a:ext cx="2011680" cy="502920"/>
          </a:xfrm>
          <a:prstGeom prst="rect">
            <a:avLst/>
          </a:prstGeom>
          <a:noFill/>
          <a:ln/>
        </p:spPr>
        <p:txBody>
          <a:bodyPr wrap="square" lIns="635" tIns="635" rIns="635" bIns="635" rtlCol="0" anchor="ctr"/>
          <a:lstStyle/>
          <a:p>
            <a:pPr indent="0" marL="0">
              <a:buNone/>
            </a:pPr>
            <a:r>
              <a:rPr lang="en-US" sz="1600" b="1" dirty="0">
                <a:solidFill>
                  <a:schemeClr val="accent2"/>
                </a:solidFill>
              </a:rPr>
              <a:t>Modes</a:t>
            </a:r>
            <a:endParaRPr lang="en-US" sz="1600" dirty="0"/>
          </a:p>
        </p:txBody>
      </p:sp>
      <p:sp>
        <p:nvSpPr>
          <p:cNvPr id="12" name="Text 10"/>
          <p:cNvSpPr txBox="1"/>
          <p:nvPr/>
        </p:nvSpPr>
        <p:spPr>
          <a:xfrm>
            <a:off x="2926080" y="3538728"/>
            <a:ext cx="8412480" cy="502920"/>
          </a:xfrm>
          <a:prstGeom prst="rect">
            <a:avLst/>
          </a:prstGeom>
          <a:noFill/>
          <a:ln/>
        </p:spPr>
        <p:txBody>
          <a:bodyPr wrap="square" lIns="635" tIns="635" rIns="635" bIns="635" rtlCol="0" anchor="ctr"/>
          <a:lstStyle/>
          <a:p>
            <a:pPr indent="0" marL="0">
              <a:buNone/>
            </a:pPr>
            <a:r>
              <a:rPr lang="en-US" sz="1600" dirty="0">
                <a:solidFill>
                  <a:schemeClr val="tx1"/>
                </a:solidFill>
              </a:rPr>
              <a:t>pixel · latent_tex · latent_self · latent_noise · mix</a:t>
            </a:r>
            <a:endParaRPr lang="en-US" sz="1600" dirty="0"/>
          </a:p>
        </p:txBody>
      </p:sp>
      <p:sp>
        <p:nvSpPr>
          <p:cNvPr id="13" name="f3"/>
          <p:cNvSpPr/>
          <p:nvPr/>
        </p:nvSpPr>
        <p:spPr>
          <a:xfrm>
            <a:off x="640080" y="4297680"/>
            <a:ext cx="10881360" cy="731520"/>
          </a:xfrm>
          <a:prstGeom prst="roundRect">
            <a:avLst>
              <a:gd name="adj" fmla="val 15000"/>
            </a:avLst>
          </a:prstGeom>
          <a:solidFill>
            <a:schemeClr val="bg1"/>
          </a:solidFill>
          <a:ln w="12700">
            <a:solidFill>
              <a:schemeClr val="bg1"/>
            </a:solidFill>
            <a:prstDash val="solid"/>
          </a:ln>
        </p:spPr>
      </p:sp>
      <p:sp>
        <p:nvSpPr>
          <p:cNvPr id="14" name="Text 12"/>
          <p:cNvSpPr txBox="1"/>
          <p:nvPr/>
        </p:nvSpPr>
        <p:spPr>
          <a:xfrm>
            <a:off x="868680" y="4407408"/>
            <a:ext cx="2011680" cy="502920"/>
          </a:xfrm>
          <a:prstGeom prst="rect">
            <a:avLst/>
          </a:prstGeom>
          <a:noFill/>
          <a:ln/>
        </p:spPr>
        <p:txBody>
          <a:bodyPr wrap="square" lIns="635" tIns="635" rIns="635" bIns="635" rtlCol="0" anchor="ctr"/>
          <a:lstStyle/>
          <a:p>
            <a:pPr indent="0" marL="0">
              <a:buNone/>
            </a:pPr>
            <a:r>
              <a:rPr lang="en-US" sz="1600" b="1" dirty="0">
                <a:solidFill>
                  <a:schemeClr val="accent2"/>
                </a:solidFill>
              </a:rPr>
              <a:t>Scores</a:t>
            </a:r>
            <a:endParaRPr lang="en-US" sz="1600" dirty="0"/>
          </a:p>
        </p:txBody>
      </p:sp>
      <p:sp>
        <p:nvSpPr>
          <p:cNvPr id="15" name="Text 13"/>
          <p:cNvSpPr txBox="1"/>
          <p:nvPr/>
        </p:nvSpPr>
        <p:spPr>
          <a:xfrm>
            <a:off x="2926080" y="4407408"/>
            <a:ext cx="8412480" cy="502920"/>
          </a:xfrm>
          <a:prstGeom prst="rect">
            <a:avLst/>
          </a:prstGeom>
          <a:noFill/>
          <a:ln/>
        </p:spPr>
        <p:txBody>
          <a:bodyPr wrap="square" lIns="635" tIns="635" rIns="635" bIns="635" rtlCol="0" anchor="ctr"/>
          <a:lstStyle/>
          <a:p>
            <a:pPr indent="0" marL="0">
              <a:buNone/>
            </a:pPr>
            <a:r>
              <a:rPr lang="en-US" sz="1600" dirty="0">
                <a:solidFill>
                  <a:schemeClr val="tx1"/>
                </a:solidFill>
              </a:rPr>
              <a:t>disc (discriminator) · resid (restorer) · knn (control)</a:t>
            </a:r>
            <a:endParaRPr lang="en-US" sz="1600" dirty="0"/>
          </a:p>
        </p:txBody>
      </p:sp>
      <p:sp>
        <p:nvSpPr>
          <p:cNvPr id="16" name="f4"/>
          <p:cNvSpPr/>
          <p:nvPr/>
        </p:nvSpPr>
        <p:spPr>
          <a:xfrm>
            <a:off x="640080" y="5166360"/>
            <a:ext cx="10881360" cy="731520"/>
          </a:xfrm>
          <a:prstGeom prst="roundRect">
            <a:avLst>
              <a:gd name="adj" fmla="val 15000"/>
            </a:avLst>
          </a:prstGeom>
          <a:solidFill>
            <a:schemeClr val="bg2"/>
          </a:solidFill>
          <a:ln w="12700">
            <a:solidFill>
              <a:schemeClr val="bg2"/>
            </a:solidFill>
            <a:prstDash val="solid"/>
          </a:ln>
        </p:spPr>
      </p:sp>
      <p:sp>
        <p:nvSpPr>
          <p:cNvPr id="17" name="Text 15"/>
          <p:cNvSpPr txBox="1"/>
          <p:nvPr/>
        </p:nvSpPr>
        <p:spPr>
          <a:xfrm>
            <a:off x="868680" y="5276088"/>
            <a:ext cx="2011680" cy="502920"/>
          </a:xfrm>
          <a:prstGeom prst="rect">
            <a:avLst/>
          </a:prstGeom>
          <a:noFill/>
          <a:ln/>
        </p:spPr>
        <p:txBody>
          <a:bodyPr wrap="square" lIns="635" tIns="635" rIns="635" bIns="635" rtlCol="0" anchor="ctr"/>
          <a:lstStyle/>
          <a:p>
            <a:pPr indent="0" marL="0">
              <a:buNone/>
            </a:pPr>
            <a:r>
              <a:rPr lang="en-US" sz="1600" b="1" dirty="0">
                <a:solidFill>
                  <a:schemeClr val="accent2"/>
                </a:solidFill>
              </a:rPr>
              <a:t>Metrics</a:t>
            </a:r>
            <a:endParaRPr lang="en-US" sz="1600" dirty="0"/>
          </a:p>
        </p:txBody>
      </p:sp>
      <p:sp>
        <p:nvSpPr>
          <p:cNvPr id="18" name="Text 16"/>
          <p:cNvSpPr txBox="1"/>
          <p:nvPr/>
        </p:nvSpPr>
        <p:spPr>
          <a:xfrm>
            <a:off x="2926080" y="5276088"/>
            <a:ext cx="8412480" cy="502920"/>
          </a:xfrm>
          <a:prstGeom prst="rect">
            <a:avLst/>
          </a:prstGeom>
          <a:noFill/>
          <a:ln/>
        </p:spPr>
        <p:txBody>
          <a:bodyPr wrap="square" lIns="635" tIns="635" rIns="635" bIns="635" rtlCol="0" anchor="ctr"/>
          <a:lstStyle/>
          <a:p>
            <a:pPr indent="0" marL="0">
              <a:buNone/>
            </a:pPr>
            <a:r>
              <a:rPr lang="en-US" sz="1600" dirty="0">
                <a:solidFill>
                  <a:schemeClr val="tx1"/>
                </a:solidFill>
              </a:rPr>
              <a:t>image AUROC · pixel AUROC · pixel AP · AUPRO@30% FPR</a:t>
            </a:r>
            <a:endParaRPr lang="en-US" sz="1600" dirty="0"/>
          </a:p>
        </p:txBody>
      </p:sp>
      <p:sp>
        <p:nvSpPr>
          <p:cNvPr id="19" name="Text 17"/>
          <p:cNvSpPr txBox="1"/>
          <p:nvPr/>
        </p:nvSpPr>
        <p:spPr>
          <a:xfrm>
            <a:off x="640080" y="6080760"/>
            <a:ext cx="10881360" cy="365760"/>
          </a:xfrm>
          <a:prstGeom prst="rect">
            <a:avLst/>
          </a:prstGeom>
          <a:noFill/>
          <a:ln/>
        </p:spPr>
        <p:txBody>
          <a:bodyPr wrap="square" lIns="635" tIns="635" rIns="635" bIns="635" rtlCol="0" anchor="t"/>
          <a:lstStyle/>
          <a:p>
            <a:pPr indent="0" marL="0">
              <a:buNone/>
            </a:pPr>
            <a:r>
              <a:rPr lang="en-US" sz="1400" i="1" dirty="0">
                <a:solidFill>
                  <a:schemeClr val="tx2"/>
                </a:solidFill>
              </a:rPr>
              <a:t>Three questions: does training beat frozen kNN?  Can anomalies be made directly in token space?  Which latent?</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68580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On average, frozen kNN is still hard to beat</a:t>
            </a:r>
            <a:endParaRPr lang="en-US" sz="3600" dirty="0"/>
          </a:p>
        </p:txBody>
      </p:sp>
      <p:sp>
        <p:nvSpPr>
          <p:cNvPr id="3" name="Text 1"/>
          <p:cNvSpPr/>
          <p:nvPr>
            <p:ph idx="102" type="body" hasCustomPrompt="1"/>
          </p:nvPr>
        </p:nvSpPr>
        <p:spPr>
          <a:xfrm>
            <a:off x="548640" y="1005840"/>
            <a:ext cx="11064240" cy="457200"/>
          </a:xfrm>
          <a:prstGeom prst="rect">
            <a:avLst/>
          </a:prstGeom>
          <a:noFill/>
          <a:ln/>
        </p:spPr>
        <p:txBody>
          <a:bodyPr wrap="square" rtlCol="0" anchor="t"/>
          <a:lstStyle/>
          <a:p>
            <a:pPr indent="0" marL="0">
              <a:buNone/>
            </a:pPr>
            <a:r>
              <a:rPr lang="en-US" sz="1800" i="1" dirty="0">
                <a:solidFill>
                  <a:schemeClr val="tx2"/>
                </a:solidFill>
              </a:rPr>
              <a:t>DINOv2-B, mean over 5 categories; amber = best in column</a:t>
            </a:r>
            <a:endParaRPr lang="en-US" sz="1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7589520" cy="914400"/>
        </p:xfrm>
        <a:graphic>
          <a:graphicData uri="http://schemas.openxmlformats.org/drawingml/2006/table">
            <a:tbl>
              <a:tblPr/>
              <a:tblGrid>
                <a:gridCol w="3017520"/>
                <a:gridCol w="1143000"/>
                <a:gridCol w="1143000"/>
                <a:gridCol w="1143000"/>
                <a:gridCol w="1143000"/>
              </a:tblGrid>
              <a:tr h="502920">
                <a:tc>
                  <a:txBody>
                    <a:bodyPr/>
                    <a:lstStyle/>
                    <a:p>
                      <a:pPr algn="ctr" indent="0" marL="0">
                        <a:buNone/>
                      </a:pPr>
                      <a:r>
                        <a:rPr lang="en-US" sz="1500" b="1" dirty="0">
                          <a:solidFill>
                            <a:schemeClr val="bg1"/>
                          </a:solidFill>
                        </a:rPr>
                        <a:t>Score</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Image AUROC</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Pixel AUROC</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Pixel AP</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AUPRO</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tx1"/>
                    </a:solidFill>
                  </a:tcPr>
                </a:tc>
              </a:tr>
              <a:tr h="502920">
                <a:tc>
                  <a:txBody>
                    <a:bodyPr/>
                    <a:lstStyle/>
                    <a:p>
                      <a:pPr algn="l" indent="0" marL="0">
                        <a:buNone/>
                      </a:pPr>
                      <a:r>
                        <a:rPr lang="en-US" sz="1500" b="1" dirty="0">
                          <a:solidFill>
                            <a:schemeClr val="tx1"/>
                          </a:solidFill>
                        </a:rPr>
                        <a:t>kNN on frozen tokens (control)</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0.969</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0.956</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0.413</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0.861</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2"/>
                    </a:solidFill>
                  </a:tcPr>
                </a:tc>
              </a:tr>
              <a:tr h="502920">
                <a:tc>
                  <a:txBody>
                    <a:bodyPr/>
                    <a:lstStyle/>
                    <a:p>
                      <a:pPr algn="l" indent="0" marL="0">
                        <a:buNone/>
                      </a:pPr>
                      <a:r>
                        <a:rPr lang="en-US" sz="1500" dirty="0">
                          <a:solidFill>
                            <a:schemeClr val="tx1"/>
                          </a:solidFill>
                        </a:rPr>
                        <a:t>pixel · disc</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0.943</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0.942</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0.520</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1"/>
                          </a:solidFill>
                        </a:rPr>
                        <a:t>0.876</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r>
              <a:tr h="502920">
                <a:tc>
                  <a:txBody>
                    <a:bodyPr/>
                    <a:lstStyle/>
                    <a:p>
                      <a:pPr algn="l" indent="0" marL="0">
                        <a:buNone/>
                      </a:pPr>
                      <a:r>
                        <a:rPr lang="en-US" sz="1500" dirty="0">
                          <a:solidFill>
                            <a:schemeClr val="tx1"/>
                          </a:solidFill>
                        </a:rPr>
                        <a:t>mix · disc</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0.921</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0.947</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1"/>
                          </a:solidFill>
                        </a:rPr>
                        <a:t>0.533</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0.867</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r>
              <a:tr h="502920">
                <a:tc>
                  <a:txBody>
                    <a:bodyPr/>
                    <a:lstStyle/>
                    <a:p>
                      <a:pPr algn="l" indent="0" marL="0">
                        <a:buNone/>
                      </a:pPr>
                      <a:r>
                        <a:rPr lang="en-US" sz="1500" dirty="0">
                          <a:solidFill>
                            <a:schemeClr val="tx1"/>
                          </a:solidFill>
                        </a:rPr>
                        <a:t>mix · resid</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0.962</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1"/>
                          </a:solidFill>
                        </a:rPr>
                        <a:t>0.971</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0.419</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0.817</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r>
              <a:tr h="502920">
                <a:tc>
                  <a:txBody>
                    <a:bodyPr/>
                    <a:lstStyle/>
                    <a:p>
                      <a:pPr algn="l" indent="0" marL="0">
                        <a:buNone/>
                      </a:pPr>
                      <a:r>
                        <a:rPr lang="en-US" sz="1500" dirty="0">
                          <a:solidFill>
                            <a:schemeClr val="tx1"/>
                          </a:solidFill>
                        </a:rPr>
                        <a:t>latent_noise · resid</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1"/>
                          </a:solidFill>
                        </a:rPr>
                        <a:t>0.972</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0.965</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0.365</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0.842</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r>
              <a:tr h="502920">
                <a:tc>
                  <a:txBody>
                    <a:bodyPr/>
                    <a:lstStyle/>
                    <a:p>
                      <a:pPr algn="l" indent="0" marL="0">
                        <a:buNone/>
                      </a:pPr>
                      <a:r>
                        <a:rPr lang="en-US" sz="1500" dirty="0">
                          <a:solidFill>
                            <a:schemeClr val="tx1"/>
                          </a:solidFill>
                        </a:rPr>
                        <a:t>latent_self · disc</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0.905</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0.923</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0.355</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0.799</a:t>
                      </a:r>
                      <a:endParaRPr lang="en-US" sz="15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r>
            </a:tbl>
          </a:graphicData>
        </a:graphic>
      </p:graphicFrame>
      <p:sp>
        <p:nvSpPr>
          <p:cNvPr id="5" name="read"/>
          <p:cNvSpPr/>
          <p:nvPr/>
        </p:nvSpPr>
        <p:spPr>
          <a:xfrm>
            <a:off x="8549640" y="1691640"/>
            <a:ext cx="3063240" cy="4023360"/>
          </a:xfrm>
          <a:prstGeom prst="roundRect">
            <a:avLst>
              <a:gd name="adj" fmla="val 3582"/>
            </a:avLst>
          </a:prstGeom>
          <a:solidFill>
            <a:schemeClr val="accent6"/>
          </a:solidFill>
          <a:ln w="12700">
            <a:solidFill>
              <a:schemeClr val="accent6"/>
            </a:solidFill>
            <a:prstDash val="solid"/>
          </a:ln>
        </p:spPr>
      </p:sp>
      <p:sp>
        <p:nvSpPr>
          <p:cNvPr id="6" name="Text 3"/>
          <p:cNvSpPr txBox="1"/>
          <p:nvPr/>
        </p:nvSpPr>
        <p:spPr>
          <a:xfrm>
            <a:off x="8732520" y="1828800"/>
            <a:ext cx="2743200" cy="411480"/>
          </a:xfrm>
          <a:prstGeom prst="rect">
            <a:avLst/>
          </a:prstGeom>
          <a:noFill/>
          <a:ln/>
        </p:spPr>
        <p:txBody>
          <a:bodyPr wrap="square" lIns="635" tIns="635" rIns="635" bIns="635" rtlCol="0" anchor="t"/>
          <a:lstStyle/>
          <a:p>
            <a:pPr indent="0" marL="0">
              <a:buNone/>
            </a:pPr>
            <a:r>
              <a:rPr lang="en-US" sz="1800" b="1" dirty="0">
                <a:solidFill>
                  <a:schemeClr val="tx1"/>
                </a:solidFill>
              </a:rPr>
              <a:t>Reading</a:t>
            </a:r>
            <a:endParaRPr lang="en-US" sz="1800" dirty="0"/>
          </a:p>
        </p:txBody>
      </p:sp>
      <p:sp>
        <p:nvSpPr>
          <p:cNvPr id="7" name="Text 4"/>
          <p:cNvSpPr txBox="1"/>
          <p:nvPr/>
        </p:nvSpPr>
        <p:spPr>
          <a:xfrm>
            <a:off x="8732520" y="2286000"/>
            <a:ext cx="2743200" cy="3383280"/>
          </a:xfrm>
          <a:prstGeom prst="rect">
            <a:avLst/>
          </a:prstGeom>
          <a:noFill/>
          <a:ln/>
        </p:spPr>
        <p:txBody>
          <a:bodyPr wrap="square" rtlCol="0" anchor="t"/>
          <a:lstStyle/>
          <a:p>
            <a:pPr marL="342900" indent="-342900">
              <a:spcAft>
                <a:spcPts val="600"/>
              </a:spcAft>
              <a:buSzPct val="100000"/>
              <a:buChar char="•"/>
            </a:pPr>
            <a:r>
              <a:rPr lang="en-US" sz="1400" dirty="0">
                <a:solidFill>
                  <a:schemeClr val="tx1"/>
                </a:solidFill>
              </a:rPr>
              <a:t>Learned scores beat kNN on AP (0.41 → 0.53), not on AUROC</a:t>
            </a:r>
            <a:endParaRPr lang="en-US" sz="1400" dirty="0"/>
          </a:p>
          <a:p>
            <a:pPr marL="342900" indent="-342900">
              <a:spcAft>
                <a:spcPts val="600"/>
              </a:spcAft>
              <a:buSzPct val="100000"/>
              <a:buChar char="•"/>
            </a:pPr>
            <a:r>
              <a:rPr lang="en-US" sz="1400" dirty="0">
                <a:solidFill>
                  <a:schemeClr val="tx1"/>
                </a:solidFill>
              </a:rPr>
              <a:t>The disc image score is weak: it is the max of a map calibrated on fake anomalies</a:t>
            </a:r>
            <a:endParaRPr lang="en-US" sz="1400" dirty="0"/>
          </a:p>
          <a:p>
            <a:pPr marL="342900" indent="-342900">
              <a:spcAft>
                <a:spcPts val="600"/>
              </a:spcAft>
              <a:buSzPct val="100000"/>
              <a:buChar char="•"/>
            </a:pPr>
            <a:r>
              <a:rPr lang="en-US" sz="1400" dirty="0">
                <a:solidFill>
                  <a:schemeClr val="tx1"/>
                </a:solidFill>
              </a:rPr>
              <a:t>MAE: kNN even stronger (AUPRO 0.884); nothing learned beats it</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68580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Wins where fake anomalies match the defects</a:t>
            </a:r>
            <a:endParaRPr lang="en-US" sz="3600" dirty="0"/>
          </a:p>
        </p:txBody>
      </p:sp>
      <p:sp>
        <p:nvSpPr>
          <p:cNvPr id="3" name="Text 1"/>
          <p:cNvSpPr/>
          <p:nvPr>
            <p:ph idx="102" type="body" hasCustomPrompt="1"/>
          </p:nvPr>
        </p:nvSpPr>
        <p:spPr>
          <a:xfrm>
            <a:off x="548640" y="1005840"/>
            <a:ext cx="11064240" cy="457200"/>
          </a:xfrm>
          <a:prstGeom prst="rect">
            <a:avLst/>
          </a:prstGeom>
          <a:noFill/>
          <a:ln/>
        </p:spPr>
        <p:txBody>
          <a:bodyPr wrap="square" rtlCol="0" anchor="t"/>
          <a:lstStyle/>
          <a:p>
            <a:pPr indent="0" marL="0">
              <a:buNone/>
            </a:pPr>
            <a:r>
              <a:rPr lang="en-US" sz="1800" i="1" dirty="0">
                <a:solidFill>
                  <a:schemeClr val="tx2"/>
                </a:solidFill>
              </a:rPr>
              <a:t>AUPRO per category, DINOv2-B</a:t>
            </a:r>
            <a:endParaRPr lang="en-US" sz="1800" dirty="0"/>
          </a:p>
        </p:txBody>
      </p:sp>
      <p:graphicFrame>
        <p:nvGraphicFramePr>
          <p:cNvPr id="4" name="Chart 0" descr=""/>
          <p:cNvGraphicFramePr/>
          <p:nvPr/>
        </p:nvGraphicFramePr>
        <p:xfrm>
          <a:off x="548640" y="1600200"/>
          <a:ext cx="7680960" cy="4572000"/>
        </p:xfrm>
        <a:graphic xmlns:a="http://schemas.openxmlformats.org/drawingml/2006/main">
          <a:graphicData uri="http://schemas.openxmlformats.org/drawingml/2006/chart">
            <c:chart xmlns:c="http://schemas.openxmlformats.org/drawingml/2006/chart" r:id="rId1"/>
          </a:graphicData>
        </a:graphic>
      </p:graphicFrame>
      <p:sp>
        <p:nvSpPr>
          <p:cNvPr id="5" name="t"/>
          <p:cNvSpPr/>
          <p:nvPr/>
        </p:nvSpPr>
        <p:spPr>
          <a:xfrm>
            <a:off x="8503920" y="1600200"/>
            <a:ext cx="3108960" cy="2148840"/>
          </a:xfrm>
          <a:prstGeom prst="roundRect">
            <a:avLst>
              <a:gd name="adj" fmla="val 5106"/>
            </a:avLst>
          </a:prstGeom>
          <a:solidFill>
            <a:schemeClr val="accent6"/>
          </a:solidFill>
          <a:ln w="12700">
            <a:solidFill>
              <a:schemeClr val="accent6"/>
            </a:solidFill>
            <a:prstDash val="solid"/>
          </a:ln>
        </p:spPr>
      </p:sp>
      <p:sp>
        <p:nvSpPr>
          <p:cNvPr id="6" name="Text 3"/>
          <p:cNvSpPr txBox="1"/>
          <p:nvPr/>
        </p:nvSpPr>
        <p:spPr>
          <a:xfrm>
            <a:off x="8686800" y="1691640"/>
            <a:ext cx="2743200" cy="731520"/>
          </a:xfrm>
          <a:prstGeom prst="rect">
            <a:avLst/>
          </a:prstGeom>
          <a:noFill/>
          <a:ln/>
        </p:spPr>
        <p:txBody>
          <a:bodyPr wrap="square" lIns="635" tIns="635" rIns="635" bIns="635"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+0.14</a:t>
            </a:r>
            <a:endParaRPr lang="en-US" sz="3600" dirty="0"/>
          </a:p>
        </p:txBody>
      </p:sp>
      <p:sp>
        <p:nvSpPr>
          <p:cNvPr id="7" name="Text 4"/>
          <p:cNvSpPr txBox="1"/>
          <p:nvPr/>
        </p:nvSpPr>
        <p:spPr>
          <a:xfrm>
            <a:off x="8686800" y="2468880"/>
            <a:ext cx="2743200" cy="1188720"/>
          </a:xfrm>
          <a:prstGeom prst="rect">
            <a:avLst/>
          </a:prstGeom>
          <a:noFill/>
          <a:ln/>
        </p:spPr>
        <p:txBody>
          <a:bodyPr wrap="square" lIns="635" tIns="635" rIns="635" bIns="635" rtlCol="0" anchor="t"/>
          <a:lstStyle/>
          <a:p>
            <a:pPr indent="0" marL="0">
              <a:buNone/>
            </a:pPr>
            <a:r>
              <a:rPr lang="en-US" sz="1300" dirty="0">
                <a:solidFill>
                  <a:schemeClr val="tx2"/>
                </a:solidFill>
              </a:rPr>
              <a:t>transistor (bent / misplaced / missing parts): mix vs kNN, 0.885 vs 0.746</a:t>
            </a:r>
            <a:endParaRPr lang="en-US" sz="1300" dirty="0"/>
          </a:p>
        </p:txBody>
      </p:sp>
      <p:sp>
        <p:nvSpPr>
          <p:cNvPr id="8" name="sc"/>
          <p:cNvSpPr/>
          <p:nvPr/>
        </p:nvSpPr>
        <p:spPr>
          <a:xfrm>
            <a:off x="8503920" y="3977640"/>
            <a:ext cx="3108960" cy="2148840"/>
          </a:xfrm>
          <a:prstGeom prst="roundRect">
            <a:avLst>
              <a:gd name="adj" fmla="val 5106"/>
            </a:avLst>
          </a:prstGeom>
          <a:solidFill>
            <a:schemeClr val="bg2"/>
          </a:solidFill>
          <a:ln w="12700">
            <a:solidFill>
              <a:schemeClr val="bg2"/>
            </a:solidFill>
            <a:prstDash val="solid"/>
          </a:ln>
        </p:spPr>
      </p:sp>
      <p:sp>
        <p:nvSpPr>
          <p:cNvPr id="9" name="Text 6"/>
          <p:cNvSpPr txBox="1"/>
          <p:nvPr/>
        </p:nvSpPr>
        <p:spPr>
          <a:xfrm>
            <a:off x="8686800" y="4069080"/>
            <a:ext cx="2743200" cy="731520"/>
          </a:xfrm>
          <a:prstGeom prst="rect">
            <a:avLst/>
          </a:prstGeom>
          <a:noFill/>
          <a:ln/>
        </p:spPr>
        <p:txBody>
          <a:bodyPr wrap="square" lIns="635" tIns="635" rIns="635" bIns="635"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+0.13</a:t>
            </a:r>
            <a:endParaRPr lang="en-US" sz="3600" dirty="0"/>
          </a:p>
        </p:txBody>
      </p:sp>
      <p:sp>
        <p:nvSpPr>
          <p:cNvPr id="10" name="Text 7"/>
          <p:cNvSpPr txBox="1"/>
          <p:nvPr/>
        </p:nvSpPr>
        <p:spPr>
          <a:xfrm>
            <a:off x="8686800" y="4846320"/>
            <a:ext cx="2743200" cy="1188720"/>
          </a:xfrm>
          <a:prstGeom prst="rect">
            <a:avLst/>
          </a:prstGeom>
          <a:noFill/>
          <a:ln/>
        </p:spPr>
        <p:txBody>
          <a:bodyPr wrap="square" lIns="635" tIns="635" rIns="635" bIns="635" rtlCol="0" anchor="t"/>
          <a:lstStyle/>
          <a:p>
            <a:pPr indent="0" marL="0">
              <a:buNone/>
            </a:pPr>
            <a:r>
              <a:rPr lang="en-US" sz="1300" dirty="0">
                <a:solidFill>
                  <a:schemeClr val="tx2"/>
                </a:solidFill>
              </a:rPr>
              <a:t>screw (small defects): pixel vs kNN, 0.891 vs 0.757; pixel AUROC 0.982 vs 0.902</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68580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Transistor: the discriminator finds bent leads</a:t>
            </a:r>
            <a:endParaRPr lang="en-US" sz="3600" dirty="0"/>
          </a:p>
        </p:txBody>
      </p:sp>
      <p:sp>
        <p:nvSpPr>
          <p:cNvPr id="3" name="Text 1"/>
          <p:cNvSpPr/>
          <p:nvPr>
            <p:ph idx="102" type="body" hasCustomPrompt="1"/>
          </p:nvPr>
        </p:nvSpPr>
        <p:spPr>
          <a:xfrm>
            <a:off x="548640" y="1005840"/>
            <a:ext cx="11064240" cy="457200"/>
          </a:xfrm>
          <a:prstGeom prst="rect">
            <a:avLst/>
          </a:prstGeom>
          <a:noFill/>
          <a:ln/>
        </p:spPr>
        <p:txBody>
          <a:bodyPr wrap="square" rtlCol="0" anchor="t"/>
          <a:lstStyle/>
          <a:p>
            <a:pPr indent="0" marL="0">
              <a:buNone/>
            </a:pPr>
            <a:r>
              <a:rPr lang="en-US" sz="1800" i="1" dirty="0">
                <a:solidFill>
                  <a:schemeClr val="tx2"/>
                </a:solidFill>
              </a:rPr>
              <a:t>But the restored image still contains the defect</a:t>
            </a:r>
            <a:endParaRPr lang="en-US" sz="1800" dirty="0"/>
          </a:p>
        </p:txBody>
      </p:sp>
      <p:pic>
        <p:nvPicPr>
          <p:cNvPr id="4" name="transistor-viz" descr="/home/claude/deck/img/exp2_transistor.png">    </p:cNvPr>
          <p:cNvPicPr>
            <a:picLocks noChangeAspect="1"/>
          </p:cNvPicPr>
          <p:nvPr/>
        </p:nvPicPr>
        <p:blipFill>
          <a:blip r:embed="rId1"/>
          <a:stretch>
            <a:fillRect/>
          </a:stretch>
        </p:blipFill>
        <p:spPr>
          <a:xfrm>
            <a:off x="868680" y="2011680"/>
            <a:ext cx="10424160" cy="4169664"/>
          </a:xfrm>
          <a:prstGeom prst="rect">
            <a:avLst/>
          </a:prstGeom>
        </p:spPr>
      </p:pic>
      <p:sp>
        <p:nvSpPr>
          <p:cNvPr id="5" name="Text 2"/>
          <p:cNvSpPr txBox="1"/>
          <p:nvPr/>
        </p:nvSpPr>
        <p:spPr>
          <a:xfrm>
            <a:off x="868680" y="1600200"/>
            <a:ext cx="2084832" cy="365760"/>
          </a:xfrm>
          <a:prstGeom prst="rect">
            <a:avLst/>
          </a:prstGeom>
          <a:noFill/>
          <a:ln/>
        </p:spPr>
        <p:txBody>
          <a:bodyPr wrap="square" lIns="635" tIns="635" rIns="635" bIns="635" rtlCol="0" anchor="t"/>
          <a:lstStyle/>
          <a:p>
            <a:pPr algn="ctr" indent="0" marL="0">
              <a:buNone/>
            </a:pPr>
            <a:r>
              <a:rPr lang="en-US" sz="1400" b="1" dirty="0">
                <a:solidFill>
                  <a:schemeClr val="tx1"/>
                </a:solidFill>
              </a:rPr>
              <a:t>input</a:t>
            </a:r>
            <a:endParaRPr lang="en-US" sz="1400" dirty="0"/>
          </a:p>
        </p:txBody>
      </p:sp>
      <p:sp>
        <p:nvSpPr>
          <p:cNvPr id="6" name="Text 3"/>
          <p:cNvSpPr txBox="1"/>
          <p:nvPr/>
        </p:nvSpPr>
        <p:spPr>
          <a:xfrm>
            <a:off x="2953512" y="1600200"/>
            <a:ext cx="2084832" cy="365760"/>
          </a:xfrm>
          <a:prstGeom prst="rect">
            <a:avLst/>
          </a:prstGeom>
          <a:noFill/>
          <a:ln/>
        </p:spPr>
        <p:txBody>
          <a:bodyPr wrap="square" lIns="635" tIns="635" rIns="635" bIns="635" rtlCol="0" anchor="t"/>
          <a:lstStyle/>
          <a:p>
            <a:pPr algn="ctr" indent="0" marL="0">
              <a:buNone/>
            </a:pPr>
            <a:r>
              <a:rPr lang="en-US" sz="1400" b="1" dirty="0">
                <a:solidFill>
                  <a:schemeClr val="tx1"/>
                </a:solidFill>
              </a:rPr>
              <a:t>decode(z)</a:t>
            </a:r>
            <a:endParaRPr lang="en-US" sz="1400" dirty="0"/>
          </a:p>
        </p:txBody>
      </p:sp>
      <p:sp>
        <p:nvSpPr>
          <p:cNvPr id="7" name="Text 4"/>
          <p:cNvSpPr txBox="1"/>
          <p:nvPr/>
        </p:nvSpPr>
        <p:spPr>
          <a:xfrm>
            <a:off x="5038344" y="1600200"/>
            <a:ext cx="2084832" cy="365760"/>
          </a:xfrm>
          <a:prstGeom prst="rect">
            <a:avLst/>
          </a:prstGeom>
          <a:noFill/>
          <a:ln/>
        </p:spPr>
        <p:txBody>
          <a:bodyPr wrap="square" lIns="635" tIns="635" rIns="635" bIns="635" rtlCol="0" anchor="t"/>
          <a:lstStyle/>
          <a:p>
            <a:pPr algn="ctr" indent="0" marL="0">
              <a:buNone/>
            </a:pPr>
            <a:r>
              <a:rPr lang="en-US" sz="1400" b="1" dirty="0">
                <a:solidFill>
                  <a:schemeClr val="tx1"/>
                </a:solidFill>
              </a:rPr>
              <a:t>decode(R(z))</a:t>
            </a:r>
            <a:endParaRPr lang="en-US" sz="1400" dirty="0"/>
          </a:p>
        </p:txBody>
      </p:sp>
      <p:sp>
        <p:nvSpPr>
          <p:cNvPr id="8" name="Text 5"/>
          <p:cNvSpPr txBox="1"/>
          <p:nvPr/>
        </p:nvSpPr>
        <p:spPr>
          <a:xfrm>
            <a:off x="7123176" y="1600200"/>
            <a:ext cx="2084832" cy="365760"/>
          </a:xfrm>
          <a:prstGeom prst="rect">
            <a:avLst/>
          </a:prstGeom>
          <a:noFill/>
          <a:ln/>
        </p:spPr>
        <p:txBody>
          <a:bodyPr wrap="square" lIns="635" tIns="635" rIns="635" bIns="635" rtlCol="0" anchor="t"/>
          <a:lstStyle/>
          <a:p>
            <a:pPr algn="ctr" indent="0" marL="0">
              <a:buNone/>
            </a:pPr>
            <a:r>
              <a:rPr lang="en-US" sz="1400" b="1" dirty="0">
                <a:solidFill>
                  <a:schemeClr val="tx1"/>
                </a:solidFill>
              </a:rPr>
              <a:t>disc map</a:t>
            </a:r>
            <a:endParaRPr lang="en-US" sz="1400" dirty="0"/>
          </a:p>
        </p:txBody>
      </p:sp>
      <p:sp>
        <p:nvSpPr>
          <p:cNvPr id="9" name="Text 6"/>
          <p:cNvSpPr txBox="1"/>
          <p:nvPr/>
        </p:nvSpPr>
        <p:spPr>
          <a:xfrm>
            <a:off x="9208008" y="1600200"/>
            <a:ext cx="2084832" cy="365760"/>
          </a:xfrm>
          <a:prstGeom prst="rect">
            <a:avLst/>
          </a:prstGeom>
          <a:noFill/>
          <a:ln/>
        </p:spPr>
        <p:txBody>
          <a:bodyPr wrap="square" lIns="635" tIns="635" rIns="635" bIns="635" rtlCol="0" anchor="t"/>
          <a:lstStyle/>
          <a:p>
            <a:pPr algn="ctr" indent="0" marL="0">
              <a:buNone/>
            </a:pPr>
            <a:r>
              <a:rPr lang="en-US" sz="1400" b="1" dirty="0">
                <a:solidFill>
                  <a:schemeClr val="tx1"/>
                </a:solidFill>
              </a:rPr>
              <a:t>ground truth</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68580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What Exp 2 tells us</a:t>
            </a:r>
            <a:endParaRPr lang="en-US" sz="3600" dirty="0"/>
          </a:p>
        </p:txBody>
      </p:sp>
      <p:sp>
        <p:nvSpPr>
          <p:cNvPr id="3" name="Text 1"/>
          <p:cNvSpPr/>
          <p:nvPr>
            <p:ph idx="102" type="body" hasCustomPrompt="1"/>
          </p:nvPr>
        </p:nvSpPr>
        <p:spPr>
          <a:xfrm>
            <a:off x="548640" y="1005840"/>
            <a:ext cx="11064240" cy="457200"/>
          </a:xfrm>
          <a:prstGeom prst="rect">
            <a:avLst/>
          </a:prstGeom>
          <a:noFill/>
          <a:ln/>
        </p:spPr>
        <p:txBody>
          <a:bodyPr wrap="square" rtlCol="0" anchor="t"/>
          <a:lstStyle/>
          <a:p>
            <a:pPr indent="0" marL="0">
              <a:buNone/>
            </a:pPr>
            <a:r>
              <a:rPr lang="en-US" sz="1800" i="1" dirty="0">
                <a:solidFill>
                  <a:schemeClr val="tx2"/>
                </a:solidFill>
              </a:rPr>
              <a:t>Three findings that set the next experiments</a:t>
            </a:r>
            <a:endParaRPr lang="en-US" sz="1800" dirty="0"/>
          </a:p>
        </p:txBody>
      </p:sp>
      <p:sp>
        <p:nvSpPr>
          <p:cNvPr id="4" name="k0"/>
          <p:cNvSpPr/>
          <p:nvPr/>
        </p:nvSpPr>
        <p:spPr>
          <a:xfrm>
            <a:off x="640080" y="1737360"/>
            <a:ext cx="10881360" cy="1234440"/>
          </a:xfrm>
          <a:prstGeom prst="roundRect">
            <a:avLst>
              <a:gd name="adj" fmla="val 8889"/>
            </a:avLst>
          </a:prstGeom>
          <a:solidFill>
            <a:schemeClr val="bg2"/>
          </a:solidFill>
          <a:ln w="12700">
            <a:solidFill>
              <a:schemeClr val="bg2"/>
            </a:solidFill>
            <a:prstDash val="solid"/>
          </a:ln>
        </p:spPr>
      </p:sp>
      <p:sp>
        <p:nvSpPr>
          <p:cNvPr id="5" name="num"/>
          <p:cNvSpPr/>
          <p:nvPr/>
        </p:nvSpPr>
        <p:spPr>
          <a:xfrm>
            <a:off x="868680" y="2121408"/>
            <a:ext cx="457200" cy="457200"/>
          </a:xfrm>
          <a:prstGeom prst="ellipse">
            <a:avLst/>
          </a:prstGeom>
          <a:solidFill>
            <a:schemeClr val="accent1"/>
          </a:solidFill>
          <a:ln w="12700">
            <a:solidFill>
              <a:schemeClr val="accent1"/>
            </a:solidFill>
            <a:prstDash val="solid"/>
          </a:ln>
        </p:spPr>
      </p:sp>
      <p:sp>
        <p:nvSpPr>
          <p:cNvPr id="6" name="Text 4"/>
          <p:cNvSpPr txBox="1"/>
          <p:nvPr/>
        </p:nvSpPr>
        <p:spPr>
          <a:xfrm>
            <a:off x="868680" y="21214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1554480" y="1874520"/>
            <a:ext cx="9692640" cy="457200"/>
          </a:xfrm>
          <a:prstGeom prst="rect">
            <a:avLst/>
          </a:prstGeom>
          <a:noFill/>
          <a:ln/>
        </p:spPr>
        <p:txBody>
          <a:bodyPr wrap="square" lIns="635" tIns="635" rIns="635" bIns="635" rtlCol="0" anchor="t"/>
          <a:lstStyle/>
          <a:p>
            <a:pPr indent="0" marL="0">
              <a:buNone/>
            </a:pPr>
            <a:r>
              <a:rPr lang="en-US" sz="2000" b="1" dirty="0">
                <a:solidFill>
                  <a:schemeClr val="tx1"/>
                </a:solidFill>
              </a:rPr>
              <a:t>DINOv2-B is the latent to keep</a:t>
            </a:r>
            <a:endParaRPr lang="en-US" sz="2000" dirty="0"/>
          </a:p>
        </p:txBody>
      </p:sp>
      <p:sp>
        <p:nvSpPr>
          <p:cNvPr id="8" name="Text 6"/>
          <p:cNvSpPr txBox="1"/>
          <p:nvPr/>
        </p:nvSpPr>
        <p:spPr>
          <a:xfrm>
            <a:off x="1554480" y="2377440"/>
            <a:ext cx="9692640" cy="457200"/>
          </a:xfrm>
          <a:prstGeom prst="rect">
            <a:avLst/>
          </a:prstGeom>
          <a:noFill/>
          <a:ln/>
        </p:spPr>
        <p:txBody>
          <a:bodyPr wrap="square" lIns="635" tIns="635" rIns="635" bIns="635" rtlCol="0" anchor="t"/>
          <a:lstStyle/>
          <a:p>
            <a:pPr indent="0" marL="0">
              <a:buNone/>
            </a:pPr>
            <a:r>
              <a:rPr lang="en-US" sz="1500" dirty="0">
                <a:solidFill>
                  <a:schemeClr val="tx2"/>
                </a:solidFill>
              </a:rPr>
              <a:t>Best learned scores; MAE only helps the training-free kNN.</a:t>
            </a:r>
            <a:endParaRPr lang="en-US" sz="1500" dirty="0"/>
          </a:p>
        </p:txBody>
      </p:sp>
      <p:sp>
        <p:nvSpPr>
          <p:cNvPr id="9" name="k1"/>
          <p:cNvSpPr/>
          <p:nvPr/>
        </p:nvSpPr>
        <p:spPr>
          <a:xfrm>
            <a:off x="640080" y="3200400"/>
            <a:ext cx="10881360" cy="1234440"/>
          </a:xfrm>
          <a:prstGeom prst="roundRect">
            <a:avLst>
              <a:gd name="adj" fmla="val 8889"/>
            </a:avLst>
          </a:prstGeom>
          <a:solidFill>
            <a:schemeClr val="bg2"/>
          </a:solidFill>
          <a:ln w="12700">
            <a:solidFill>
              <a:schemeClr val="bg2"/>
            </a:solidFill>
            <a:prstDash val="solid"/>
          </a:ln>
        </p:spPr>
      </p:sp>
      <p:sp>
        <p:nvSpPr>
          <p:cNvPr id="10" name="num"/>
          <p:cNvSpPr/>
          <p:nvPr/>
        </p:nvSpPr>
        <p:spPr>
          <a:xfrm>
            <a:off x="868680" y="3584448"/>
            <a:ext cx="457200" cy="457200"/>
          </a:xfrm>
          <a:prstGeom prst="ellipse">
            <a:avLst/>
          </a:prstGeom>
          <a:solidFill>
            <a:schemeClr val="accent2"/>
          </a:solidFill>
          <a:ln w="12700">
            <a:solidFill>
              <a:schemeClr val="accent2"/>
            </a:solidFill>
            <a:prstDash val="solid"/>
          </a:ln>
        </p:spPr>
      </p:sp>
      <p:sp>
        <p:nvSpPr>
          <p:cNvPr id="11" name="Text 9"/>
          <p:cNvSpPr txBox="1"/>
          <p:nvPr/>
        </p:nvSpPr>
        <p:spPr>
          <a:xfrm>
            <a:off x="868680" y="35844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1554480" y="3337560"/>
            <a:ext cx="9692640" cy="457200"/>
          </a:xfrm>
          <a:prstGeom prst="rect">
            <a:avLst/>
          </a:prstGeom>
          <a:noFill/>
          <a:ln/>
        </p:spPr>
        <p:txBody>
          <a:bodyPr wrap="square" lIns="635" tIns="635" rIns="635" bIns="635" rtlCol="0" anchor="t"/>
          <a:lstStyle/>
          <a:p>
            <a:pPr indent="0" marL="0">
              <a:buNone/>
            </a:pPr>
            <a:r>
              <a:rPr lang="en-US" sz="2000" b="1" dirty="0">
                <a:solidFill>
                  <a:schemeClr val="tx1"/>
                </a:solidFill>
              </a:rPr>
              <a:t>Token-space synthesis works where matched</a:t>
            </a:r>
            <a:endParaRPr lang="en-US" sz="2000" dirty="0"/>
          </a:p>
        </p:txBody>
      </p:sp>
      <p:sp>
        <p:nvSpPr>
          <p:cNvPr id="13" name="Text 11"/>
          <p:cNvSpPr txBox="1"/>
          <p:nvPr/>
        </p:nvSpPr>
        <p:spPr>
          <a:xfrm>
            <a:off x="1554480" y="3840480"/>
            <a:ext cx="9692640" cy="457200"/>
          </a:xfrm>
          <a:prstGeom prst="rect">
            <a:avLst/>
          </a:prstGeom>
          <a:noFill/>
          <a:ln/>
        </p:spPr>
        <p:txBody>
          <a:bodyPr wrap="square" lIns="635" tIns="635" rIns="635" bIns="635" rtlCol="0" anchor="t"/>
          <a:lstStyle/>
          <a:p>
            <a:pPr indent="0" marL="0">
              <a:buNone/>
            </a:pPr>
            <a:r>
              <a:rPr lang="en-US" sz="1500" dirty="0">
                <a:solidFill>
                  <a:schemeClr val="tx2"/>
                </a:solidFill>
              </a:rPr>
              <a:t>latent_self beats pixel synthesis on structural defects; pixel wins on small ones.</a:t>
            </a:r>
            <a:endParaRPr lang="en-US" sz="1500" dirty="0"/>
          </a:p>
        </p:txBody>
      </p:sp>
      <p:sp>
        <p:nvSpPr>
          <p:cNvPr id="14" name="k2"/>
          <p:cNvSpPr/>
          <p:nvPr/>
        </p:nvSpPr>
        <p:spPr>
          <a:xfrm>
            <a:off x="640080" y="4663440"/>
            <a:ext cx="10881360" cy="1234440"/>
          </a:xfrm>
          <a:prstGeom prst="roundRect">
            <a:avLst>
              <a:gd name="adj" fmla="val 8889"/>
            </a:avLst>
          </a:prstGeom>
          <a:solidFill>
            <a:schemeClr val="bg2"/>
          </a:solidFill>
          <a:ln w="12700">
            <a:solidFill>
              <a:schemeClr val="bg2"/>
            </a:solidFill>
            <a:prstDash val="solid"/>
          </a:ln>
        </p:spPr>
      </p:sp>
      <p:sp>
        <p:nvSpPr>
          <p:cNvPr id="15" name="num"/>
          <p:cNvSpPr/>
          <p:nvPr/>
        </p:nvSpPr>
        <p:spPr>
          <a:xfrm>
            <a:off x="868680" y="5047488"/>
            <a:ext cx="457200" cy="457200"/>
          </a:xfrm>
          <a:prstGeom prst="ellipse">
            <a:avLst/>
          </a:prstGeom>
          <a:solidFill>
            <a:schemeClr val="accent4"/>
          </a:solidFill>
          <a:ln w="12700">
            <a:solidFill>
              <a:schemeClr val="accent4"/>
            </a:solidFill>
            <a:prstDash val="solid"/>
          </a:ln>
        </p:spPr>
      </p:sp>
      <p:sp>
        <p:nvSpPr>
          <p:cNvPr id="16" name="Text 14"/>
          <p:cNvSpPr txBox="1"/>
          <p:nvPr/>
        </p:nvSpPr>
        <p:spPr>
          <a:xfrm>
            <a:off x="868680" y="504748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5"/>
          <p:cNvSpPr txBox="1"/>
          <p:nvPr/>
        </p:nvSpPr>
        <p:spPr>
          <a:xfrm>
            <a:off x="1554480" y="4800600"/>
            <a:ext cx="9692640" cy="457200"/>
          </a:xfrm>
          <a:prstGeom prst="rect">
            <a:avLst/>
          </a:prstGeom>
          <a:noFill/>
          <a:ln/>
        </p:spPr>
        <p:txBody>
          <a:bodyPr wrap="square" lIns="635" tIns="635" rIns="635" bIns="635" rtlCol="0" anchor="t"/>
          <a:lstStyle/>
          <a:p>
            <a:pPr indent="0" marL="0">
              <a:buNone/>
            </a:pPr>
            <a:r>
              <a:rPr lang="en-US" sz="2000" b="1" dirty="0">
                <a:solidFill>
                  <a:schemeClr val="tx1"/>
                </a:solidFill>
              </a:rPr>
              <a:t>Realism of fake anomalies is the bottleneck</a:t>
            </a:r>
            <a:endParaRPr lang="en-US" sz="2000" dirty="0"/>
          </a:p>
        </p:txBody>
      </p:sp>
      <p:sp>
        <p:nvSpPr>
          <p:cNvPr id="18" name="Text 16"/>
          <p:cNvSpPr txBox="1"/>
          <p:nvPr/>
        </p:nvSpPr>
        <p:spPr>
          <a:xfrm>
            <a:off x="1554480" y="5303520"/>
            <a:ext cx="9692640" cy="457200"/>
          </a:xfrm>
          <a:prstGeom prst="rect">
            <a:avLst/>
          </a:prstGeom>
          <a:noFill/>
          <a:ln/>
        </p:spPr>
        <p:txBody>
          <a:bodyPr wrap="square" lIns="635" tIns="635" rIns="635" bIns="635" rtlCol="0" anchor="t"/>
          <a:lstStyle/>
          <a:p>
            <a:pPr indent="0" marL="0">
              <a:buNone/>
            </a:pPr>
            <a:r>
              <a:rPr lang="en-US" sz="1500" dirty="0">
                <a:solidFill>
                  <a:schemeClr val="tx2"/>
                </a:solidFill>
              </a:rPr>
              <a:t>The restorer leaves real defects in place; the learned generator (v2) targets this directly.</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68580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Exp 3 (running): seeds and score fusion</a:t>
            </a:r>
            <a:endParaRPr lang="en-US" sz="3600" dirty="0"/>
          </a:p>
        </p:txBody>
      </p:sp>
      <p:sp>
        <p:nvSpPr>
          <p:cNvPr id="3" name="Text 1"/>
          <p:cNvSpPr/>
          <p:nvPr>
            <p:ph idx="102" type="body" hasCustomPrompt="1"/>
          </p:nvPr>
        </p:nvSpPr>
        <p:spPr>
          <a:xfrm>
            <a:off x="548640" y="1005840"/>
            <a:ext cx="11064240" cy="457200"/>
          </a:xfrm>
          <a:prstGeom prst="rect">
            <a:avLst/>
          </a:prstGeom>
          <a:noFill/>
          <a:ln/>
        </p:spPr>
        <p:txBody>
          <a:bodyPr wrap="square" rtlCol="0" anchor="t"/>
          <a:lstStyle/>
          <a:p>
            <a:pPr indent="0" marL="0">
              <a:buNone/>
            </a:pPr>
            <a:r>
              <a:rPr lang="en-US" sz="1800" i="1" dirty="0">
                <a:solidFill>
                  <a:schemeClr val="tx2"/>
                </a:solidFill>
              </a:rPr>
              <a:t>DINOv2-B · pixel, latent_self, mix · 3 seeds · 20 normals held out for score scaling</a:t>
            </a:r>
            <a:endParaRPr lang="en-US" sz="1800" dirty="0"/>
          </a:p>
        </p:txBody>
      </p:sp>
      <p:sp>
        <p:nvSpPr>
          <p:cNvPr id="4" name="setup"/>
          <p:cNvSpPr/>
          <p:nvPr/>
        </p:nvSpPr>
        <p:spPr>
          <a:xfrm>
            <a:off x="640080" y="1691640"/>
            <a:ext cx="4754880" cy="4389120"/>
          </a:xfrm>
          <a:prstGeom prst="roundRect">
            <a:avLst>
              <a:gd name="adj" fmla="val 2500"/>
            </a:avLst>
          </a:prstGeom>
          <a:solidFill>
            <a:schemeClr val="bg2"/>
          </a:solidFill>
          <a:ln w="12700">
            <a:solidFill>
              <a:schemeClr val="bg2"/>
            </a:solidFill>
            <a:prstDash val="solid"/>
          </a:ln>
        </p:spPr>
      </p:sp>
      <p:sp>
        <p:nvSpPr>
          <p:cNvPr id="5" name="Text 3"/>
          <p:cNvSpPr txBox="1"/>
          <p:nvPr/>
        </p:nvSpPr>
        <p:spPr>
          <a:xfrm>
            <a:off x="868680" y="1828800"/>
            <a:ext cx="4297680" cy="411480"/>
          </a:xfrm>
          <a:prstGeom prst="rect">
            <a:avLst/>
          </a:prstGeom>
          <a:noFill/>
          <a:ln/>
        </p:spPr>
        <p:txBody>
          <a:bodyPr wrap="square" lIns="635" tIns="635" rIns="635" bIns="635" rtlCol="0" anchor="t"/>
          <a:lstStyle/>
          <a:p>
            <a:pPr indent="0" marL="0">
              <a:buNone/>
            </a:pPr>
            <a:r>
              <a:rPr lang="en-US" sz="1800" b="1" dirty="0">
                <a:solidFill>
                  <a:schemeClr val="tx1"/>
                </a:solidFill>
              </a:rPr>
              <a:t>What it adds</a:t>
            </a:r>
            <a:endParaRPr lang="en-US" sz="1800" dirty="0"/>
          </a:p>
        </p:txBody>
      </p:sp>
      <p:sp>
        <p:nvSpPr>
          <p:cNvPr id="6" name="Text 4"/>
          <p:cNvSpPr txBox="1"/>
          <p:nvPr/>
        </p:nvSpPr>
        <p:spPr>
          <a:xfrm>
            <a:off x="868680" y="2286000"/>
            <a:ext cx="4343400" cy="3657600"/>
          </a:xfrm>
          <a:prstGeom prst="rect">
            <a:avLst/>
          </a:prstGeom>
          <a:noFill/>
          <a:ln/>
        </p:spPr>
        <p:txBody>
          <a:bodyPr wrap="square" rtlCol="0" anchor="t"/>
          <a:lstStyle/>
          <a:p>
            <a:pPr marL="342900" indent="-342900">
              <a:spcAft>
                <a:spcPts val="600"/>
              </a:spcAft>
              <a:buSzPct val="100000"/>
              <a:buChar char="•"/>
            </a:pPr>
            <a:r>
              <a:rPr lang="en-US" sz="1400" dirty="0">
                <a:solidFill>
                  <a:schemeClr val="tx1"/>
                </a:solidFill>
              </a:rPr>
              <a:t>3 seeds: report mean ± std; differences marked only beyond 2× seed std</a:t>
            </a:r>
            <a:endParaRPr lang="en-US" sz="1400" dirty="0"/>
          </a:p>
          <a:p>
            <a:pPr marL="342900" indent="-342900">
              <a:spcAft>
                <a:spcPts val="600"/>
              </a:spcAft>
              <a:buSzPct val="100000"/>
              <a:buChar char="•"/>
            </a:pPr>
            <a:r>
              <a:rPr lang="en-US" sz="1400" dirty="0">
                <a:solidFill>
                  <a:schemeClr val="tx1"/>
                </a:solidFill>
              </a:rPr>
              <a:t>Scores z-normalized on held-out normal images (no test labels)</a:t>
            </a:r>
            <a:endParaRPr lang="en-US" sz="1400" dirty="0"/>
          </a:p>
          <a:p>
            <a:pPr marL="342900" indent="-342900">
              <a:spcAft>
                <a:spcPts val="600"/>
              </a:spcAft>
              <a:buSzPct val="100000"/>
              <a:buChar char="•"/>
            </a:pPr>
            <a:r>
              <a:rPr lang="en-US" sz="1400" dirty="0">
                <a:solidFill>
                  <a:schemeClr val="tx1"/>
                </a:solidFill>
              </a:rPr>
              <a:t>Fusion: disc + kNN, resid + kNN, all three</a:t>
            </a:r>
            <a:endParaRPr lang="en-US" sz="1400" dirty="0"/>
          </a:p>
          <a:p>
            <a:pPr marL="342900" indent="-342900">
              <a:spcAft>
                <a:spcPts val="600"/>
              </a:spcAft>
              <a:buSzPct val="100000"/>
              <a:buChar char="•"/>
            </a:pPr>
            <a:r>
              <a:rPr lang="en-US" sz="1400" dirty="0">
                <a:solidFill>
                  <a:schemeClr val="tx1"/>
                </a:solidFill>
              </a:rPr>
              <a:t>Image score: top-1% mean vs max</a:t>
            </a:r>
            <a:endParaRPr lang="en-US" sz="1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0" y="1691640"/>
          <a:ext cx="5943600" cy="914400"/>
        </p:xfrm>
        <a:graphic>
          <a:graphicData uri="http://schemas.openxmlformats.org/drawingml/2006/table">
            <a:tbl>
              <a:tblPr/>
              <a:tblGrid>
                <a:gridCol w="2377440"/>
                <a:gridCol w="1188720"/>
                <a:gridCol w="1188720"/>
                <a:gridCol w="1188720"/>
              </a:tblGrid>
              <a:tr h="502920">
                <a:tc>
                  <a:txBody>
                    <a:bodyPr/>
                    <a:lstStyle/>
                    <a:p>
                      <a:pPr algn="ctr" indent="0" marL="0">
                        <a:buNone/>
                      </a:pPr>
                      <a:r>
                        <a:rPr lang="en-US" sz="1400" b="1" dirty="0">
                          <a:solidFill>
                            <a:schemeClr val="bg1"/>
                          </a:solidFill>
                        </a:rPr>
                        <a:t>Smoke test: screw</a:t>
                      </a:r>
                      <a:endParaRPr lang="en-US" sz="14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kNN</a:t>
                      </a:r>
                      <a:endParaRPr lang="en-US" sz="14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pixel·disc</a:t>
                      </a:r>
                      <a:endParaRPr lang="en-US" sz="14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disc+kNN</a:t>
                      </a:r>
                      <a:endParaRPr lang="en-US" sz="14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tx1"/>
                    </a:solidFill>
                  </a:tcPr>
                </a:tc>
              </a:tr>
              <a:tr h="502920">
                <a:tc>
                  <a:txBody>
                    <a:bodyPr/>
                    <a:lstStyle/>
                    <a:p>
                      <a:pPr algn="l" indent="0" marL="0">
                        <a:buNone/>
                      </a:pPr>
                      <a:r>
                        <a:rPr lang="en-US" sz="1400" dirty="0">
                          <a:solidFill>
                            <a:schemeClr val="tx1"/>
                          </a:solidFill>
                        </a:rPr>
                        <a:t>Image AUROC (top 1%)</a:t>
                      </a:r>
                      <a:endParaRPr lang="en-US" sz="14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0.889</a:t>
                      </a:r>
                      <a:endParaRPr lang="en-US" sz="14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0.722</a:t>
                      </a:r>
                      <a:endParaRPr lang="en-US" sz="14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rPr>
                        <a:t>0.908</a:t>
                      </a:r>
                      <a:endParaRPr lang="en-US" sz="14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r>
              <a:tr h="502920">
                <a:tc>
                  <a:txBody>
                    <a:bodyPr/>
                    <a:lstStyle/>
                    <a:p>
                      <a:pPr algn="l" indent="0" marL="0">
                        <a:buNone/>
                      </a:pPr>
                      <a:r>
                        <a:rPr lang="en-US" sz="1400" dirty="0">
                          <a:solidFill>
                            <a:schemeClr val="tx1"/>
                          </a:solidFill>
                        </a:rPr>
                        <a:t>Pixel AUROC</a:t>
                      </a:r>
                      <a:endParaRPr lang="en-US" sz="14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0.901</a:t>
                      </a:r>
                      <a:endParaRPr lang="en-US" sz="14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0.970</a:t>
                      </a:r>
                      <a:endParaRPr lang="en-US" sz="14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rPr>
                        <a:t>0.960</a:t>
                      </a:r>
                      <a:endParaRPr lang="en-US" sz="14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r>
              <a:tr h="502920">
                <a:tc>
                  <a:txBody>
                    <a:bodyPr/>
                    <a:lstStyle/>
                    <a:p>
                      <a:pPr algn="l" indent="0" marL="0">
                        <a:buNone/>
                      </a:pPr>
                      <a:r>
                        <a:rPr lang="en-US" sz="1400" dirty="0">
                          <a:solidFill>
                            <a:schemeClr val="tx1"/>
                          </a:solidFill>
                        </a:rPr>
                        <a:t>Pixel AP</a:t>
                      </a:r>
                      <a:endParaRPr lang="en-US" sz="14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0.233</a:t>
                      </a:r>
                      <a:endParaRPr lang="en-US" sz="14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0.284</a:t>
                      </a:r>
                      <a:endParaRPr lang="en-US" sz="14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rPr>
                        <a:t>0.344</a:t>
                      </a:r>
                      <a:endParaRPr lang="en-US" sz="14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r>
              <a:tr h="502920">
                <a:tc>
                  <a:txBody>
                    <a:bodyPr/>
                    <a:lstStyle/>
                    <a:p>
                      <a:pPr algn="l" indent="0" marL="0">
                        <a:buNone/>
                      </a:pPr>
                      <a:r>
                        <a:rPr lang="en-US" sz="1400" dirty="0">
                          <a:solidFill>
                            <a:schemeClr val="tx1"/>
                          </a:solidFill>
                        </a:rPr>
                        <a:t>AUPRO</a:t>
                      </a:r>
                      <a:endParaRPr lang="en-US" sz="14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0.755</a:t>
                      </a:r>
                      <a:endParaRPr lang="en-US" sz="14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0.854</a:t>
                      </a:r>
                      <a:endParaRPr lang="en-US" sz="14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rPr>
                        <a:t>0.849</a:t>
                      </a:r>
                      <a:endParaRPr lang="en-US" sz="1400" dirty="0"/>
                    </a:p>
                  </a:txBody>
                  <a:tcPr marL="91440" marR="91440" marT="45720" marB="45720" anchor="ctr">
                    <a:lnL w="6350" cap="flat" cmpd="sng" algn="ctr">
                      <a:solidFill>
                        <a:srgbClr val="EEF1F3"/>
                      </a:solidFill>
                      <a:prstDash val="solid"/>
                      <a:round/>
                      <a:headEnd type="none" w="med" len="med"/>
                      <a:tailEnd type="none" w="med" len="med"/>
                    </a:lnL>
                    <a:lnR w="6350" cap="flat" cmpd="sng" algn="ctr">
                      <a:solidFill>
                        <a:srgbClr val="EEF1F3"/>
                      </a:solidFill>
                      <a:prstDash val="solid"/>
                      <a:round/>
                      <a:headEnd type="none" w="med" len="med"/>
                      <a:tailEnd type="none" w="med" len="med"/>
                    </a:lnR>
                    <a:lnT w="6350" cap="flat" cmpd="sng" algn="ctr">
                      <a:solidFill>
                        <a:srgbClr val="EEF1F3"/>
                      </a:solidFill>
                      <a:prstDash val="solid"/>
                      <a:round/>
                      <a:headEnd type="none" w="med" len="med"/>
                      <a:tailEnd type="none" w="med" len="med"/>
                    </a:lnT>
                    <a:lnB w="6350" cap="flat" cmpd="sng" algn="ctr">
                      <a:solidFill>
                        <a:srgbClr val="EEF1F3"/>
                      </a:solidFill>
                      <a:prstDash val="solid"/>
                      <a:round/>
                      <a:headEnd type="none" w="med" len="med"/>
                      <a:tailEnd type="none" w="med" len="med"/>
                    </a:lnB>
                    <a:solidFill>
                      <a:schemeClr val="bg1"/>
                    </a:solidFill>
                  </a:tcPr>
                </a:tc>
              </a:tr>
            </a:tbl>
          </a:graphicData>
        </a:graphic>
      </p:graphicFrame>
      <p:sp>
        <p:nvSpPr>
          <p:cNvPr id="8" name="Text 5"/>
          <p:cNvSpPr txBox="1"/>
          <p:nvPr/>
        </p:nvSpPr>
        <p:spPr>
          <a:xfrm>
            <a:off x="5669280" y="4434840"/>
            <a:ext cx="5943600" cy="822960"/>
          </a:xfrm>
          <a:prstGeom prst="rect">
            <a:avLst/>
          </a:prstGeom>
          <a:noFill/>
          <a:ln/>
        </p:spPr>
        <p:txBody>
          <a:bodyPr wrap="square" lIns="635" tIns="635" rIns="635" bIns="635" rtlCol="0" anchor="t"/>
          <a:lstStyle/>
          <a:p>
            <a:pPr indent="0" marL="0">
              <a:buNone/>
            </a:pPr>
            <a:r>
              <a:rPr lang="en-US" sz="1400" i="1" dirty="0">
                <a:solidFill>
                  <a:schemeClr val="accent4"/>
                </a:solidFill>
              </a:rPr>
              <a:t>Preliminary: 1 category, 1 seed, 300 steps. Fusion keeps kNN-level image detection while keeping the localization gain.</a:t>
            </a:r>
            <a:endParaRPr lang="en-US" sz="1400" dirty="0"/>
          </a:p>
        </p:txBody>
      </p:sp>
      <p:sp>
        <p:nvSpPr>
          <p:cNvPr id="9" name="Text 6"/>
          <p:cNvSpPr txBox="1"/>
          <p:nvPr/>
        </p:nvSpPr>
        <p:spPr>
          <a:xfrm>
            <a:off x="5669280" y="5394960"/>
            <a:ext cx="5943600" cy="457200"/>
          </a:xfrm>
          <a:prstGeom prst="rect">
            <a:avLst/>
          </a:prstGeom>
          <a:noFill/>
          <a:ln/>
        </p:spPr>
        <p:txBody>
          <a:bodyPr wrap="square" lIns="635" tIns="635" rIns="635" bIns="635" rtlCol="0" anchor="t"/>
          <a:lstStyle/>
          <a:p>
            <a:pPr indent="0" marL="0">
              <a:buNone/>
            </a:pPr>
            <a:r>
              <a:rPr lang="en-US" sz="1600" b="1" dirty="0">
                <a:solidFill>
                  <a:schemeClr val="accent2"/>
                </a:solidFill>
              </a:rPr>
              <a:t>Full run: 45 trainings, ~6 h</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68580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Next steps</a:t>
            </a:r>
            <a:endParaRPr lang="en-US" sz="3600" dirty="0"/>
          </a:p>
        </p:txBody>
      </p:sp>
      <p:sp>
        <p:nvSpPr>
          <p:cNvPr id="3" name="Text 1"/>
          <p:cNvSpPr/>
          <p:nvPr>
            <p:ph idx="102" type="body" hasCustomPrompt="1"/>
          </p:nvPr>
        </p:nvSpPr>
        <p:spPr>
          <a:xfrm>
            <a:off x="548640" y="1005840"/>
            <a:ext cx="11064240" cy="457200"/>
          </a:xfrm>
          <a:prstGeom prst="rect">
            <a:avLst/>
          </a:prstGeom>
          <a:noFill/>
          <a:ln/>
        </p:spPr>
        <p:txBody>
          <a:bodyPr wrap="square" rtlCol="0" anchor="t"/>
          <a:lstStyle/>
          <a:p>
            <a:pPr indent="0" marL="0">
              <a:buNone/>
            </a:pPr>
            <a:r>
              <a:rPr lang="en-US" sz="1800" i="1" dirty="0">
                <a:solidFill>
                  <a:schemeClr val="tx2"/>
                </a:solidFill>
              </a:rPr>
              <a:t>Each step is gated by the one before it</a:t>
            </a:r>
            <a:endParaRPr lang="en-US" sz="1800" dirty="0"/>
          </a:p>
        </p:txBody>
      </p:sp>
      <p:sp>
        <p:nvSpPr>
          <p:cNvPr id="4" name="s0"/>
          <p:cNvSpPr/>
          <p:nvPr/>
        </p:nvSpPr>
        <p:spPr>
          <a:xfrm>
            <a:off x="640080" y="2011680"/>
            <a:ext cx="2560320" cy="3291840"/>
          </a:xfrm>
          <a:prstGeom prst="roundRect">
            <a:avLst>
              <a:gd name="adj" fmla="val 4286"/>
            </a:avLst>
          </a:prstGeom>
          <a:solidFill>
            <a:schemeClr val="bg2"/>
          </a:solidFill>
          <a:ln w="12700">
            <a:solidFill>
              <a:schemeClr val="bg2"/>
            </a:solidFill>
            <a:prstDash val="solid"/>
          </a:ln>
        </p:spPr>
      </p:sp>
      <p:sp>
        <p:nvSpPr>
          <p:cNvPr id="5" name="Text 3"/>
          <p:cNvSpPr txBox="1"/>
          <p:nvPr/>
        </p:nvSpPr>
        <p:spPr>
          <a:xfrm>
            <a:off x="822960" y="2148840"/>
            <a:ext cx="2194560" cy="457200"/>
          </a:xfrm>
          <a:prstGeom prst="rect">
            <a:avLst/>
          </a:prstGeom>
          <a:noFill/>
          <a:ln/>
        </p:spPr>
        <p:txBody>
          <a:bodyPr wrap="square" lIns="635" tIns="635" rIns="635" bIns="635" rtlCol="0" anchor="t"/>
          <a:lstStyle/>
          <a:p>
            <a:pPr indent="0" marL="0">
              <a:buNone/>
            </a:pPr>
            <a:r>
              <a:rPr lang="en-US" sz="1500" b="1" dirty="0">
                <a:solidFill>
                  <a:schemeClr val="accent2"/>
                </a:solidFill>
              </a:rPr>
              <a:t>Exp 3</a:t>
            </a:r>
            <a:endParaRPr lang="en-US" sz="1500" dirty="0"/>
          </a:p>
        </p:txBody>
      </p:sp>
      <p:sp>
        <p:nvSpPr>
          <p:cNvPr id="6" name="Text 4"/>
          <p:cNvSpPr txBox="1"/>
          <p:nvPr/>
        </p:nvSpPr>
        <p:spPr>
          <a:xfrm>
            <a:off x="822960" y="2606040"/>
            <a:ext cx="2194560" cy="731520"/>
          </a:xfrm>
          <a:prstGeom prst="rect">
            <a:avLst/>
          </a:prstGeom>
          <a:noFill/>
          <a:ln/>
        </p:spPr>
        <p:txBody>
          <a:bodyPr wrap="square" lIns="635" tIns="635" rIns="635" bIns="635" rtlCol="0" anchor="t"/>
          <a:lstStyle/>
          <a:p>
            <a:pPr indent="0" marL="0">
              <a:buNone/>
            </a:pPr>
            <a:r>
              <a:rPr lang="en-US" sz="1900" b="1" dirty="0">
                <a:solidFill>
                  <a:schemeClr val="tx1"/>
                </a:solidFill>
              </a:rPr>
              <a:t>Seeds + fusion</a:t>
            </a:r>
            <a:endParaRPr lang="en-US" sz="1900" dirty="0"/>
          </a:p>
        </p:txBody>
      </p:sp>
      <p:sp>
        <p:nvSpPr>
          <p:cNvPr id="7" name="Text 5"/>
          <p:cNvSpPr txBox="1"/>
          <p:nvPr/>
        </p:nvSpPr>
        <p:spPr>
          <a:xfrm>
            <a:off x="822960" y="3383280"/>
            <a:ext cx="2194560" cy="1737360"/>
          </a:xfrm>
          <a:prstGeom prst="rect">
            <a:avLst/>
          </a:prstGeom>
          <a:noFill/>
          <a:ln/>
        </p:spPr>
        <p:txBody>
          <a:bodyPr wrap="square" lIns="635" tIns="635" rIns="635" bIns="635" rtlCol="0" anchor="t"/>
          <a:lstStyle/>
          <a:p>
            <a:pPr indent="0" marL="0">
              <a:buNone/>
            </a:pPr>
            <a:r>
              <a:rPr lang="en-US" sz="1400" dirty="0">
                <a:solidFill>
                  <a:schemeClr val="tx2"/>
                </a:solidFill>
              </a:rPr>
              <a:t>Does the learned part add signal beyond kNN, reliably?</a:t>
            </a:r>
            <a:endParaRPr lang="en-US" sz="1400" dirty="0"/>
          </a:p>
        </p:txBody>
      </p:sp>
      <p:sp>
        <p:nvSpPr>
          <p:cNvPr id="8" name="arrow"/>
          <p:cNvSpPr/>
          <p:nvPr/>
        </p:nvSpPr>
        <p:spPr>
          <a:xfrm>
            <a:off x="3218688" y="3657600"/>
            <a:ext cx="192024" cy="914"/>
          </a:xfrm>
          <a:prstGeom prst="line">
            <a:avLst/>
          </a:prstGeom>
          <a:noFill/>
          <a:ln w="25400">
            <a:solidFill>
              <a:schemeClr val="accent3"/>
            </a:solidFill>
            <a:prstDash val="solid"/>
            <a:tailEnd type="triangle"/>
          </a:ln>
        </p:spPr>
      </p:sp>
      <p:sp>
        <p:nvSpPr>
          <p:cNvPr id="9" name="s1"/>
          <p:cNvSpPr/>
          <p:nvPr/>
        </p:nvSpPr>
        <p:spPr>
          <a:xfrm>
            <a:off x="3429000" y="2011680"/>
            <a:ext cx="2560320" cy="3291840"/>
          </a:xfrm>
          <a:prstGeom prst="roundRect">
            <a:avLst>
              <a:gd name="adj" fmla="val 4286"/>
            </a:avLst>
          </a:prstGeom>
          <a:solidFill>
            <a:schemeClr val="accent6"/>
          </a:solidFill>
          <a:ln w="12700">
            <a:solidFill>
              <a:schemeClr val="accent6"/>
            </a:solidFill>
            <a:prstDash val="solid"/>
          </a:ln>
        </p:spPr>
      </p:sp>
      <p:sp>
        <p:nvSpPr>
          <p:cNvPr id="10" name="Text 8"/>
          <p:cNvSpPr txBox="1"/>
          <p:nvPr/>
        </p:nvSpPr>
        <p:spPr>
          <a:xfrm>
            <a:off x="3611880" y="2148840"/>
            <a:ext cx="2194560" cy="457200"/>
          </a:xfrm>
          <a:prstGeom prst="rect">
            <a:avLst/>
          </a:prstGeom>
          <a:noFill/>
          <a:ln/>
        </p:spPr>
        <p:txBody>
          <a:bodyPr wrap="square" lIns="635" tIns="635" rIns="635" bIns="635" rtlCol="0" anchor="t"/>
          <a:lstStyle/>
          <a:p>
            <a:pPr indent="0" marL="0">
              <a:buNone/>
            </a:pPr>
            <a:r>
              <a:rPr lang="en-US" sz="1500" b="1" dirty="0">
                <a:solidFill>
                  <a:schemeClr val="accent1"/>
                </a:solidFill>
              </a:rPr>
              <a:t>Exp 4</a:t>
            </a:r>
            <a:endParaRPr lang="en-US" sz="1500" dirty="0"/>
          </a:p>
        </p:txBody>
      </p:sp>
      <p:sp>
        <p:nvSpPr>
          <p:cNvPr id="11" name="Text 9"/>
          <p:cNvSpPr txBox="1"/>
          <p:nvPr/>
        </p:nvSpPr>
        <p:spPr>
          <a:xfrm>
            <a:off x="3611880" y="2606040"/>
            <a:ext cx="2194560" cy="731520"/>
          </a:xfrm>
          <a:prstGeom prst="rect">
            <a:avLst/>
          </a:prstGeom>
          <a:noFill/>
          <a:ln/>
        </p:spPr>
        <p:txBody>
          <a:bodyPr wrap="square" lIns="635" tIns="635" rIns="635" bIns="635" rtlCol="0" anchor="t"/>
          <a:lstStyle/>
          <a:p>
            <a:pPr indent="0" marL="0">
              <a:buNone/>
            </a:pPr>
            <a:r>
              <a:rPr lang="en-US" sz="1900" b="1" dirty="0">
                <a:solidFill>
                  <a:schemeClr val="tx1"/>
                </a:solidFill>
              </a:rPr>
              <a:t>Learned generator</a:t>
            </a:r>
            <a:endParaRPr lang="en-US" sz="1900" dirty="0"/>
          </a:p>
        </p:txBody>
      </p:sp>
      <p:sp>
        <p:nvSpPr>
          <p:cNvPr id="12" name="Text 10"/>
          <p:cNvSpPr txBox="1"/>
          <p:nvPr/>
        </p:nvSpPr>
        <p:spPr>
          <a:xfrm>
            <a:off x="3611880" y="3383280"/>
            <a:ext cx="2194560" cy="1737360"/>
          </a:xfrm>
          <a:prstGeom prst="rect">
            <a:avLst/>
          </a:prstGeom>
          <a:noFill/>
          <a:ln/>
        </p:spPr>
        <p:txBody>
          <a:bodyPr wrap="square" lIns="635" tIns="635" rIns="635" bIns="635" rtlCol="0" anchor="t"/>
          <a:lstStyle/>
          <a:p>
            <a:pPr indent="0" marL="0">
              <a:buNone/>
            </a:pPr>
            <a:r>
              <a:rPr lang="en-US" sz="1400" dirty="0">
                <a:solidFill>
                  <a:schemeClr val="tx2"/>
                </a:solidFill>
              </a:rPr>
              <a:t>DiT on normal tokens; inflated-variance or partial-denoise anomalies</a:t>
            </a:r>
            <a:endParaRPr lang="en-US" sz="1400" dirty="0"/>
          </a:p>
        </p:txBody>
      </p:sp>
      <p:sp>
        <p:nvSpPr>
          <p:cNvPr id="13" name="arrow"/>
          <p:cNvSpPr/>
          <p:nvPr/>
        </p:nvSpPr>
        <p:spPr>
          <a:xfrm>
            <a:off x="6007608" y="3657600"/>
            <a:ext cx="192024" cy="914"/>
          </a:xfrm>
          <a:prstGeom prst="line">
            <a:avLst/>
          </a:prstGeom>
          <a:noFill/>
          <a:ln w="25400">
            <a:solidFill>
              <a:schemeClr val="accent3"/>
            </a:solidFill>
            <a:prstDash val="solid"/>
            <a:tailEnd type="triangle"/>
          </a:ln>
        </p:spPr>
      </p:sp>
      <p:sp>
        <p:nvSpPr>
          <p:cNvPr id="14" name="s2"/>
          <p:cNvSpPr/>
          <p:nvPr/>
        </p:nvSpPr>
        <p:spPr>
          <a:xfrm>
            <a:off x="6217920" y="2011680"/>
            <a:ext cx="2560320" cy="3291840"/>
          </a:xfrm>
          <a:prstGeom prst="roundRect">
            <a:avLst>
              <a:gd name="adj" fmla="val 4286"/>
            </a:avLst>
          </a:prstGeom>
          <a:solidFill>
            <a:schemeClr val="bg2"/>
          </a:solidFill>
          <a:ln w="12700">
            <a:solidFill>
              <a:schemeClr val="bg2"/>
            </a:solidFill>
            <a:prstDash val="solid"/>
          </a:ln>
        </p:spPr>
      </p:sp>
      <p:sp>
        <p:nvSpPr>
          <p:cNvPr id="15" name="Text 13"/>
          <p:cNvSpPr txBox="1"/>
          <p:nvPr/>
        </p:nvSpPr>
        <p:spPr>
          <a:xfrm>
            <a:off x="6400800" y="2148840"/>
            <a:ext cx="2194560" cy="457200"/>
          </a:xfrm>
          <a:prstGeom prst="rect">
            <a:avLst/>
          </a:prstGeom>
          <a:noFill/>
          <a:ln/>
        </p:spPr>
        <p:txBody>
          <a:bodyPr wrap="square" lIns="635" tIns="635" rIns="635" bIns="635" rtlCol="0" anchor="t"/>
          <a:lstStyle/>
          <a:p>
            <a:pPr indent="0" marL="0">
              <a:buNone/>
            </a:pPr>
            <a:r>
              <a:rPr lang="en-US" sz="1500" b="1" dirty="0">
                <a:solidFill>
                  <a:schemeClr val="accent2"/>
                </a:solidFill>
              </a:rPr>
              <a:t>Exp 5</a:t>
            </a:r>
            <a:endParaRPr lang="en-US" sz="1500" dirty="0"/>
          </a:p>
        </p:txBody>
      </p:sp>
      <p:sp>
        <p:nvSpPr>
          <p:cNvPr id="16" name="Text 14"/>
          <p:cNvSpPr txBox="1"/>
          <p:nvPr/>
        </p:nvSpPr>
        <p:spPr>
          <a:xfrm>
            <a:off x="6400800" y="2606040"/>
            <a:ext cx="2194560" cy="731520"/>
          </a:xfrm>
          <a:prstGeom prst="rect">
            <a:avLst/>
          </a:prstGeom>
          <a:noFill/>
          <a:ln/>
        </p:spPr>
        <p:txBody>
          <a:bodyPr wrap="square" lIns="635" tIns="635" rIns="635" bIns="635" rtlCol="0" anchor="t"/>
          <a:lstStyle/>
          <a:p>
            <a:pPr indent="0" marL="0">
              <a:buNone/>
            </a:pPr>
            <a:r>
              <a:rPr lang="en-US" sz="1900" b="1" dirty="0">
                <a:solidFill>
                  <a:schemeClr val="tx1"/>
                </a:solidFill>
              </a:rPr>
              <a:t>Resolution</a:t>
            </a:r>
            <a:endParaRPr lang="en-US" sz="1900" dirty="0"/>
          </a:p>
        </p:txBody>
      </p:sp>
      <p:sp>
        <p:nvSpPr>
          <p:cNvPr id="17" name="Text 15"/>
          <p:cNvSpPr txBox="1"/>
          <p:nvPr/>
        </p:nvSpPr>
        <p:spPr>
          <a:xfrm>
            <a:off x="6400800" y="3383280"/>
            <a:ext cx="2194560" cy="1737360"/>
          </a:xfrm>
          <a:prstGeom prst="rect">
            <a:avLst/>
          </a:prstGeom>
          <a:noFill/>
          <a:ln/>
        </p:spPr>
        <p:txBody>
          <a:bodyPr wrap="square" lIns="635" tIns="635" rIns="635" bIns="635" rtlCol="0" anchor="t"/>
          <a:lstStyle/>
          <a:p>
            <a:pPr indent="0" marL="0">
              <a:buNone/>
            </a:pPr>
            <a:r>
              <a:rPr lang="en-US" sz="1400" dirty="0">
                <a:solidFill>
                  <a:schemeClr val="tx2"/>
                </a:solidFill>
              </a:rPr>
              <a:t>448–518 px input (32–37 token grid) for small defects</a:t>
            </a:r>
            <a:endParaRPr lang="en-US" sz="1400" dirty="0"/>
          </a:p>
        </p:txBody>
      </p:sp>
      <p:sp>
        <p:nvSpPr>
          <p:cNvPr id="18" name="arrow"/>
          <p:cNvSpPr/>
          <p:nvPr/>
        </p:nvSpPr>
        <p:spPr>
          <a:xfrm>
            <a:off x="8796528" y="3657600"/>
            <a:ext cx="192024" cy="914"/>
          </a:xfrm>
          <a:prstGeom prst="line">
            <a:avLst/>
          </a:prstGeom>
          <a:noFill/>
          <a:ln w="25400">
            <a:solidFill>
              <a:schemeClr val="accent3"/>
            </a:solidFill>
            <a:prstDash val="solid"/>
            <a:tailEnd type="triangle"/>
          </a:ln>
        </p:spPr>
      </p:sp>
      <p:sp>
        <p:nvSpPr>
          <p:cNvPr id="19" name="s3"/>
          <p:cNvSpPr/>
          <p:nvPr/>
        </p:nvSpPr>
        <p:spPr>
          <a:xfrm>
            <a:off x="9006840" y="2011680"/>
            <a:ext cx="2560320" cy="3291840"/>
          </a:xfrm>
          <a:prstGeom prst="roundRect">
            <a:avLst>
              <a:gd name="adj" fmla="val 4286"/>
            </a:avLst>
          </a:prstGeom>
          <a:solidFill>
            <a:schemeClr val="bg2"/>
          </a:solidFill>
          <a:ln w="12700">
            <a:solidFill>
              <a:schemeClr val="bg2"/>
            </a:solidFill>
            <a:prstDash val="solid"/>
          </a:ln>
        </p:spPr>
      </p:sp>
      <p:sp>
        <p:nvSpPr>
          <p:cNvPr id="20" name="Text 18"/>
          <p:cNvSpPr txBox="1"/>
          <p:nvPr/>
        </p:nvSpPr>
        <p:spPr>
          <a:xfrm>
            <a:off x="9189720" y="2148840"/>
            <a:ext cx="2194560" cy="457200"/>
          </a:xfrm>
          <a:prstGeom prst="rect">
            <a:avLst/>
          </a:prstGeom>
          <a:noFill/>
          <a:ln/>
        </p:spPr>
        <p:txBody>
          <a:bodyPr wrap="square" lIns="635" tIns="635" rIns="635" bIns="635" rtlCol="0" anchor="t"/>
          <a:lstStyle/>
          <a:p>
            <a:pPr indent="0" marL="0">
              <a:buNone/>
            </a:pPr>
            <a:r>
              <a:rPr lang="en-US" sz="1500" b="1" dirty="0">
                <a:solidFill>
                  <a:schemeClr val="accent2"/>
                </a:solidFill>
              </a:rPr>
              <a:t>Scale</a:t>
            </a:r>
            <a:endParaRPr lang="en-US" sz="1500" dirty="0"/>
          </a:p>
        </p:txBody>
      </p:sp>
      <p:sp>
        <p:nvSpPr>
          <p:cNvPr id="21" name="Text 19"/>
          <p:cNvSpPr txBox="1"/>
          <p:nvPr/>
        </p:nvSpPr>
        <p:spPr>
          <a:xfrm>
            <a:off x="9189720" y="2606040"/>
            <a:ext cx="2194560" cy="731520"/>
          </a:xfrm>
          <a:prstGeom prst="rect">
            <a:avLst/>
          </a:prstGeom>
          <a:noFill/>
          <a:ln/>
        </p:spPr>
        <p:txBody>
          <a:bodyPr wrap="square" lIns="635" tIns="635" rIns="635" bIns="635" rtlCol="0" anchor="t"/>
          <a:lstStyle/>
          <a:p>
            <a:pPr indent="0" marL="0">
              <a:buNone/>
            </a:pPr>
            <a:r>
              <a:rPr lang="en-US" sz="1900" b="1" dirty="0">
                <a:solidFill>
                  <a:schemeClr val="tx1"/>
                </a:solidFill>
              </a:rPr>
              <a:t>Full benchmarks</a:t>
            </a:r>
            <a:endParaRPr lang="en-US" sz="1900" dirty="0"/>
          </a:p>
        </p:txBody>
      </p:sp>
      <p:sp>
        <p:nvSpPr>
          <p:cNvPr id="22" name="Text 20"/>
          <p:cNvSpPr txBox="1"/>
          <p:nvPr/>
        </p:nvSpPr>
        <p:spPr>
          <a:xfrm>
            <a:off x="9189720" y="3383280"/>
            <a:ext cx="2194560" cy="1737360"/>
          </a:xfrm>
          <a:prstGeom prst="rect">
            <a:avLst/>
          </a:prstGeom>
          <a:noFill/>
          <a:ln/>
        </p:spPr>
        <p:txBody>
          <a:bodyPr wrap="square" lIns="635" tIns="635" rIns="635" bIns="635" rtlCol="0" anchor="t"/>
          <a:lstStyle/>
          <a:p>
            <a:pPr indent="0" marL="0">
              <a:buNone/>
            </a:pPr>
            <a:r>
              <a:rPr lang="en-US" sz="1400" dirty="0">
                <a:solidFill>
                  <a:schemeClr val="tx2"/>
                </a:solidFill>
              </a:rPr>
              <a:t>All of MVTec AD, then MVTec AD 2 and VisA</a:t>
            </a:r>
            <a:endParaRPr lang="en-US" sz="1400" dirty="0"/>
          </a:p>
        </p:txBody>
      </p:sp>
      <p:sp>
        <p:nvSpPr>
          <p:cNvPr id="23" name="Text 21"/>
          <p:cNvSpPr txBox="1"/>
          <p:nvPr/>
        </p:nvSpPr>
        <p:spPr>
          <a:xfrm>
            <a:off x="640080" y="5577840"/>
            <a:ext cx="10881360" cy="548640"/>
          </a:xfrm>
          <a:prstGeom prst="rect">
            <a:avLst/>
          </a:prstGeom>
          <a:noFill/>
          <a:ln/>
        </p:spPr>
        <p:txBody>
          <a:bodyPr wrap="square" lIns="635" tIns="635" rIns="635" bIns="635" rtlCol="0" anchor="t"/>
          <a:lstStyle/>
          <a:p>
            <a:pPr indent="0" marL="0">
              <a:buNone/>
            </a:pPr>
            <a:r>
              <a:rPr lang="en-US" sz="1500" i="1" dirty="0">
                <a:solidFill>
                  <a:schemeClr val="tx2"/>
                </a:solidFill>
              </a:rPr>
              <a:t>Decision rule: if Exp 3 shows no gain beyond seed variance, the learned generator becomes the whole contribution rather than an add-on.</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Synthesize and remove anomalies where the representation lives</a:t>
            </a:r>
            <a:endParaRPr lang="en-US" sz="4000" dirty="0"/>
          </a:p>
        </p:txBody>
      </p:sp>
      <p:sp>
        <p:nvSpPr>
          <p:cNvPr id="3" name="Text 0"/>
          <p:cNvSpPr/>
          <p:nvPr>
            <p:ph idx="101" type="body" hasCustomPrompt="1"/>
          </p:nvPr>
        </p:nvSpPr>
        <p:spPr>
          <a:xfrm>
            <a:off x="731520" y="3749040"/>
            <a:ext cx="10698480" cy="1463040"/>
          </a:xfrm>
          <a:prstGeom prst="rect">
            <a:avLst/>
          </a:prstGeom>
          <a:noFill/>
          <a:ln/>
        </p:spPr>
        <p:txBody>
          <a:bodyPr wrap="square" rtlCol="0" anchor="t"/>
          <a:lstStyle/>
          <a:p>
            <a:pPr indent="0" marL="0">
              <a:buNone/>
            </a:pPr>
            <a:r>
              <a:rPr lang="en-US" sz="2000" dirty="0">
                <a:solidFill>
                  <a:schemeClr val="accent5"/>
                </a:solidFill>
              </a:rPr>
              <a:t>RAE tokens are semantic and generative · scoring stays in token space · wins where synthetic anomalies match real ones · next: learned generator</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731520" y="2743200"/>
            <a:ext cx="10698480" cy="1280160"/>
          </a:xfrm>
          <a:prstGeom prst="rect">
            <a:avLst/>
          </a:prstGeom>
          <a:noFill/>
          <a:ln/>
        </p:spPr>
        <p:txBody>
          <a:bodyPr wrap="square"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Anticipated questions</a:t>
            </a:r>
            <a:endParaRPr lang="en-US" sz="4000" dirty="0"/>
          </a:p>
        </p:txBody>
      </p:sp>
      <p:sp>
        <p:nvSpPr>
          <p:cNvPr id="3" name="Text 0"/>
          <p:cNvSpPr/>
          <p:nvPr>
            <p:ph idx="100" type="body" hasCustomPrompt="1"/>
          </p:nvPr>
        </p:nvSpPr>
        <p:spPr>
          <a:xfrm>
            <a:off x="731520" y="2011680"/>
            <a:ext cx="10698480" cy="731520"/>
          </a:xfrm>
          <a:prstGeom prst="rect">
            <a:avLst/>
          </a:prstGeom>
          <a:noFill/>
          <a:ln/>
        </p:spPr>
        <p:txBody>
          <a:bodyPr wrap="square" rtlCol="0"/>
          <a:lstStyle/>
          <a:p>
            <a:pPr indent="0" marL="0">
              <a:buNone/>
            </a:pPr>
            <a:r>
              <a:rPr lang="en-US" sz="2000" b="1" dirty="0">
                <a:solidFill>
                  <a:schemeClr val="accent1"/>
                </a:solidFill>
              </a:rPr>
              <a:t>Backup</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68580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Q1</a:t>
            </a:r>
            <a:endParaRPr lang="en-US" sz="3600" dirty="0"/>
          </a:p>
        </p:txBody>
      </p:sp>
      <p:sp>
        <p:nvSpPr>
          <p:cNvPr id="3" name="q"/>
          <p:cNvSpPr/>
          <p:nvPr/>
        </p:nvSpPr>
        <p:spPr>
          <a:xfrm>
            <a:off x="640080" y="1143000"/>
            <a:ext cx="10881360" cy="914400"/>
          </a:xfrm>
          <a:prstGeom prst="roundRect">
            <a:avLst>
              <a:gd name="adj" fmla="val 12000"/>
            </a:avLst>
          </a:prstGeom>
          <a:solidFill>
            <a:schemeClr val="tx1"/>
          </a:solidFill>
          <a:ln w="12700">
            <a:solidFill>
              <a:schemeClr val="tx1"/>
            </a:solidFill>
            <a:prstDash val="solid"/>
          </a:ln>
        </p:spPr>
      </p:sp>
      <p:sp>
        <p:nvSpPr>
          <p:cNvPr id="4" name="Text 2"/>
          <p:cNvSpPr txBox="1"/>
          <p:nvPr/>
        </p:nvSpPr>
        <p:spPr>
          <a:xfrm>
            <a:off x="868680" y="1234440"/>
            <a:ext cx="10424160" cy="731520"/>
          </a:xfrm>
          <a:prstGeom prst="rect">
            <a:avLst/>
          </a:prstGeom>
          <a:noFill/>
          <a:ln/>
        </p:spPr>
        <p:txBody>
          <a:bodyPr wrap="square" lIns="635" tIns="635" rIns="635" bIns="635"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"Isn't this just DRAEM in another space?"</a:t>
            </a:r>
            <a:endParaRPr lang="en-US" sz="2200" dirty="0"/>
          </a:p>
        </p:txBody>
      </p:sp>
      <p:sp>
        <p:nvSpPr>
          <p:cNvPr id="5" name="Text 3"/>
          <p:cNvSpPr txBox="1"/>
          <p:nvPr/>
        </p:nvSpPr>
        <p:spPr>
          <a:xfrm>
            <a:off x="868680" y="2377440"/>
            <a:ext cx="10424160" cy="3749040"/>
          </a:xfrm>
          <a:prstGeom prst="rect">
            <a:avLst/>
          </a:prstGeom>
          <a:noFill/>
          <a:ln/>
        </p:spPr>
        <p:txBody>
          <a:bodyPr wrap="square" rtlCol="0" anchor="t"/>
          <a:lstStyle/>
          <a:p>
            <a:pPr marL="342900" indent="-342900">
              <a:spcAft>
                <a:spcPts val="600"/>
              </a:spcAft>
              <a:buSzPct val="100000"/>
              <a:buChar char="•"/>
            </a:pPr>
            <a:r>
              <a:rPr lang="en-US" sz="2000" dirty="0">
                <a:solidFill>
                  <a:schemeClr val="tx1"/>
                </a:solidFill>
              </a:rPr>
              <a:t>The space decides what can be synthesized. Pixels allow pasted textures; tokens allow moved or missing semantic parts.</a:t>
            </a:r>
            <a:endParaRPr lang="en-US" sz="2000" dirty="0"/>
          </a:p>
          <a:p>
            <a:pPr marL="342900" indent="-342900">
              <a:spcAft>
                <a:spcPts val="600"/>
              </a:spcAft>
              <a:buSzPct val="100000"/>
              <a:buChar char="•"/>
            </a:pPr>
            <a:r>
              <a:rPr lang="en-US" sz="2000" dirty="0">
                <a:solidFill>
                  <a:schemeClr val="tx1"/>
                </a:solidFill>
              </a:rPr>
              <a:t>Evidence: latent_self beats pixel synthesis on transistor (AUPRO 0.885 vs 0.651).</a:t>
            </a:r>
            <a:endParaRPr lang="en-US" sz="2000" dirty="0"/>
          </a:p>
          <a:p>
            <a:pPr marL="342900" indent="-342900">
              <a:spcAft>
                <a:spcPts val="600"/>
              </a:spcAft>
              <a:buSzPct val="100000"/>
              <a:buChar char="•"/>
            </a:pPr>
            <a:r>
              <a:rPr lang="en-US" sz="2000" dirty="0">
                <a:solidFill>
                  <a:schemeClr val="tx1"/>
                </a:solidFill>
              </a:rPr>
              <a:t>DSR showed latent synthesis helps, but with a codebook trained per category. Ours uses a frozen foundation latent, which a generator can then model (v2).</a:t>
            </a:r>
            <a:endParaRPr lang="en-US" sz="2000" dirty="0"/>
          </a:p>
          <a:p>
            <a:pPr marL="342900" indent="-342900">
              <a:spcAft>
                <a:spcPts val="600"/>
              </a:spcAft>
              <a:buSzPct val="100000"/>
              <a:buChar char="•"/>
            </a:pPr>
            <a:r>
              <a:rPr lang="en-US" sz="2000" dirty="0">
                <a:solidFill>
                  <a:schemeClr val="tx1"/>
                </a:solidFill>
              </a:rPr>
              <a:t>Contribution claim: synthesis and removal in a frozen representation space, plus a learned generator there. Not the DRAEM training loop itself.</a:t>
            </a:r>
            <a:endParaRPr lang="en-US" sz="2000" dirty="0"/>
          </a:p>
        </p:txBody>
      </p:sp>
      <p:sp>
        <p:nvSpPr>
          <p:cNvPr id="7" name="Text 1"/>
          <p:cNvSpPr/>
          <p:nvPr>
            <p:ph idx="102" type="body" hasCustomPrompt="1"/>
          </p:nvPr>
        </p:nvSpPr>
        <p:spPr>
          <a:xfrm>
            <a:off x="548640" y="1005840"/>
            <a:ext cx="11064240" cy="457200"/>
          </a:xfrm>
          <a:prstGeom prst="rect">
            <a:avLst/>
          </a:prstGeom>
          <a:noFill/>
          <a:ln/>
        </p:spPr>
        <p:txBody>
          <a:bodyPr wrap="square"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68580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Q2</a:t>
            </a:r>
            <a:endParaRPr lang="en-US" sz="3600" dirty="0"/>
          </a:p>
        </p:txBody>
      </p:sp>
      <p:sp>
        <p:nvSpPr>
          <p:cNvPr id="3" name="q"/>
          <p:cNvSpPr/>
          <p:nvPr/>
        </p:nvSpPr>
        <p:spPr>
          <a:xfrm>
            <a:off x="640080" y="1143000"/>
            <a:ext cx="10881360" cy="914400"/>
          </a:xfrm>
          <a:prstGeom prst="roundRect">
            <a:avLst>
              <a:gd name="adj" fmla="val 12000"/>
            </a:avLst>
          </a:prstGeom>
          <a:solidFill>
            <a:schemeClr val="tx1"/>
          </a:solidFill>
          <a:ln w="12700">
            <a:solidFill>
              <a:schemeClr val="tx1"/>
            </a:solidFill>
            <a:prstDash val="solid"/>
          </a:ln>
        </p:spPr>
      </p:sp>
      <p:sp>
        <p:nvSpPr>
          <p:cNvPr id="4" name="Text 2"/>
          <p:cNvSpPr txBox="1"/>
          <p:nvPr/>
        </p:nvSpPr>
        <p:spPr>
          <a:xfrm>
            <a:off x="868680" y="1234440"/>
            <a:ext cx="10424160" cy="731520"/>
          </a:xfrm>
          <a:prstGeom prst="rect">
            <a:avLst/>
          </a:prstGeom>
          <a:noFill/>
          <a:ln/>
        </p:spPr>
        <p:txBody>
          <a:bodyPr wrap="square" lIns="635" tIns="635" rIns="635" bIns="635"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"Why not just use kNN / PatchCore on the tokens?"</a:t>
            </a:r>
            <a:endParaRPr lang="en-US" sz="2200" dirty="0"/>
          </a:p>
        </p:txBody>
      </p:sp>
      <p:sp>
        <p:nvSpPr>
          <p:cNvPr id="5" name="Text 3"/>
          <p:cNvSpPr txBox="1"/>
          <p:nvPr/>
        </p:nvSpPr>
        <p:spPr>
          <a:xfrm>
            <a:off x="868680" y="2377440"/>
            <a:ext cx="10424160" cy="3749040"/>
          </a:xfrm>
          <a:prstGeom prst="rect">
            <a:avLst/>
          </a:prstGeom>
          <a:noFill/>
          <a:ln/>
        </p:spPr>
        <p:txBody>
          <a:bodyPr wrap="square" rtlCol="0" anchor="t"/>
          <a:lstStyle/>
          <a:p>
            <a:pPr marL="342900" indent="-342900">
              <a:spcAft>
                <a:spcPts val="600"/>
              </a:spcAft>
              <a:buSzPct val="100000"/>
              <a:buChar char="•"/>
            </a:pPr>
            <a:r>
              <a:rPr lang="en-US" sz="2000" dirty="0">
                <a:solidFill>
                  <a:schemeClr val="tx1"/>
                </a:solidFill>
              </a:rPr>
              <a:t>kNN is our control, and it is strong; we report it everywhere.</a:t>
            </a:r>
            <a:endParaRPr lang="en-US" sz="2000" dirty="0"/>
          </a:p>
          <a:p>
            <a:pPr marL="342900" indent="-342900">
              <a:spcAft>
                <a:spcPts val="600"/>
              </a:spcAft>
              <a:buSzPct val="100000"/>
              <a:buChar char="•"/>
            </a:pPr>
            <a:r>
              <a:rPr lang="en-US" sz="2000" dirty="0">
                <a:solidFill>
                  <a:schemeClr val="tx1"/>
                </a:solidFill>
              </a:rPr>
              <a:t>It has no notion of structure: misplaced parts that look locally normal score low. Learned scores win on transistor and screw AUPRO (+0.14, +0.13).</a:t>
            </a:r>
            <a:endParaRPr lang="en-US" sz="2000" dirty="0"/>
          </a:p>
          <a:p>
            <a:pPr marL="342900" indent="-342900">
              <a:spcAft>
                <a:spcPts val="600"/>
              </a:spcAft>
              <a:buSzPct val="100000"/>
              <a:buChar char="•"/>
            </a:pPr>
            <a:r>
              <a:rPr lang="en-US" sz="2000" dirty="0">
                <a:solidFill>
                  <a:schemeClr val="tx1"/>
                </a:solidFill>
              </a:rPr>
              <a:t>Exp 3 tests fusion: keep kNN's image-level strength, add the learned localization.</a:t>
            </a:r>
            <a:endParaRPr lang="en-US" sz="2000" dirty="0"/>
          </a:p>
          <a:p>
            <a:pPr marL="342900" indent="-342900">
              <a:spcAft>
                <a:spcPts val="600"/>
              </a:spcAft>
              <a:buSzPct val="100000"/>
              <a:buChar char="•"/>
            </a:pPr>
            <a:r>
              <a:rPr lang="en-US" sz="2000" dirty="0">
                <a:solidFill>
                  <a:schemeClr val="tx1"/>
                </a:solidFill>
              </a:rPr>
              <a:t>If the gains don't exceed seed variance, we will say so.</a:t>
            </a:r>
            <a:endParaRPr lang="en-US" sz="2000" dirty="0"/>
          </a:p>
        </p:txBody>
      </p:sp>
      <p:sp>
        <p:nvSpPr>
          <p:cNvPr id="7" name="Text 1"/>
          <p:cNvSpPr/>
          <p:nvPr>
            <p:ph idx="102" type="body" hasCustomPrompt="1"/>
          </p:nvPr>
        </p:nvSpPr>
        <p:spPr>
          <a:xfrm>
            <a:off x="548640" y="1005840"/>
            <a:ext cx="11064240" cy="457200"/>
          </a:xfrm>
          <a:prstGeom prst="rect">
            <a:avLst/>
          </a:prstGeom>
          <a:noFill/>
          <a:ln/>
        </p:spPr>
        <p:txBody>
          <a:bodyPr wrap="square"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68580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Q3</a:t>
            </a:r>
            <a:endParaRPr lang="en-US" sz="3600" dirty="0"/>
          </a:p>
        </p:txBody>
      </p:sp>
      <p:sp>
        <p:nvSpPr>
          <p:cNvPr id="3" name="q"/>
          <p:cNvSpPr/>
          <p:nvPr/>
        </p:nvSpPr>
        <p:spPr>
          <a:xfrm>
            <a:off x="640080" y="1143000"/>
            <a:ext cx="10881360" cy="914400"/>
          </a:xfrm>
          <a:prstGeom prst="roundRect">
            <a:avLst>
              <a:gd name="adj" fmla="val 12000"/>
            </a:avLst>
          </a:prstGeom>
          <a:solidFill>
            <a:schemeClr val="tx1"/>
          </a:solidFill>
          <a:ln w="12700">
            <a:solidFill>
              <a:schemeClr val="tx1"/>
            </a:solidFill>
            <a:prstDash val="solid"/>
          </a:ln>
        </p:spPr>
      </p:sp>
      <p:sp>
        <p:nvSpPr>
          <p:cNvPr id="4" name="Text 2"/>
          <p:cNvSpPr txBox="1"/>
          <p:nvPr/>
        </p:nvSpPr>
        <p:spPr>
          <a:xfrm>
            <a:off x="868680" y="1234440"/>
            <a:ext cx="10424160" cy="731520"/>
          </a:xfrm>
          <a:prstGeom prst="rect">
            <a:avLst/>
          </a:prstGeom>
          <a:noFill/>
          <a:ln/>
        </p:spPr>
        <p:txBody>
          <a:bodyPr wrap="square" lIns="635" tIns="635" rIns="635" bIns="635"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"Fake anomalies won't look like real defects"</a:t>
            </a:r>
            <a:endParaRPr lang="en-US" sz="2200" dirty="0"/>
          </a:p>
        </p:txBody>
      </p:sp>
      <p:sp>
        <p:nvSpPr>
          <p:cNvPr id="5" name="Text 3"/>
          <p:cNvSpPr txBox="1"/>
          <p:nvPr/>
        </p:nvSpPr>
        <p:spPr>
          <a:xfrm>
            <a:off x="868680" y="2377440"/>
            <a:ext cx="10424160" cy="3749040"/>
          </a:xfrm>
          <a:prstGeom prst="rect">
            <a:avLst/>
          </a:prstGeom>
          <a:noFill/>
          <a:ln/>
        </p:spPr>
        <p:txBody>
          <a:bodyPr wrap="square" rtlCol="0" anchor="t"/>
          <a:lstStyle/>
          <a:p>
            <a:pPr marL="342900" indent="-342900">
              <a:spcAft>
                <a:spcPts val="600"/>
              </a:spcAft>
              <a:buSzPct val="100000"/>
              <a:buChar char="•"/>
            </a:pPr>
            <a:r>
              <a:rPr lang="en-US" sz="2000" dirty="0">
                <a:solidFill>
                  <a:schemeClr val="tx1"/>
                </a:solidFill>
              </a:rPr>
              <a:t>Agreed; it is the main risk, and Exp 2 shows it: the restorer leaves real defects in place.</a:t>
            </a:r>
            <a:endParaRPr lang="en-US" sz="2000" dirty="0"/>
          </a:p>
          <a:p>
            <a:pPr marL="342900" indent="-342900">
              <a:spcAft>
                <a:spcPts val="600"/>
              </a:spcAft>
              <a:buSzPct val="100000"/>
              <a:buChar char="•"/>
            </a:pPr>
            <a:r>
              <a:rPr lang="en-US" sz="2000" dirty="0">
                <a:solidFill>
                  <a:schemeClr val="tx1"/>
                </a:solidFill>
              </a:rPr>
              <a:t>The discriminator still ranks real defects highly, so the learned comparison transfers partly.</a:t>
            </a:r>
            <a:endParaRPr lang="en-US" sz="2000" dirty="0"/>
          </a:p>
          <a:p>
            <a:pPr marL="342900" indent="-342900">
              <a:spcAft>
                <a:spcPts val="600"/>
              </a:spcAft>
              <a:buSzPct val="100000"/>
              <a:buChar char="•"/>
            </a:pPr>
            <a:r>
              <a:rPr lang="en-US" sz="2000" dirty="0">
                <a:solidFill>
                  <a:schemeClr val="tx1"/>
                </a:solidFill>
              </a:rPr>
              <a:t>Mitigations: mixtures of modes; a generator learned on normal tokens (v2); evaluation on MVTec AD 2 and LOCO, where defects differ most.</a:t>
            </a:r>
            <a:endParaRPr lang="en-US" sz="2000" dirty="0"/>
          </a:p>
        </p:txBody>
      </p:sp>
      <p:sp>
        <p:nvSpPr>
          <p:cNvPr id="7" name="Text 1"/>
          <p:cNvSpPr/>
          <p:nvPr>
            <p:ph idx="102" type="body" hasCustomPrompt="1"/>
          </p:nvPr>
        </p:nvSpPr>
        <p:spPr>
          <a:xfrm>
            <a:off x="548640" y="1005840"/>
            <a:ext cx="11064240" cy="457200"/>
          </a:xfrm>
          <a:prstGeom prst="rect">
            <a:avLst/>
          </a:prstGeom>
          <a:noFill/>
          <a:ln/>
        </p:spPr>
        <p:txBody>
          <a:bodyPr wrap="square"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68580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Q4</a:t>
            </a:r>
            <a:endParaRPr lang="en-US" sz="3600" dirty="0"/>
          </a:p>
        </p:txBody>
      </p:sp>
      <p:sp>
        <p:nvSpPr>
          <p:cNvPr id="3" name="q"/>
          <p:cNvSpPr/>
          <p:nvPr/>
        </p:nvSpPr>
        <p:spPr>
          <a:xfrm>
            <a:off x="640080" y="1143000"/>
            <a:ext cx="10881360" cy="914400"/>
          </a:xfrm>
          <a:prstGeom prst="roundRect">
            <a:avLst>
              <a:gd name="adj" fmla="val 12000"/>
            </a:avLst>
          </a:prstGeom>
          <a:solidFill>
            <a:schemeClr val="tx1"/>
          </a:solidFill>
          <a:ln w="12700">
            <a:solidFill>
              <a:schemeClr val="tx1"/>
            </a:solidFill>
            <a:prstDash val="solid"/>
          </a:ln>
        </p:spPr>
      </p:sp>
      <p:sp>
        <p:nvSpPr>
          <p:cNvPr id="4" name="Text 2"/>
          <p:cNvSpPr txBox="1"/>
          <p:nvPr/>
        </p:nvSpPr>
        <p:spPr>
          <a:xfrm>
            <a:off x="868680" y="1234440"/>
            <a:ext cx="10424160" cy="731520"/>
          </a:xfrm>
          <a:prstGeom prst="rect">
            <a:avLst/>
          </a:prstGeom>
          <a:noFill/>
          <a:ln/>
        </p:spPr>
        <p:txBody>
          <a:bodyPr wrap="square" lIns="635" tIns="635" rIns="635" bIns="635"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"16×16 tokens cannot localize small defects"</a:t>
            </a:r>
            <a:endParaRPr lang="en-US" sz="2200" dirty="0"/>
          </a:p>
        </p:txBody>
      </p:sp>
      <p:sp>
        <p:nvSpPr>
          <p:cNvPr id="5" name="Text 3"/>
          <p:cNvSpPr txBox="1"/>
          <p:nvPr/>
        </p:nvSpPr>
        <p:spPr>
          <a:xfrm>
            <a:off x="868680" y="2377440"/>
            <a:ext cx="10424160" cy="3749040"/>
          </a:xfrm>
          <a:prstGeom prst="rect">
            <a:avLst/>
          </a:prstGeom>
          <a:noFill/>
          <a:ln/>
        </p:spPr>
        <p:txBody>
          <a:bodyPr wrap="square" rtlCol="0" anchor="t"/>
          <a:lstStyle/>
          <a:p>
            <a:pPr marL="342900" indent="-342900">
              <a:spcAft>
                <a:spcPts val="600"/>
              </a:spcAft>
              <a:buSzPct val="100000"/>
              <a:buChar char="•"/>
            </a:pPr>
            <a:r>
              <a:rPr lang="en-US" sz="2000" dirty="0">
                <a:solidFill>
                  <a:schemeClr val="tx1"/>
                </a:solidFill>
              </a:rPr>
              <a:t>Partly true: one token covers 16×16 px at 256 px input.</a:t>
            </a:r>
            <a:endParaRPr lang="en-US" sz="2000" dirty="0"/>
          </a:p>
          <a:p>
            <a:pPr marL="342900" indent="-342900">
              <a:spcAft>
                <a:spcPts val="600"/>
              </a:spcAft>
              <a:buSzPct val="100000"/>
              <a:buChar char="•"/>
            </a:pPr>
            <a:r>
              <a:rPr lang="en-US" sz="2000" dirty="0">
                <a:solidFill>
                  <a:schemeClr val="tx1"/>
                </a:solidFill>
              </a:rPr>
              <a:t>Yet pixel synthesis reaches pixel AUROC 0.982 on screw: the blurred map still ranks defect pixels highly.</a:t>
            </a:r>
            <a:endParaRPr lang="en-US" sz="2000" dirty="0"/>
          </a:p>
          <a:p>
            <a:pPr marL="342900" indent="-342900">
              <a:spcAft>
                <a:spcPts val="600"/>
              </a:spcAft>
              <a:buSzPct val="100000"/>
              <a:buChar char="•"/>
            </a:pPr>
            <a:r>
              <a:rPr lang="en-US" sz="2000" dirty="0">
                <a:solidFill>
                  <a:schemeClr val="tx1"/>
                </a:solidFill>
              </a:rPr>
              <a:t>AUPRO is where resolution hurts; planned fix: 448–518 px input (32–37 token grid).</a:t>
            </a:r>
            <a:endParaRPr lang="en-US" sz="2000" dirty="0"/>
          </a:p>
        </p:txBody>
      </p:sp>
      <p:sp>
        <p:nvSpPr>
          <p:cNvPr id="7" name="Text 1"/>
          <p:cNvSpPr/>
          <p:nvPr>
            <p:ph idx="102" type="body" hasCustomPrompt="1"/>
          </p:nvPr>
        </p:nvSpPr>
        <p:spPr>
          <a:xfrm>
            <a:off x="548640" y="1005840"/>
            <a:ext cx="11064240" cy="457200"/>
          </a:xfrm>
          <a:prstGeom prst="rect">
            <a:avLst/>
          </a:prstGeom>
          <a:noFill/>
          <a:ln/>
        </p:spPr>
        <p:txBody>
          <a:bodyPr wrap="square"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68580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Q5</a:t>
            </a:r>
            <a:endParaRPr lang="en-US" sz="3600" dirty="0"/>
          </a:p>
        </p:txBody>
      </p:sp>
      <p:sp>
        <p:nvSpPr>
          <p:cNvPr id="3" name="q"/>
          <p:cNvSpPr/>
          <p:nvPr/>
        </p:nvSpPr>
        <p:spPr>
          <a:xfrm>
            <a:off x="640080" y="1143000"/>
            <a:ext cx="10881360" cy="914400"/>
          </a:xfrm>
          <a:prstGeom prst="roundRect">
            <a:avLst>
              <a:gd name="adj" fmla="val 12000"/>
            </a:avLst>
          </a:prstGeom>
          <a:solidFill>
            <a:schemeClr val="tx1"/>
          </a:solidFill>
          <a:ln w="12700">
            <a:solidFill>
              <a:schemeClr val="tx1"/>
            </a:solidFill>
            <a:prstDash val="solid"/>
          </a:ln>
        </p:spPr>
      </p:sp>
      <p:sp>
        <p:nvSpPr>
          <p:cNvPr id="4" name="Text 2"/>
          <p:cNvSpPr txBox="1"/>
          <p:nvPr/>
        </p:nvSpPr>
        <p:spPr>
          <a:xfrm>
            <a:off x="868680" y="1234440"/>
            <a:ext cx="10424160" cy="731520"/>
          </a:xfrm>
          <a:prstGeom prst="rect">
            <a:avLst/>
          </a:prstGeom>
          <a:noFill/>
          <a:ln/>
        </p:spPr>
        <p:txBody>
          <a:bodyPr wrap="square" lIns="635" tIns="635" rIns="635" bIns="635"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"Single seed, five categories: is anything significant?"</a:t>
            </a:r>
            <a:endParaRPr lang="en-US" sz="2200" dirty="0"/>
          </a:p>
        </p:txBody>
      </p:sp>
      <p:sp>
        <p:nvSpPr>
          <p:cNvPr id="5" name="Text 3"/>
          <p:cNvSpPr txBox="1"/>
          <p:nvPr/>
        </p:nvSpPr>
        <p:spPr>
          <a:xfrm>
            <a:off x="868680" y="2377440"/>
            <a:ext cx="10424160" cy="3749040"/>
          </a:xfrm>
          <a:prstGeom prst="rect">
            <a:avLst/>
          </a:prstGeom>
          <a:noFill/>
          <a:ln/>
        </p:spPr>
        <p:txBody>
          <a:bodyPr wrap="square" rtlCol="0" anchor="t"/>
          <a:lstStyle/>
          <a:p>
            <a:pPr marL="342900" indent="-342900">
              <a:spcAft>
                <a:spcPts val="600"/>
              </a:spcAft>
              <a:buSzPct val="100000"/>
              <a:buChar char="•"/>
            </a:pPr>
            <a:r>
              <a:rPr lang="en-US" sz="2000" dirty="0">
                <a:solidFill>
                  <a:schemeClr val="tx1"/>
                </a:solidFill>
              </a:rPr>
              <a:t>Correct, Exp 2 is a pilot.</a:t>
            </a:r>
            <a:endParaRPr lang="en-US" sz="2000" dirty="0"/>
          </a:p>
          <a:p>
            <a:pPr marL="342900" indent="-342900">
              <a:spcAft>
                <a:spcPts val="600"/>
              </a:spcAft>
              <a:buSzPct val="100000"/>
              <a:buChar char="•"/>
            </a:pPr>
            <a:r>
              <a:rPr lang="en-US" sz="2000" dirty="0">
                <a:solidFill>
                  <a:schemeClr val="tx1"/>
                </a:solidFill>
              </a:rPr>
              <a:t>Exp 3: 3 seeds; differences flagged only beyond 2× seed std; score scaling from held-out normals.</a:t>
            </a:r>
            <a:endParaRPr lang="en-US" sz="2000" dirty="0"/>
          </a:p>
          <a:p>
            <a:pPr marL="342900" indent="-342900">
              <a:spcAft>
                <a:spcPts val="600"/>
              </a:spcAft>
              <a:buSzPct val="100000"/>
              <a:buChar char="•"/>
            </a:pPr>
            <a:r>
              <a:rPr lang="en-US" sz="2000" dirty="0">
                <a:solidFill>
                  <a:schemeClr val="tx1"/>
                </a:solidFill>
              </a:rPr>
              <a:t>After that: all 15 MVTec categories, then MVTec AD 2 and VisA.</a:t>
            </a:r>
            <a:endParaRPr lang="en-US" sz="2000" dirty="0"/>
          </a:p>
        </p:txBody>
      </p:sp>
      <p:sp>
        <p:nvSpPr>
          <p:cNvPr id="7" name="Text 1"/>
          <p:cNvSpPr/>
          <p:nvPr>
            <p:ph idx="102" type="body" hasCustomPrompt="1"/>
          </p:nvPr>
        </p:nvSpPr>
        <p:spPr>
          <a:xfrm>
            <a:off x="548640" y="1005840"/>
            <a:ext cx="11064240" cy="457200"/>
          </a:xfrm>
          <a:prstGeom prst="rect">
            <a:avLst/>
          </a:prstGeom>
          <a:noFill/>
          <a:ln/>
        </p:spPr>
        <p:txBody>
          <a:bodyPr wrap="square"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68580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Q6</a:t>
            </a:r>
            <a:endParaRPr lang="en-US" sz="3600" dirty="0"/>
          </a:p>
        </p:txBody>
      </p:sp>
      <p:sp>
        <p:nvSpPr>
          <p:cNvPr id="3" name="q"/>
          <p:cNvSpPr/>
          <p:nvPr/>
        </p:nvSpPr>
        <p:spPr>
          <a:xfrm>
            <a:off x="640080" y="1143000"/>
            <a:ext cx="10881360" cy="914400"/>
          </a:xfrm>
          <a:prstGeom prst="roundRect">
            <a:avLst>
              <a:gd name="adj" fmla="val 12000"/>
            </a:avLst>
          </a:prstGeom>
          <a:solidFill>
            <a:schemeClr val="tx1"/>
          </a:solidFill>
          <a:ln w="12700">
            <a:solidFill>
              <a:schemeClr val="tx1"/>
            </a:solidFill>
            <a:prstDash val="solid"/>
          </a:ln>
        </p:spPr>
      </p:sp>
      <p:sp>
        <p:nvSpPr>
          <p:cNvPr id="4" name="Text 2"/>
          <p:cNvSpPr txBox="1"/>
          <p:nvPr/>
        </p:nvSpPr>
        <p:spPr>
          <a:xfrm>
            <a:off x="868680" y="1234440"/>
            <a:ext cx="10424160" cy="731520"/>
          </a:xfrm>
          <a:prstGeom prst="rect">
            <a:avLst/>
          </a:prstGeom>
          <a:noFill/>
          <a:ln/>
        </p:spPr>
        <p:txBody>
          <a:bodyPr wrap="square" lIns="635" tIns="635" rIns="635" bIns="635"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"Why keep the encoder frozen?"</a:t>
            </a:r>
            <a:endParaRPr lang="en-US" sz="2200" dirty="0"/>
          </a:p>
        </p:txBody>
      </p:sp>
      <p:sp>
        <p:nvSpPr>
          <p:cNvPr id="5" name="Text 3"/>
          <p:cNvSpPr txBox="1"/>
          <p:nvPr/>
        </p:nvSpPr>
        <p:spPr>
          <a:xfrm>
            <a:off x="868680" y="2377440"/>
            <a:ext cx="10424160" cy="3749040"/>
          </a:xfrm>
          <a:prstGeom prst="rect">
            <a:avLst/>
          </a:prstGeom>
          <a:noFill/>
          <a:ln/>
        </p:spPr>
        <p:txBody>
          <a:bodyPr wrap="square" rtlCol="0" anchor="t"/>
          <a:lstStyle/>
          <a:p>
            <a:pPr marL="342900" indent="-342900">
              <a:spcAft>
                <a:spcPts val="600"/>
              </a:spcAft>
              <a:buSzPct val="100000"/>
              <a:buChar char="•"/>
            </a:pPr>
            <a:r>
              <a:rPr lang="en-US" sz="2000" dirty="0">
                <a:solidFill>
                  <a:schemeClr val="tx1"/>
                </a:solidFill>
              </a:rPr>
              <a:t>Fine-tuning on ~200 normal images risks collapsing the features and breaks the link to RAE's generative prior.</a:t>
            </a:r>
            <a:endParaRPr lang="en-US" sz="2000" dirty="0"/>
          </a:p>
          <a:p>
            <a:pPr marL="342900" indent="-342900">
              <a:spcAft>
                <a:spcPts val="600"/>
              </a:spcAft>
              <a:buSzPct val="100000"/>
              <a:buChar char="•"/>
            </a:pPr>
            <a:r>
              <a:rPr lang="en-US" sz="2000" dirty="0">
                <a:solidFill>
                  <a:schemeClr val="tx1"/>
                </a:solidFill>
              </a:rPr>
              <a:t>Frozen means one encoder for all categories and cheap training.</a:t>
            </a:r>
            <a:endParaRPr lang="en-US" sz="2000" dirty="0"/>
          </a:p>
          <a:p>
            <a:pPr marL="342900" indent="-342900">
              <a:spcAft>
                <a:spcPts val="600"/>
              </a:spcAft>
              <a:buSzPct val="100000"/>
              <a:buChar char="•"/>
            </a:pPr>
            <a:r>
              <a:rPr lang="en-US" sz="2000" dirty="0">
                <a:solidFill>
                  <a:schemeClr val="tx1"/>
                </a:solidFill>
              </a:rPr>
              <a:t>Fine-tuning only the decoder stays an option for better visualizations (Exp 1 fidelity gap).</a:t>
            </a:r>
            <a:endParaRPr lang="en-US" sz="2000" dirty="0"/>
          </a:p>
        </p:txBody>
      </p:sp>
      <p:sp>
        <p:nvSpPr>
          <p:cNvPr id="7" name="Text 1"/>
          <p:cNvSpPr/>
          <p:nvPr>
            <p:ph idx="102" type="body" hasCustomPrompt="1"/>
          </p:nvPr>
        </p:nvSpPr>
        <p:spPr>
          <a:xfrm>
            <a:off x="548640" y="1005840"/>
            <a:ext cx="11064240" cy="457200"/>
          </a:xfrm>
          <a:prstGeom prst="rect">
            <a:avLst/>
          </a:prstGeom>
          <a:noFill/>
          <a:ln/>
        </p:spPr>
        <p:txBody>
          <a:bodyPr wrap="square"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68580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Q7</a:t>
            </a:r>
            <a:endParaRPr lang="en-US" sz="3600" dirty="0"/>
          </a:p>
        </p:txBody>
      </p:sp>
      <p:sp>
        <p:nvSpPr>
          <p:cNvPr id="3" name="q"/>
          <p:cNvSpPr/>
          <p:nvPr/>
        </p:nvSpPr>
        <p:spPr>
          <a:xfrm>
            <a:off x="640080" y="1143000"/>
            <a:ext cx="10881360" cy="914400"/>
          </a:xfrm>
          <a:prstGeom prst="roundRect">
            <a:avLst>
              <a:gd name="adj" fmla="val 12000"/>
            </a:avLst>
          </a:prstGeom>
          <a:solidFill>
            <a:schemeClr val="tx1"/>
          </a:solidFill>
          <a:ln w="12700">
            <a:solidFill>
              <a:schemeClr val="tx1"/>
            </a:solidFill>
            <a:prstDash val="solid"/>
          </a:ln>
        </p:spPr>
      </p:sp>
      <p:sp>
        <p:nvSpPr>
          <p:cNvPr id="4" name="Text 2"/>
          <p:cNvSpPr txBox="1"/>
          <p:nvPr/>
        </p:nvSpPr>
        <p:spPr>
          <a:xfrm>
            <a:off x="868680" y="1234440"/>
            <a:ext cx="10424160" cy="731520"/>
          </a:xfrm>
          <a:prstGeom prst="rect">
            <a:avLst/>
          </a:prstGeom>
          <a:noFill/>
          <a:ln/>
        </p:spPr>
        <p:txBody>
          <a:bodyPr wrap="square" lIns="635" tIns="635" rIns="635" bIns="635"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"Why have a restorer if it doesn't remove defects?"</a:t>
            </a:r>
            <a:endParaRPr lang="en-US" sz="2200" dirty="0"/>
          </a:p>
        </p:txBody>
      </p:sp>
      <p:sp>
        <p:nvSpPr>
          <p:cNvPr id="5" name="Text 3"/>
          <p:cNvSpPr txBox="1"/>
          <p:nvPr/>
        </p:nvSpPr>
        <p:spPr>
          <a:xfrm>
            <a:off x="868680" y="2377440"/>
            <a:ext cx="10424160" cy="3749040"/>
          </a:xfrm>
          <a:prstGeom prst="rect">
            <a:avLst/>
          </a:prstGeom>
          <a:noFill/>
          <a:ln/>
        </p:spPr>
        <p:txBody>
          <a:bodyPr wrap="square" rtlCol="0" anchor="t"/>
          <a:lstStyle/>
          <a:p>
            <a:pPr marL="342900" indent="-342900">
              <a:spcAft>
                <a:spcPts val="600"/>
              </a:spcAft>
              <a:buSzPct val="100000"/>
              <a:buChar char="•"/>
            </a:pPr>
            <a:r>
              <a:rPr lang="en-US" sz="2000" dirty="0">
                <a:solidFill>
                  <a:schemeClr val="tx1"/>
                </a:solidFill>
              </a:rPr>
              <a:t>It gives the discriminator a reference: D compares z_a with R(z_a), as in DRAEM.</a:t>
            </a:r>
            <a:endParaRPr lang="en-US" sz="2000" dirty="0"/>
          </a:p>
          <a:p>
            <a:pPr marL="342900" indent="-342900">
              <a:spcAft>
                <a:spcPts val="600"/>
              </a:spcAft>
              <a:buSzPct val="100000"/>
              <a:buChar char="•"/>
            </a:pPr>
            <a:r>
              <a:rPr lang="en-US" sz="2000" dirty="0">
                <a:solidFill>
                  <a:schemeClr val="tx1"/>
                </a:solidFill>
              </a:rPr>
              <a:t>resid alone gives the best image AUROC in Exp 2 (latent_noise: 0.972).</a:t>
            </a:r>
            <a:endParaRPr lang="en-US" sz="2000" dirty="0"/>
          </a:p>
          <a:p>
            <a:pPr marL="342900" indent="-342900">
              <a:spcAft>
                <a:spcPts val="600"/>
              </a:spcAft>
              <a:buSzPct val="100000"/>
              <a:buChar char="•"/>
            </a:pPr>
            <a:r>
              <a:rPr lang="en-US" sz="2000" dirty="0">
                <a:solidFill>
                  <a:schemeClr val="tx1"/>
                </a:solidFill>
              </a:rPr>
              <a:t>With realistic generated anomalies (v2), removal should improve. Exp 4 measures it directly with decode(R(z)).</a:t>
            </a:r>
            <a:endParaRPr lang="en-US" sz="2000" dirty="0"/>
          </a:p>
        </p:txBody>
      </p:sp>
      <p:sp>
        <p:nvSpPr>
          <p:cNvPr id="7" name="Text 1"/>
          <p:cNvSpPr/>
          <p:nvPr>
            <p:ph idx="102" type="body" hasCustomPrompt="1"/>
          </p:nvPr>
        </p:nvSpPr>
        <p:spPr>
          <a:xfrm>
            <a:off x="548640" y="1005840"/>
            <a:ext cx="11064240" cy="457200"/>
          </a:xfrm>
          <a:prstGeom prst="rect">
            <a:avLst/>
          </a:prstGeom>
          <a:noFill/>
          <a:ln/>
        </p:spPr>
        <p:txBody>
          <a:bodyPr wrap="square"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31</a:t>
            </a:fld>
            <a:endParaRPr lang="en-US"/>
          </a:p>
        </p:txBody>
      </p:sp>
    </p:spTree>
  </p:cSld>
  <p:clrMapOvr>
    <a:masterClrMapping/>
  </p:clrMapOvr>
</p:sld>
</file>

<file path=ppt/theme/theme1.xml><?xml version="1.0" encoding="utf-8"?>
<a:theme xmlns:a="http://schemas.openxmlformats.org/drawingml/2006/main" name="Inspection">
  <a:themeElements>
    <a:clrScheme name="Inspection">
      <a:dk1>
        <a:srgbClr val="1B2329"/>
      </a:dk1>
      <a:lt1>
        <a:srgbClr val="FFFFFF"/>
      </a:lt1>
      <a:dk2>
        <a:srgbClr val="3A4750"/>
      </a:dk2>
      <a:lt2>
        <a:srgbClr val="EEF1F3"/>
      </a:lt2>
      <a:accent1>
        <a:srgbClr val="E39B2D"/>
      </a:accent1>
      <a:accent2>
        <a:srgbClr val="2A8C82"/>
      </a:accent2>
      <a:accent3>
        <a:srgbClr val="7A8893"/>
      </a:accent3>
      <a:accent4>
        <a:srgbClr val="B5483A"/>
      </a:accent4>
      <a:accent5>
        <a:srgbClr val="DCE6EC"/>
      </a:accent5>
      <a:accent6>
        <a:srgbClr val="FBEFD9"/>
      </a:accent6>
      <a:hlink>
        <a:srgbClr val="2A8C82"/>
      </a:hlink>
      <a:folHlink>
        <a:srgbClr val="7A8893"/>
      </a:folHlink>
    </a:clrScheme>
    <a:fontScheme name="Inspec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Generating and Removing Anomalies in a Frozen Representation Space</dc:title>
  <dc:subject>PptxGenJS Presentation</dc:subject>
  <dc:creator>Momo (Okatani Lab, Tohoku University)</dc:creator>
  <cp:lastModifiedBy>Momo (Okatani Lab, Tohoku University)</cp:lastModifiedBy>
  <cp:revision>1</cp:revision>
  <dcterms:created xsi:type="dcterms:W3CDTF">2026-10-14T16:40:29Z</dcterms:created>
  <dcterms:modified xsi:type="dcterms:W3CDTF">2026-10-14T16:40:29Z</dcterms:modified>
</cp:coreProperties>
</file>